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8" r:id="rId4"/>
    <p:sldId id="257" r:id="rId6"/>
    <p:sldId id="262" r:id="rId7"/>
    <p:sldId id="263" r:id="rId8"/>
    <p:sldId id="264" r:id="rId9"/>
    <p:sldId id="265" r:id="rId10"/>
    <p:sldId id="259"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Traditional applications can’t proactively decide how to use network services, and can only passively receive the service provided by network. By contrast, Agent is an autonomous intelligent entity capable of perceiving, making decisions, and executing tasks. Furthermore, it can even interact with networks to express policy intents and select different network service abilities.</a:t>
            </a:r>
            <a:endParaRPr lang="en-US" altLang="zh-CN"/>
          </a:p>
          <a:p>
            <a:r>
              <a:rPr lang="en-US" altLang="en-US"/>
              <a:t>3 </a:t>
            </a:r>
            <a:r>
              <a:rPr lang="en-US" altLang="zh-CN"/>
              <a:t>And Traditional networks can’t match the dynamic, bursty needs of Agents.</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是否</a:t>
            </a:r>
            <a:r>
              <a:rPr lang="en-US" altLang="zh-CN"/>
              <a:t>policy ID </a:t>
            </a:r>
            <a:r>
              <a:rPr lang="zh-CN" altLang="en-US"/>
              <a:t>和现有得</a:t>
            </a:r>
            <a:r>
              <a:rPr lang="en-US" altLang="zh-CN"/>
              <a:t>ARN/APN</a:t>
            </a:r>
            <a:r>
              <a:rPr lang="zh-CN" altLang="en-US"/>
              <a:t>是什么关系</a:t>
            </a:r>
            <a:r>
              <a:rPr lang="en-US" altLang="zh-CN"/>
              <a:t>  </a:t>
            </a:r>
            <a:r>
              <a:rPr lang="zh-CN" altLang="en-US"/>
              <a:t>智能体是否需要做</a:t>
            </a:r>
            <a:r>
              <a:rPr lang="zh-CN" altLang="en-US"/>
              <a:t>决策</a:t>
            </a:r>
            <a:endParaRPr lang="zh-CN" altLang="en-US"/>
          </a:p>
          <a:p>
            <a:endParaRPr lang="zh-CN" altLang="en-US"/>
          </a:p>
          <a:p>
            <a:r>
              <a:rPr lang="en-US" altLang="zh-CN"/>
              <a:t>APAD is in charge of fast local intent processing, policy execution and status monitoring – to achieve quick local responses. APAC undertakes global complex intent parsing, cross-domain resource coordination, policy optimization and closed-loop management – to realize overall global planning. </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all without manual operation, forming an automated closed loop.</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increased response time, request timeout</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472565"/>
            <a:ext cx="9144000" cy="1813560"/>
          </a:xfrm>
        </p:spPr>
        <p:txBody>
          <a:bodyPr>
            <a:normAutofit fontScale="90000"/>
          </a:bodyPr>
          <a:p>
            <a:r>
              <a:rPr lang="en-US" altLang="zh-CN"/>
              <a:t>Thoughts </a:t>
            </a:r>
            <a:r>
              <a:rPr lang="en-US" altLang="zh-CN"/>
              <a:t>on Agent Policy-aware </a:t>
            </a:r>
            <a:r>
              <a:rPr lang="en-US" altLang="zh-CN"/>
              <a:t>Network</a:t>
            </a:r>
            <a:endParaRPr lang="en-US" altLang="zh-CN"/>
          </a:p>
        </p:txBody>
      </p:sp>
      <p:sp>
        <p:nvSpPr>
          <p:cNvPr id="3" name="副标题 2"/>
          <p:cNvSpPr>
            <a:spLocks noGrp="1"/>
          </p:cNvSpPr>
          <p:nvPr>
            <p:ph type="subTitle" idx="1"/>
          </p:nvPr>
        </p:nvSpPr>
        <p:spPr>
          <a:xfrm>
            <a:off x="1196340" y="4572635"/>
            <a:ext cx="9144000" cy="991235"/>
          </a:xfrm>
        </p:spPr>
        <p:txBody>
          <a:bodyPr/>
          <a:p>
            <a:r>
              <a:rPr lang="en-US" altLang="zh-CN"/>
              <a:t>China </a:t>
            </a:r>
            <a:r>
              <a:rPr lang="en-US" altLang="zh-CN"/>
              <a:t>Mobile</a:t>
            </a:r>
            <a:endParaRPr lang="en-US" altLang="zh-CN"/>
          </a:p>
          <a:p>
            <a:r>
              <a:rPr lang="en-US" altLang="zh-CN"/>
              <a:t>Xiaoqiu </a:t>
            </a:r>
            <a:r>
              <a:rPr lang="en-US" altLang="zh-CN"/>
              <a:t>Zhang</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281420" y="4074160"/>
            <a:ext cx="5582285" cy="1753235"/>
          </a:xfrm>
          <a:prstGeom prst="rect">
            <a:avLst/>
          </a:prstGeom>
          <a:noFill/>
        </p:spPr>
        <p:txBody>
          <a:bodyPr wrap="square" rtlCol="0">
            <a:spAutoFit/>
          </a:bodyPr>
          <a:p>
            <a:pPr>
              <a:lnSpc>
                <a:spcPct val="200000"/>
              </a:lnSpc>
            </a:pPr>
            <a:r>
              <a:rPr lang="en-US" altLang="zh-CN"/>
              <a:t>Flow-aware                          Agent-</a:t>
            </a:r>
            <a:r>
              <a:rPr lang="en-US" altLang="zh-CN"/>
              <a:t>aware</a:t>
            </a:r>
            <a:endParaRPr lang="en-US" altLang="zh-CN"/>
          </a:p>
          <a:p>
            <a:pPr>
              <a:lnSpc>
                <a:spcPct val="200000"/>
              </a:lnSpc>
            </a:pPr>
            <a:r>
              <a:rPr lang="en-US" altLang="zh-CN"/>
              <a:t>QoS-based   </a:t>
            </a:r>
            <a:r>
              <a:rPr lang="en-US" altLang="zh-CN">
                <a:sym typeface="+mn-ea"/>
              </a:rPr>
              <a:t>                        Policy-intent-</a:t>
            </a:r>
            <a:r>
              <a:rPr lang="en-US" altLang="zh-CN">
                <a:sym typeface="+mn-ea"/>
              </a:rPr>
              <a:t>based</a:t>
            </a:r>
            <a:endParaRPr lang="en-US" altLang="zh-CN">
              <a:sym typeface="+mn-ea"/>
            </a:endParaRPr>
          </a:p>
          <a:p>
            <a:pPr>
              <a:lnSpc>
                <a:spcPct val="200000"/>
              </a:lnSpc>
            </a:pPr>
            <a:r>
              <a:rPr lang="en-US" altLang="zh-CN">
                <a:sym typeface="+mn-ea"/>
              </a:rPr>
              <a:t>Network-driven                  Agent-network </a:t>
            </a:r>
            <a:r>
              <a:rPr lang="en-US" altLang="zh-CN">
                <a:sym typeface="+mn-ea"/>
              </a:rPr>
              <a:t>collaboration</a:t>
            </a:r>
            <a:endParaRPr lang="en-US" altLang="zh-CN">
              <a:sym typeface="+mn-ea"/>
            </a:endParaRPr>
          </a:p>
        </p:txBody>
      </p:sp>
      <p:cxnSp>
        <p:nvCxnSpPr>
          <p:cNvPr id="5" name="直接箭头连接符 4"/>
          <p:cNvCxnSpPr/>
          <p:nvPr/>
        </p:nvCxnSpPr>
        <p:spPr>
          <a:xfrm flipV="1">
            <a:off x="8006715" y="4496435"/>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flipV="1">
            <a:off x="8006715" y="5039995"/>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V="1">
            <a:off x="8006715" y="5582920"/>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66700" y="197485"/>
            <a:ext cx="6096000" cy="460375"/>
          </a:xfrm>
          <a:prstGeom prst="rect">
            <a:avLst/>
          </a:prstGeom>
          <a:noFill/>
        </p:spPr>
        <p:txBody>
          <a:bodyPr wrap="square" rtlCol="0" anchor="t">
            <a:spAutoFit/>
          </a:bodyPr>
          <a:p>
            <a:r>
              <a:rPr lang="en-US" altLang="zh-CN" sz="2400" b="1" dirty="0">
                <a:solidFill>
                  <a:srgbClr val="002B60"/>
                </a:solidFill>
                <a:latin typeface="+mj-lt"/>
                <a:ea typeface="Verdana" panose="020B0604030504040204" pitchFamily="34" charset="0"/>
                <a:cs typeface="Calibri Light" panose="020F0302020204030204" pitchFamily="34" charset="0"/>
                <a:sym typeface="+mn-ea"/>
              </a:rPr>
              <a:t>Background &amp; Motivations</a:t>
            </a:r>
            <a:endParaRPr lang="en-US" altLang="zh-CN" sz="2400" b="1" dirty="0">
              <a:solidFill>
                <a:srgbClr val="002B60"/>
              </a:solidFill>
              <a:latin typeface="+mj-lt"/>
              <a:ea typeface="Verdana" panose="020B0604030504040204" pitchFamily="34" charset="0"/>
              <a:cs typeface="Calibri Light" panose="020F0302020204030204" pitchFamily="34" charset="0"/>
              <a:sym typeface="+mn-ea"/>
            </a:endParaRPr>
          </a:p>
        </p:txBody>
      </p:sp>
      <p:sp>
        <p:nvSpPr>
          <p:cNvPr id="10" name="文本框 9"/>
          <p:cNvSpPr txBox="1"/>
          <p:nvPr/>
        </p:nvSpPr>
        <p:spPr>
          <a:xfrm>
            <a:off x="358140" y="749935"/>
            <a:ext cx="11381105" cy="2399665"/>
          </a:xfrm>
          <a:prstGeom prst="rect">
            <a:avLst/>
          </a:prstGeom>
        </p:spPr>
        <p:txBody>
          <a:bodyPr wrap="square">
            <a:spAutoFit/>
          </a:bodyPr>
          <a:p>
            <a:pPr marL="0" indent="0" algn="just" defTabSz="266700">
              <a:lnSpc>
                <a:spcPct val="150000"/>
              </a:lnSpc>
              <a:spcBef>
                <a:spcPct val="0"/>
              </a:spcBef>
              <a:spcAft>
                <a:spcPct val="0"/>
              </a:spcAft>
            </a:pPr>
            <a:r>
              <a:rPr lang="en-US" altLang="zh-CN" sz="2000">
                <a:solidFill>
                  <a:srgbClr val="000000"/>
                </a:solidFill>
                <a:latin typeface="Times New Roman" panose="02020603050405020304"/>
                <a:ea typeface="宋体" panose="02010600030101010101" pitchFamily="2" charset="-122"/>
              </a:rPr>
              <a:t>AI Agents are widely used in many industries and different from traditonal applications, raising new demands for network. Howerver, traditional network architectures can no longer meet the demands for efficient collaboration between Agents and networks. </a:t>
            </a:r>
            <a:endParaRPr lang="en-US" altLang="zh-CN" sz="2000">
              <a:solidFill>
                <a:srgbClr val="000000"/>
              </a:solidFill>
              <a:latin typeface="Times New Roman" panose="02020603050405020304"/>
              <a:ea typeface="宋体" panose="02010600030101010101" pitchFamily="2" charset="-122"/>
            </a:endParaRPr>
          </a:p>
          <a:p>
            <a:pPr marL="0" indent="0" algn="just" defTabSz="266700">
              <a:lnSpc>
                <a:spcPct val="150000"/>
              </a:lnSpc>
              <a:spcBef>
                <a:spcPct val="0"/>
              </a:spcBef>
              <a:spcAft>
                <a:spcPct val="0"/>
              </a:spcAft>
            </a:pPr>
            <a:r>
              <a:rPr lang="en-US" altLang="zh-CN" sz="2000">
                <a:solidFill>
                  <a:srgbClr val="000000"/>
                </a:solidFill>
                <a:latin typeface="Times New Roman" panose="02020603050405020304"/>
                <a:ea typeface="宋体" panose="02010600030101010101" pitchFamily="2" charset="-122"/>
              </a:rPr>
              <a:t>Current network deliver differentiated quality of service guarantees primarily based on traditional QoS mechanisms, but fail to understand the intents and requirements of AI Agents. </a:t>
            </a:r>
            <a:endParaRPr lang="en-US" altLang="zh-CN" sz="2000">
              <a:solidFill>
                <a:srgbClr val="000000"/>
              </a:solidFill>
              <a:latin typeface="Times New Roman" panose="02020603050405020304"/>
              <a:ea typeface="宋体" panose="02010600030101010101" pitchFamily="2" charset="-122"/>
            </a:endParaRPr>
          </a:p>
        </p:txBody>
      </p:sp>
      <p:sp>
        <p:nvSpPr>
          <p:cNvPr id="11" name="文本框 10"/>
          <p:cNvSpPr txBox="1"/>
          <p:nvPr/>
        </p:nvSpPr>
        <p:spPr>
          <a:xfrm>
            <a:off x="387985" y="3413443"/>
            <a:ext cx="5080000" cy="2861310"/>
          </a:xfrm>
          <a:prstGeom prst="rect">
            <a:avLst/>
          </a:prstGeom>
        </p:spPr>
        <p:txBody>
          <a:bodyPr>
            <a:spAutoFit/>
          </a:bodyPr>
          <a:p>
            <a:pPr marL="0" algn="just" defTabSz="266700">
              <a:lnSpc>
                <a:spcPct val="200000"/>
              </a:lnSpc>
              <a:buClrTx/>
              <a:buSzTx/>
              <a:buFontTx/>
            </a:pPr>
            <a:r>
              <a:rPr lang="en-US" altLang="zh-CN" b="1">
                <a:solidFill>
                  <a:srgbClr val="000000"/>
                </a:solidFill>
                <a:latin typeface="Times New Roman" panose="02020603050405020304" charset="0"/>
                <a:ea typeface="宋体" panose="02010600030101010101" pitchFamily="2" charset="-122"/>
                <a:cs typeface="Times New Roman" panose="02020603050405020304" charset="0"/>
              </a:rPr>
              <a:t>Challenges</a:t>
            </a:r>
            <a:r>
              <a:rPr lang="zh-CN" altLang="en-US" b="1">
                <a:solidFill>
                  <a:srgbClr val="000000"/>
                </a:solidFill>
                <a:latin typeface="Times New Roman" panose="02020603050405020304" charset="0"/>
                <a:ea typeface="宋体" panose="02010600030101010101" pitchFamily="2" charset="-122"/>
                <a:cs typeface="Times New Roman" panose="02020603050405020304" charset="0"/>
              </a:rPr>
              <a:t>：</a:t>
            </a:r>
            <a:endParaRPr lang="en-US" altLang="zh-CN" b="1">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Lack of intent expression</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Insufficient collaborative decision-making</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difficult to achieve end-to-end SLA assurance</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Inflexible security mechanisms</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p:txBody>
      </p:sp>
      <p:sp>
        <p:nvSpPr>
          <p:cNvPr id="13" name="文本框 12"/>
          <p:cNvSpPr txBox="1"/>
          <p:nvPr/>
        </p:nvSpPr>
        <p:spPr>
          <a:xfrm>
            <a:off x="6292850" y="3618865"/>
            <a:ext cx="4064000" cy="368300"/>
          </a:xfrm>
          <a:prstGeom prst="rect">
            <a:avLst/>
          </a:prstGeom>
          <a:noFill/>
        </p:spPr>
        <p:txBody>
          <a:bodyPr wrap="square" rtlCol="0">
            <a:spAutoFit/>
          </a:bodyPr>
          <a:p>
            <a:r>
              <a:rPr lang="en-US" altLang="zh-CN" b="1">
                <a:latin typeface="Times New Roman" panose="02020603050405020304" charset="0"/>
                <a:cs typeface="Times New Roman" panose="02020603050405020304" charset="0"/>
              </a:rPr>
              <a:t>Key Transformations:</a:t>
            </a:r>
            <a:endParaRPr lang="zh-CN" altLang="en-US" b="1">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b="1">
                <a:solidFill>
                  <a:srgbClr val="000000"/>
                </a:solidFill>
                <a:latin typeface="Times New Roman" panose="02020603050405020304"/>
                <a:ea typeface="宋体" panose="02010600030101010101" pitchFamily="2" charset="-122"/>
              </a:rPr>
              <a:t> </a:t>
            </a:r>
            <a:r>
              <a:rPr lang="en-US" altLang="zh-CN" sz="2400" b="1" dirty="0">
                <a:solidFill>
                  <a:srgbClr val="002B60"/>
                </a:solidFill>
                <a:latin typeface="+mj-lt"/>
                <a:ea typeface="Verdana" panose="020B0604030504040204" pitchFamily="34" charset="0"/>
                <a:cs typeface="Calibri Light" panose="020F0302020204030204" pitchFamily="34" charset="0"/>
              </a:rPr>
              <a:t>New Paradigm of "AI Agent Policy-Aware Network"</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29" name="文本框 28"/>
          <p:cNvSpPr txBox="1"/>
          <p:nvPr/>
        </p:nvSpPr>
        <p:spPr>
          <a:xfrm>
            <a:off x="237490" y="695325"/>
            <a:ext cx="11676380" cy="1751330"/>
          </a:xfrm>
          <a:prstGeom prst="rect">
            <a:avLst/>
          </a:prstGeom>
        </p:spPr>
        <p:txBody>
          <a:bodyPr wrap="square">
            <a:noAutofit/>
          </a:bodyPr>
          <a:p>
            <a:pPr marL="0" indent="0" algn="just" defTabSz="266700">
              <a:spcBef>
                <a:spcPct val="0"/>
              </a:spcBef>
              <a:spcAft>
                <a:spcPct val="0"/>
              </a:spcAft>
            </a:pPr>
            <a:r>
              <a:rPr lang="en-US" altLang="zh-CN">
                <a:solidFill>
                  <a:srgbClr val="000000"/>
                </a:solidFill>
                <a:latin typeface="Times New Roman" panose="02020603050405020304"/>
                <a:ea typeface="宋体" panose="02010600030101010101" pitchFamily="2" charset="-122"/>
              </a:rPr>
              <a:t>AI Agents need to act as network users and schedulers, better expressing their intents and requirements for network guarantees. It proactively perceives network quality, discovers network services, and guarantees service quality based on performance and cost, autonomously selecting corresponding network paths or egress nodes.</a:t>
            </a:r>
            <a:endParaRPr lang="en-US" altLang="zh-CN">
              <a:solidFill>
                <a:srgbClr val="000000"/>
              </a:solidFill>
              <a:latin typeface="Times New Roman" panose="02020603050405020304"/>
              <a:ea typeface="宋体" panose="02010600030101010101" pitchFamily="2" charset="-122"/>
            </a:endParaRPr>
          </a:p>
          <a:p>
            <a:pPr indent="0" algn="just" defTabSz="266700" fontAlgn="auto">
              <a:spcBef>
                <a:spcPts val="600"/>
              </a:spcBef>
              <a:spcAft>
                <a:spcPct val="0"/>
              </a:spcAft>
            </a:pPr>
            <a:r>
              <a:rPr lang="en-US" altLang="zh-CN">
                <a:solidFill>
                  <a:srgbClr val="000000"/>
                </a:solidFill>
                <a:latin typeface="Times New Roman" panose="02020603050405020304"/>
                <a:ea typeface="宋体" panose="02010600030101010101" pitchFamily="2" charset="-122"/>
              </a:rPr>
              <a:t>Networks need to identify, understand, and execute the intents and policies of AI Agents, enabling collaborative decision-making between Agents and networks, end-to-end SLA assurance, and secure transmission.</a:t>
            </a:r>
            <a:endParaRPr lang="en-US" altLang="zh-CN">
              <a:solidFill>
                <a:srgbClr val="000000"/>
              </a:solidFill>
              <a:latin typeface="Times New Roman" panose="02020603050405020304"/>
              <a:ea typeface="宋体" panose="02010600030101010101" pitchFamily="2" charset="-122"/>
            </a:endParaRPr>
          </a:p>
        </p:txBody>
      </p:sp>
      <p:sp>
        <p:nvSpPr>
          <p:cNvPr id="38" name="文本框 37"/>
          <p:cNvSpPr txBox="1"/>
          <p:nvPr/>
        </p:nvSpPr>
        <p:spPr>
          <a:xfrm>
            <a:off x="549910" y="6147435"/>
            <a:ext cx="5220000" cy="368300"/>
          </a:xfrm>
          <a:prstGeom prst="rect">
            <a:avLst/>
          </a:prstGeom>
          <a:solidFill>
            <a:schemeClr val="tx2">
              <a:lumMod val="20000"/>
              <a:lumOff val="80000"/>
            </a:schemeClr>
          </a:solidFill>
        </p:spPr>
        <p:txBody>
          <a:bodyPr wrap="square" rtlCol="0">
            <a:spAutoFit/>
          </a:bodyPr>
          <a:p>
            <a:r>
              <a:rPr lang="en-US" altLang="zh-CN"/>
              <a:t>3.  </a:t>
            </a:r>
            <a:r>
              <a:rPr lang="en-US" altLang="zh-CN">
                <a:sym typeface="+mn-ea"/>
              </a:rPr>
              <a:t>Agent </a:t>
            </a:r>
            <a:r>
              <a:rPr lang="en-US" altLang="zh-CN">
                <a:sym typeface="+mn-ea"/>
              </a:rPr>
              <a:t>Policy-aware</a:t>
            </a:r>
            <a:r>
              <a:rPr lang="en-US" altLang="zh-CN"/>
              <a:t> SLA Level Assurance</a:t>
            </a:r>
            <a:endParaRPr lang="en-US" altLang="zh-CN"/>
          </a:p>
        </p:txBody>
      </p:sp>
      <p:sp>
        <p:nvSpPr>
          <p:cNvPr id="39" name="文本框 38"/>
          <p:cNvSpPr txBox="1"/>
          <p:nvPr/>
        </p:nvSpPr>
        <p:spPr>
          <a:xfrm>
            <a:off x="6256655" y="6147435"/>
            <a:ext cx="5220000" cy="368300"/>
          </a:xfrm>
          <a:prstGeom prst="rect">
            <a:avLst/>
          </a:prstGeom>
          <a:solidFill>
            <a:schemeClr val="tx2">
              <a:lumMod val="20000"/>
              <a:lumOff val="80000"/>
            </a:schemeClr>
          </a:solidFill>
        </p:spPr>
        <p:txBody>
          <a:bodyPr wrap="square" rtlCol="0">
            <a:spAutoFit/>
          </a:bodyPr>
          <a:p>
            <a:r>
              <a:rPr lang="en-US" altLang="zh-CN"/>
              <a:t>4.  </a:t>
            </a:r>
            <a:r>
              <a:rPr lang="en-US" altLang="zh-CN">
                <a:sym typeface="+mn-ea"/>
              </a:rPr>
              <a:t>Agent </a:t>
            </a:r>
            <a:r>
              <a:rPr lang="en-US" altLang="zh-CN">
                <a:sym typeface="+mn-ea"/>
              </a:rPr>
              <a:t>Policy</a:t>
            </a:r>
            <a:r>
              <a:rPr lang="en-US" altLang="zh-CN">
                <a:sym typeface="+mn-ea"/>
              </a:rPr>
              <a:t>-aware</a:t>
            </a:r>
            <a:r>
              <a:rPr lang="en-US" altLang="zh-CN"/>
              <a:t> Secure Transmission</a:t>
            </a:r>
            <a:endParaRPr lang="en-US" altLang="zh-CN"/>
          </a:p>
        </p:txBody>
      </p:sp>
      <p:sp>
        <p:nvSpPr>
          <p:cNvPr id="36" name="文本框 35"/>
          <p:cNvSpPr txBox="1"/>
          <p:nvPr/>
        </p:nvSpPr>
        <p:spPr>
          <a:xfrm>
            <a:off x="545465" y="5664835"/>
            <a:ext cx="5219700" cy="368300"/>
          </a:xfrm>
          <a:prstGeom prst="rect">
            <a:avLst/>
          </a:prstGeom>
          <a:solidFill>
            <a:schemeClr val="tx2">
              <a:lumMod val="20000"/>
              <a:lumOff val="80000"/>
            </a:schemeClr>
          </a:solidFill>
        </p:spPr>
        <p:txBody>
          <a:bodyPr wrap="square" rtlCol="0">
            <a:spAutoFit/>
          </a:bodyPr>
          <a:p>
            <a:r>
              <a:rPr lang="en-US" altLang="zh-CN"/>
              <a:t>1.  Agent </a:t>
            </a:r>
            <a:r>
              <a:rPr lang="en-US" altLang="zh-CN"/>
              <a:t>Policy-</a:t>
            </a:r>
            <a:r>
              <a:rPr lang="en-US" altLang="zh-CN"/>
              <a:t>aware Performance Measurement</a:t>
            </a:r>
            <a:endParaRPr lang="zh-CN" altLang="en-US"/>
          </a:p>
        </p:txBody>
      </p:sp>
      <p:sp>
        <p:nvSpPr>
          <p:cNvPr id="37" name="文本框 36"/>
          <p:cNvSpPr txBox="1"/>
          <p:nvPr/>
        </p:nvSpPr>
        <p:spPr>
          <a:xfrm>
            <a:off x="6257290" y="5664835"/>
            <a:ext cx="5219700" cy="368300"/>
          </a:xfrm>
          <a:prstGeom prst="rect">
            <a:avLst/>
          </a:prstGeom>
          <a:solidFill>
            <a:schemeClr val="tx2">
              <a:lumMod val="20000"/>
              <a:lumOff val="80000"/>
            </a:schemeClr>
          </a:solidFill>
        </p:spPr>
        <p:txBody>
          <a:bodyPr wrap="square" rtlCol="0">
            <a:spAutoFit/>
          </a:bodyPr>
          <a:p>
            <a:r>
              <a:rPr lang="en-US" altLang="zh-CN"/>
              <a:t>2.  </a:t>
            </a:r>
            <a:r>
              <a:rPr lang="en-US" altLang="zh-CN">
                <a:sym typeface="+mn-ea"/>
              </a:rPr>
              <a:t>Agent </a:t>
            </a:r>
            <a:r>
              <a:rPr lang="en-US" altLang="zh-CN">
                <a:sym typeface="+mn-ea"/>
              </a:rPr>
              <a:t>Policy-aware</a:t>
            </a:r>
            <a:r>
              <a:rPr lang="en-US" altLang="zh-CN"/>
              <a:t> Path Optimization</a:t>
            </a:r>
            <a:endParaRPr lang="en-US" altLang="zh-CN"/>
          </a:p>
        </p:txBody>
      </p:sp>
      <p:grpSp>
        <p:nvGrpSpPr>
          <p:cNvPr id="3" name="组合 2"/>
          <p:cNvGrpSpPr/>
          <p:nvPr/>
        </p:nvGrpSpPr>
        <p:grpSpPr>
          <a:xfrm>
            <a:off x="855980" y="2380615"/>
            <a:ext cx="9568180" cy="3178810"/>
            <a:chOff x="1348" y="3290"/>
            <a:chExt cx="15068" cy="5006"/>
          </a:xfrm>
        </p:grpSpPr>
        <p:sp>
          <p:nvSpPr>
            <p:cNvPr id="5" name="矩形 4"/>
            <p:cNvSpPr/>
            <p:nvPr/>
          </p:nvSpPr>
          <p:spPr>
            <a:xfrm>
              <a:off x="7496" y="3290"/>
              <a:ext cx="5292" cy="1137"/>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r>
                <a:rPr lang="en-US" altLang="zh-CN">
                  <a:solidFill>
                    <a:schemeClr val="tx1"/>
                  </a:solidFill>
                </a:rPr>
                <a:t>Agent policy-aware </a:t>
              </a:r>
              <a:r>
                <a:rPr lang="en-US" altLang="zh-CN">
                  <a:solidFill>
                    <a:schemeClr val="tx1"/>
                  </a:solidFill>
                </a:rPr>
                <a:t>controller</a:t>
              </a:r>
              <a:endParaRPr lang="en-US" altLang="zh-CN">
                <a:solidFill>
                  <a:schemeClr val="tx1"/>
                </a:solidFill>
              </a:endParaRPr>
            </a:p>
          </p:txBody>
        </p:sp>
        <p:sp>
          <p:nvSpPr>
            <p:cNvPr id="6" name="矩形 5"/>
            <p:cNvSpPr/>
            <p:nvPr/>
          </p:nvSpPr>
          <p:spPr>
            <a:xfrm>
              <a:off x="1348" y="5655"/>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7" name="流程图: 磁盘 6"/>
            <p:cNvSpPr/>
            <p:nvPr/>
          </p:nvSpPr>
          <p:spPr>
            <a:xfrm>
              <a:off x="5916" y="5429"/>
              <a:ext cx="2046" cy="11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a:solidFill>
                  <a:schemeClr val="tx1"/>
                </a:solidFill>
              </a:endParaRPr>
            </a:p>
          </p:txBody>
        </p:sp>
        <p:sp>
          <p:nvSpPr>
            <p:cNvPr id="8" name="流程图: 磁盘 7"/>
            <p:cNvSpPr/>
            <p:nvPr/>
          </p:nvSpPr>
          <p:spPr>
            <a:xfrm>
              <a:off x="12208" y="5429"/>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cxnSp>
          <p:nvCxnSpPr>
            <p:cNvPr id="10" name="直接连接符 9"/>
            <p:cNvCxnSpPr/>
            <p:nvPr/>
          </p:nvCxnSpPr>
          <p:spPr>
            <a:xfrm flipV="1">
              <a:off x="3918" y="6053"/>
              <a:ext cx="1998" cy="13"/>
            </a:xfrm>
            <a:prstGeom prst="line">
              <a:avLst/>
            </a:prstGeom>
            <a:ln>
              <a:prstDash val="sysDot"/>
              <a:headEnd type="none"/>
              <a:tailEnd type="triangle"/>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814" y="5391"/>
              <a:ext cx="2249" cy="454"/>
            </a:xfrm>
            <a:prstGeom prst="rect">
              <a:avLst/>
            </a:prstGeom>
            <a:noFill/>
          </p:spPr>
          <p:txBody>
            <a:bodyPr wrap="square" rtlCol="0" anchor="t">
              <a:spAutoFit/>
            </a:bodyPr>
            <a:p>
              <a:pPr indent="0" algn="ctr" fontAlgn="auto">
                <a:lnSpc>
                  <a:spcPct val="80000"/>
                </a:lnSpc>
              </a:pPr>
              <a:r>
                <a:rPr lang="en-US" altLang="zh-CN" sz="1600">
                  <a:sym typeface="+mn-ea"/>
                </a:rPr>
                <a:t>APA Device</a:t>
              </a:r>
              <a:endParaRPr lang="en-US" altLang="zh-CN" sz="1600">
                <a:sym typeface="+mn-ea"/>
              </a:endParaRPr>
            </a:p>
          </p:txBody>
        </p:sp>
        <p:sp>
          <p:nvSpPr>
            <p:cNvPr id="12" name="矩形 11"/>
            <p:cNvSpPr/>
            <p:nvPr/>
          </p:nvSpPr>
          <p:spPr>
            <a:xfrm>
              <a:off x="6051" y="5900"/>
              <a:ext cx="1809" cy="410"/>
            </a:xfrm>
            <a:prstGeom prst="rect">
              <a:avLst/>
            </a:prstGeom>
            <a:noFill/>
            <a:ln w="15875">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sym typeface="+mn-ea"/>
                </a:rPr>
                <a:t>Net agent</a:t>
              </a:r>
              <a:endParaRPr lang="en-US" altLang="zh-CN" sz="1600">
                <a:solidFill>
                  <a:schemeClr val="tx1"/>
                </a:solidFill>
              </a:endParaRPr>
            </a:p>
          </p:txBody>
        </p:sp>
        <p:sp>
          <p:nvSpPr>
            <p:cNvPr id="13" name="流程图: 磁盘 12"/>
            <p:cNvSpPr/>
            <p:nvPr/>
          </p:nvSpPr>
          <p:spPr>
            <a:xfrm>
              <a:off x="12235" y="7390"/>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sp>
          <p:nvSpPr>
            <p:cNvPr id="14" name="流程图: 磁盘 13"/>
            <p:cNvSpPr/>
            <p:nvPr/>
          </p:nvSpPr>
          <p:spPr>
            <a:xfrm>
              <a:off x="6226" y="7390"/>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sp>
          <p:nvSpPr>
            <p:cNvPr id="15" name="椭圆 14"/>
            <p:cNvSpPr/>
            <p:nvPr/>
          </p:nvSpPr>
          <p:spPr>
            <a:xfrm>
              <a:off x="7374" y="5877"/>
              <a:ext cx="5556" cy="2207"/>
            </a:xfrm>
            <a:prstGeom prst="ellipse">
              <a:avLst/>
            </a:prstGeom>
            <a:solidFill>
              <a:schemeClr val="bg2">
                <a:alpha val="77000"/>
              </a:schemeClr>
            </a:solidFill>
            <a:ln w="0" cmpd="dbl">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连接符 15"/>
            <p:cNvCxnSpPr>
              <a:endCxn id="8" idx="2"/>
            </p:cNvCxnSpPr>
            <p:nvPr/>
          </p:nvCxnSpPr>
          <p:spPr>
            <a:xfrm flipV="1">
              <a:off x="8015" y="5883"/>
              <a:ext cx="4193" cy="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7631" y="7844"/>
              <a:ext cx="4604"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7" idx="3"/>
              <a:endCxn id="14" idx="1"/>
            </p:cNvCxnSpPr>
            <p:nvPr/>
          </p:nvCxnSpPr>
          <p:spPr>
            <a:xfrm flipH="1">
              <a:off x="6929" y="6536"/>
              <a:ext cx="10" cy="8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8" idx="3"/>
              <a:endCxn id="13" idx="1"/>
            </p:cNvCxnSpPr>
            <p:nvPr/>
          </p:nvCxnSpPr>
          <p:spPr>
            <a:xfrm>
              <a:off x="12911" y="6336"/>
              <a:ext cx="27"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a:stCxn id="12" idx="3"/>
            </p:cNvCxnSpPr>
            <p:nvPr/>
          </p:nvCxnSpPr>
          <p:spPr>
            <a:xfrm>
              <a:off x="7860" y="6105"/>
              <a:ext cx="4350" cy="172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7673" y="6016"/>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flipV="1">
              <a:off x="3918" y="3809"/>
              <a:ext cx="3578" cy="2077"/>
            </a:xfrm>
            <a:prstGeom prst="line">
              <a:avLst/>
            </a:prstGeom>
            <a:ln>
              <a:prstDash val="sysDot"/>
              <a:headEnd type="none"/>
              <a:tailEnd type="triangle"/>
            </a:ln>
          </p:spPr>
          <p:style>
            <a:lnRef idx="2">
              <a:schemeClr val="accent1"/>
            </a:lnRef>
            <a:fillRef idx="0">
              <a:srgbClr val="FFFFFF"/>
            </a:fillRef>
            <a:effectRef idx="0">
              <a:srgbClr val="FFFFFF"/>
            </a:effectRef>
            <a:fontRef idx="minor">
              <a:schemeClr val="tx1"/>
            </a:fontRef>
          </p:style>
        </p:cxnSp>
        <p:cxnSp>
          <p:nvCxnSpPr>
            <p:cNvPr id="23" name="直接连接符 22"/>
            <p:cNvCxnSpPr>
              <a:stCxn id="11" idx="0"/>
              <a:endCxn id="5" idx="2"/>
            </p:cNvCxnSpPr>
            <p:nvPr/>
          </p:nvCxnSpPr>
          <p:spPr>
            <a:xfrm flipV="1">
              <a:off x="6939" y="4427"/>
              <a:ext cx="3203" cy="964"/>
            </a:xfrm>
            <a:prstGeom prst="line">
              <a:avLst/>
            </a:prstGeom>
            <a:ln>
              <a:solidFill>
                <a:schemeClr val="tx1">
                  <a:lumMod val="50000"/>
                  <a:lumOff val="50000"/>
                </a:schemeClr>
              </a:solidFill>
              <a:prstDash val="sysDot"/>
              <a:headEnd type="triangle"/>
              <a:tailEnd type="none"/>
            </a:ln>
          </p:spPr>
          <p:style>
            <a:lnRef idx="2">
              <a:schemeClr val="accent1"/>
            </a:lnRef>
            <a:fillRef idx="0">
              <a:srgbClr val="FFFFFF"/>
            </a:fillRef>
            <a:effectRef idx="0">
              <a:srgbClr val="FFFFFF"/>
            </a:effectRef>
            <a:fontRef idx="minor">
              <a:schemeClr val="tx1"/>
            </a:fontRef>
          </p:style>
        </p:cxnSp>
        <p:cxnSp>
          <p:nvCxnSpPr>
            <p:cNvPr id="24" name="直接连接符 23"/>
            <p:cNvCxnSpPr>
              <a:stCxn id="8" idx="1"/>
            </p:cNvCxnSpPr>
            <p:nvPr/>
          </p:nvCxnSpPr>
          <p:spPr>
            <a:xfrm flipH="1" flipV="1">
              <a:off x="10111" y="4403"/>
              <a:ext cx="2800" cy="1026"/>
            </a:xfrm>
            <a:prstGeom prst="line">
              <a:avLst/>
            </a:prstGeom>
            <a:ln>
              <a:solidFill>
                <a:schemeClr val="tx1">
                  <a:lumMod val="50000"/>
                  <a:lumOff val="50000"/>
                </a:schemeClr>
              </a:solidFill>
              <a:prstDash val="sysDot"/>
              <a:headEnd type="triangle"/>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rot="19800000">
              <a:off x="4545" y="4049"/>
              <a:ext cx="3034"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Global  intent</a:t>
              </a:r>
              <a:endParaRPr lang="en-US" altLang="zh-CN" sz="1400">
                <a:solidFill>
                  <a:schemeClr val="tx1"/>
                </a:solidFill>
                <a:latin typeface="Times New Roman" panose="02020603050405020304" charset="0"/>
                <a:cs typeface="Times New Roman" panose="02020603050405020304" charset="0"/>
              </a:endParaRPr>
            </a:p>
          </p:txBody>
        </p:sp>
        <p:sp>
          <p:nvSpPr>
            <p:cNvPr id="28" name="文本框 27"/>
            <p:cNvSpPr txBox="1"/>
            <p:nvPr/>
          </p:nvSpPr>
          <p:spPr>
            <a:xfrm>
              <a:off x="4133" y="5645"/>
              <a:ext cx="1782" cy="461"/>
            </a:xfrm>
            <a:prstGeom prst="rect">
              <a:avLst/>
            </a:prstGeom>
            <a:noFill/>
          </p:spPr>
          <p:txBody>
            <a:bodyPr wrap="square" rtlCol="0">
              <a:noAutofit/>
            </a:bodyPr>
            <a:p>
              <a:r>
                <a:rPr lang="en-US" altLang="zh-CN" sz="1400">
                  <a:solidFill>
                    <a:schemeClr val="tx1"/>
                  </a:solidFill>
                  <a:latin typeface="Times New Roman" panose="02020603050405020304" charset="0"/>
                  <a:cs typeface="Times New Roman" panose="02020603050405020304" charset="0"/>
                </a:rPr>
                <a:t>Local intent</a:t>
              </a:r>
              <a:endParaRPr lang="en-US" altLang="zh-CN" sz="1400">
                <a:solidFill>
                  <a:schemeClr val="tx1"/>
                </a:solidFill>
                <a:latin typeface="Times New Roman" panose="02020603050405020304" charset="0"/>
                <a:cs typeface="Times New Roman" panose="02020603050405020304" charset="0"/>
              </a:endParaRPr>
            </a:p>
          </p:txBody>
        </p:sp>
        <p:sp>
          <p:nvSpPr>
            <p:cNvPr id="30" name="文本框 29"/>
            <p:cNvSpPr txBox="1"/>
            <p:nvPr/>
          </p:nvSpPr>
          <p:spPr>
            <a:xfrm>
              <a:off x="8984" y="6694"/>
              <a:ext cx="2317" cy="580"/>
            </a:xfrm>
            <a:prstGeom prst="rect">
              <a:avLst/>
            </a:prstGeom>
            <a:noFill/>
          </p:spPr>
          <p:txBody>
            <a:bodyPr wrap="square" rtlCol="0">
              <a:spAutoFit/>
            </a:bodyPr>
            <a:p>
              <a:r>
                <a:rPr lang="en-US" altLang="zh-CN">
                  <a:solidFill>
                    <a:schemeClr val="bg2">
                      <a:lumMod val="25000"/>
                    </a:schemeClr>
                  </a:solidFill>
                </a:rPr>
                <a:t>APA Netwrok</a:t>
              </a:r>
              <a:endParaRPr lang="en-US" altLang="zh-CN">
                <a:solidFill>
                  <a:schemeClr val="bg2">
                    <a:lumMod val="25000"/>
                  </a:schemeClr>
                </a:solidFill>
              </a:endParaRPr>
            </a:p>
          </p:txBody>
        </p:sp>
        <p:sp>
          <p:nvSpPr>
            <p:cNvPr id="31" name="文本框 30"/>
            <p:cNvSpPr txBox="1"/>
            <p:nvPr/>
          </p:nvSpPr>
          <p:spPr>
            <a:xfrm rot="19860000">
              <a:off x="5172" y="4577"/>
              <a:ext cx="266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Complicate policy</a:t>
              </a:r>
              <a:endParaRPr lang="en-US" altLang="zh-CN" sz="1400">
                <a:solidFill>
                  <a:schemeClr val="tx1"/>
                </a:solidFill>
                <a:latin typeface="Times New Roman" panose="02020603050405020304" charset="0"/>
                <a:cs typeface="Times New Roman" panose="02020603050405020304" charset="0"/>
              </a:endParaRPr>
            </a:p>
          </p:txBody>
        </p:sp>
        <p:sp>
          <p:nvSpPr>
            <p:cNvPr id="33" name="文本框 32"/>
            <p:cNvSpPr txBox="1"/>
            <p:nvPr/>
          </p:nvSpPr>
          <p:spPr>
            <a:xfrm>
              <a:off x="3908" y="6203"/>
              <a:ext cx="224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Real-time policy</a:t>
              </a:r>
              <a:endParaRPr lang="en-US" altLang="zh-CN" sz="1400">
                <a:solidFill>
                  <a:schemeClr val="tx1"/>
                </a:solidFill>
                <a:latin typeface="Times New Roman" panose="02020603050405020304" charset="0"/>
                <a:cs typeface="Times New Roman" panose="02020603050405020304" charset="0"/>
              </a:endParaRPr>
            </a:p>
          </p:txBody>
        </p:sp>
        <p:cxnSp>
          <p:nvCxnSpPr>
            <p:cNvPr id="40" name="直接连接符 39"/>
            <p:cNvCxnSpPr/>
            <p:nvPr/>
          </p:nvCxnSpPr>
          <p:spPr>
            <a:xfrm flipV="1">
              <a:off x="3916" y="6183"/>
              <a:ext cx="1998" cy="13"/>
            </a:xfrm>
            <a:prstGeom prst="line">
              <a:avLst/>
            </a:prstGeom>
            <a:ln>
              <a:prstDash val="sysDot"/>
              <a:headEnd type="triangle"/>
              <a:tailEnd type="none"/>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flipV="1">
              <a:off x="3958" y="3980"/>
              <a:ext cx="3578" cy="2077"/>
            </a:xfrm>
            <a:prstGeom prst="line">
              <a:avLst/>
            </a:prstGeom>
            <a:ln>
              <a:prstDash val="sysDot"/>
              <a:headEnd type="triangle"/>
              <a:tailEnd type="none"/>
            </a:ln>
          </p:spPr>
          <p:style>
            <a:lnRef idx="2">
              <a:schemeClr val="accent1"/>
            </a:lnRef>
            <a:fillRef idx="0">
              <a:srgbClr val="FFFFFF"/>
            </a:fillRef>
            <a:effectRef idx="0">
              <a:srgbClr val="FFFFFF"/>
            </a:effectRef>
            <a:fontRef idx="minor">
              <a:schemeClr val="tx1"/>
            </a:fontRef>
          </p:style>
        </p:cxnSp>
        <p:sp>
          <p:nvSpPr>
            <p:cNvPr id="240" name="Freeform 6"/>
            <p:cNvSpPr/>
            <p:nvPr/>
          </p:nvSpPr>
          <p:spPr bwMode="auto">
            <a:xfrm>
              <a:off x="14740" y="5969"/>
              <a:ext cx="1677" cy="951"/>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1" fmla="*/ 8448 w 10000"/>
                <a:gd name="connsiteY0-2" fmla="*/ 9807 h 10000"/>
                <a:gd name="connsiteX1-3" fmla="*/ 1220 w 10000"/>
                <a:gd name="connsiteY1-4" fmla="*/ 9711 h 10000"/>
                <a:gd name="connsiteX2-5" fmla="*/ 199 w 10000"/>
                <a:gd name="connsiteY2-6" fmla="*/ 6988 h 10000"/>
                <a:gd name="connsiteX3-7" fmla="*/ 1470 w 10000"/>
                <a:gd name="connsiteY3-8" fmla="*/ 4211 h 10000"/>
                <a:gd name="connsiteX4-9" fmla="*/ 3806 w 10000"/>
                <a:gd name="connsiteY4-10" fmla="*/ 627 h 10000"/>
                <a:gd name="connsiteX5-11" fmla="*/ 6684 w 10000"/>
                <a:gd name="connsiteY5-12" fmla="*/ 2940 h 10000"/>
                <a:gd name="connsiteX6-13" fmla="*/ 8621 w 10000"/>
                <a:gd name="connsiteY6-14" fmla="*/ 2867 h 10000"/>
                <a:gd name="connsiteX7-15" fmla="*/ 9353 w 10000"/>
                <a:gd name="connsiteY7-16" fmla="*/ 5815 h 10000"/>
                <a:gd name="connsiteX8-17" fmla="*/ 9841 w 10000"/>
                <a:gd name="connsiteY8-18" fmla="*/ 8096 h 10000"/>
                <a:gd name="connsiteX9-19" fmla="*/ 8448 w 10000"/>
                <a:gd name="connsiteY9-20" fmla="*/ 9807 h 10000"/>
                <a:gd name="connsiteX0-21" fmla="*/ 8448 w 10000"/>
                <a:gd name="connsiteY0-22" fmla="*/ 9807 h 10000"/>
                <a:gd name="connsiteX1-23" fmla="*/ 1220 w 10000"/>
                <a:gd name="connsiteY1-24" fmla="*/ 9711 h 10000"/>
                <a:gd name="connsiteX2-25" fmla="*/ 199 w 10000"/>
                <a:gd name="connsiteY2-26" fmla="*/ 6988 h 10000"/>
                <a:gd name="connsiteX3-27" fmla="*/ 1638 w 10000"/>
                <a:gd name="connsiteY3-28" fmla="*/ 4336 h 10000"/>
                <a:gd name="connsiteX4-29" fmla="*/ 3806 w 10000"/>
                <a:gd name="connsiteY4-30" fmla="*/ 627 h 10000"/>
                <a:gd name="connsiteX5-31" fmla="*/ 6684 w 10000"/>
                <a:gd name="connsiteY5-32" fmla="*/ 2940 h 10000"/>
                <a:gd name="connsiteX6-33" fmla="*/ 8621 w 10000"/>
                <a:gd name="connsiteY6-34" fmla="*/ 2867 h 10000"/>
                <a:gd name="connsiteX7-35" fmla="*/ 9353 w 10000"/>
                <a:gd name="connsiteY7-36" fmla="*/ 5815 h 10000"/>
                <a:gd name="connsiteX8-37" fmla="*/ 9841 w 10000"/>
                <a:gd name="connsiteY8-38" fmla="*/ 8096 h 10000"/>
                <a:gd name="connsiteX9-39" fmla="*/ 8448 w 10000"/>
                <a:gd name="connsiteY9-40" fmla="*/ 9807 h 10000"/>
                <a:gd name="connsiteX0-41" fmla="*/ 8448 w 10000"/>
                <a:gd name="connsiteY0-42" fmla="*/ 9807 h 10000"/>
                <a:gd name="connsiteX1-43" fmla="*/ 1220 w 10000"/>
                <a:gd name="connsiteY1-44" fmla="*/ 9711 h 10000"/>
                <a:gd name="connsiteX2-45" fmla="*/ 199 w 10000"/>
                <a:gd name="connsiteY2-46" fmla="*/ 6988 h 10000"/>
                <a:gd name="connsiteX3-47" fmla="*/ 1638 w 10000"/>
                <a:gd name="connsiteY3-48" fmla="*/ 4336 h 10000"/>
                <a:gd name="connsiteX4-49" fmla="*/ 3806 w 10000"/>
                <a:gd name="connsiteY4-50" fmla="*/ 627 h 10000"/>
                <a:gd name="connsiteX5-51" fmla="*/ 6684 w 10000"/>
                <a:gd name="connsiteY5-52" fmla="*/ 2940 h 10000"/>
                <a:gd name="connsiteX6-53" fmla="*/ 8621 w 10000"/>
                <a:gd name="connsiteY6-54" fmla="*/ 2867 h 10000"/>
                <a:gd name="connsiteX7-55" fmla="*/ 9054 w 10000"/>
                <a:gd name="connsiteY7-56" fmla="*/ 5692 h 10000"/>
                <a:gd name="connsiteX8-57" fmla="*/ 9841 w 10000"/>
                <a:gd name="connsiteY8-58" fmla="*/ 8096 h 10000"/>
                <a:gd name="connsiteX9-59" fmla="*/ 8448 w 10000"/>
                <a:gd name="connsiteY9-60" fmla="*/ 9807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noFill/>
            <a:ln w="3175" cap="flat" cmpd="sng" algn="ctr">
              <a:solidFill>
                <a:schemeClr val="tx1"/>
              </a:solidFill>
              <a:prstDash val="solid"/>
              <a:miter lim="800000"/>
            </a:ln>
            <a:effectLst/>
          </p:spPr>
          <p:txBody>
            <a:bodyPr rtlCol="0" anchor="ctr"/>
            <a:p>
              <a:pPr algn="ctr">
                <a:lnSpc>
                  <a:spcPct val="150000"/>
                </a:lnSpc>
              </a:pPr>
              <a:r>
                <a:rPr lang="en-US" altLang="zh-CN" sz="1600" kern="0" dirty="0">
                  <a:latin typeface="微软雅黑" panose="020B0503020204020204" charset="-122"/>
                  <a:ea typeface="微软雅黑" panose="020B0503020204020204" charset="-122"/>
                  <a:sym typeface="Arial" panose="020B0604020202020204"/>
                </a:rPr>
                <a:t>Cloud</a:t>
              </a:r>
              <a:endParaRPr lang="en-US" altLang="zh-CN" sz="1600" kern="0" dirty="0">
                <a:solidFill>
                  <a:schemeClr val="tx1"/>
                </a:solidFill>
                <a:latin typeface="微软雅黑" panose="020B0503020204020204" charset="-122"/>
                <a:ea typeface="微软雅黑" panose="020B0503020204020204" charset="-122"/>
                <a:sym typeface="Arial" panose="020B0604020202020204"/>
              </a:endParaRPr>
            </a:p>
          </p:txBody>
        </p:sp>
        <p:cxnSp>
          <p:nvCxnSpPr>
            <p:cNvPr id="42" name="直接连接符 41"/>
            <p:cNvCxnSpPr>
              <a:stCxn id="8" idx="4"/>
            </p:cNvCxnSpPr>
            <p:nvPr/>
          </p:nvCxnSpPr>
          <p:spPr>
            <a:xfrm>
              <a:off x="13613" y="5883"/>
              <a:ext cx="1158" cy="713"/>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43" name="直接连接符 42"/>
            <p:cNvCxnSpPr>
              <a:stCxn id="13" idx="4"/>
              <a:endCxn id="240" idx="2"/>
            </p:cNvCxnSpPr>
            <p:nvPr/>
          </p:nvCxnSpPr>
          <p:spPr>
            <a:xfrm flipV="1">
              <a:off x="13640" y="6634"/>
              <a:ext cx="1133" cy="12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6337" y="6509"/>
              <a:ext cx="1568" cy="483"/>
            </a:xfrm>
            <a:prstGeom prst="rect">
              <a:avLst/>
            </a:prstGeom>
            <a:noFill/>
          </p:spPr>
          <p:txBody>
            <a:bodyPr wrap="square" rtlCol="0">
              <a:spAutoFit/>
            </a:bodyPr>
            <a:p>
              <a:r>
                <a:rPr lang="en-US" altLang="zh-CN" sz="1400" b="1">
                  <a:solidFill>
                    <a:schemeClr val="tx1"/>
                  </a:solidFill>
                </a:rPr>
                <a:t>APA </a:t>
              </a:r>
              <a:r>
                <a:rPr lang="en-US" altLang="zh-CN" sz="1400" b="1">
                  <a:solidFill>
                    <a:schemeClr val="tx1"/>
                  </a:solidFill>
                </a:rPr>
                <a:t>ID</a:t>
              </a:r>
              <a:endParaRPr lang="en-US" altLang="zh-CN" sz="1400" b="1">
                <a:solidFill>
                  <a:schemeClr val="tx1"/>
                </a:solidFill>
              </a:endParaRPr>
            </a:p>
          </p:txBody>
        </p:sp>
        <p:sp>
          <p:nvSpPr>
            <p:cNvPr id="45" name="矩形 44"/>
            <p:cNvSpPr/>
            <p:nvPr/>
          </p:nvSpPr>
          <p:spPr>
            <a:xfrm>
              <a:off x="8800" y="3877"/>
              <a:ext cx="2614" cy="410"/>
            </a:xfrm>
            <a:prstGeom prst="rect">
              <a:avLst/>
            </a:prstGeom>
            <a:noFill/>
            <a:ln w="15875">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sym typeface="+mn-ea"/>
                </a:rPr>
                <a:t>Network agent</a:t>
              </a:r>
              <a:endParaRPr lang="en-US" altLang="zh-CN" sz="1600">
                <a:solidFill>
                  <a:schemeClr val="tx1"/>
                </a:solidFill>
              </a:endParaRPr>
            </a:p>
          </p:txBody>
        </p:sp>
        <p:sp>
          <p:nvSpPr>
            <p:cNvPr id="47" name="文本框 46"/>
            <p:cNvSpPr txBox="1"/>
            <p:nvPr/>
          </p:nvSpPr>
          <p:spPr>
            <a:xfrm>
              <a:off x="7774" y="5025"/>
              <a:ext cx="224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E2E policy</a:t>
              </a:r>
              <a:endParaRPr lang="en-US" altLang="zh-CN" sz="1400">
                <a:solidFill>
                  <a:schemeClr val="tx1"/>
                </a:solidFill>
                <a:latin typeface="Times New Roman" panose="02020603050405020304" charset="0"/>
                <a:cs typeface="Times New Roman" panose="02020603050405020304" charset="0"/>
              </a:endParaRPr>
            </a:p>
          </p:txBody>
        </p:sp>
        <p:sp>
          <p:nvSpPr>
            <p:cNvPr id="48" name="文本框 47"/>
            <p:cNvSpPr txBox="1"/>
            <p:nvPr/>
          </p:nvSpPr>
          <p:spPr>
            <a:xfrm>
              <a:off x="1348" y="6437"/>
              <a:ext cx="2569" cy="483"/>
            </a:xfrm>
            <a:prstGeom prst="rect">
              <a:avLst/>
            </a:prstGeom>
            <a:noFill/>
          </p:spPr>
          <p:txBody>
            <a:bodyPr wrap="square" rtlCol="0">
              <a:spAutoFit/>
            </a:bodyPr>
            <a:p>
              <a:r>
                <a:rPr lang="en-US" altLang="zh-CN" sz="1400" b="1">
                  <a:solidFill>
                    <a:schemeClr val="tx1"/>
                  </a:solidFill>
                </a:rPr>
                <a:t>Agent ID</a:t>
              </a:r>
              <a:r>
                <a:rPr lang="zh-CN" altLang="en-US" sz="1400" b="1">
                  <a:solidFill>
                    <a:schemeClr val="tx1"/>
                  </a:solidFill>
                </a:rPr>
                <a:t>、</a:t>
              </a:r>
              <a:r>
                <a:rPr lang="en-US" altLang="zh-CN" sz="1400" b="1">
                  <a:solidFill>
                    <a:schemeClr val="tx1"/>
                  </a:solidFill>
                </a:rPr>
                <a:t>Task ID</a:t>
              </a:r>
              <a:endParaRPr lang="en-US" altLang="zh-CN" sz="1400" b="1">
                <a:solidFill>
                  <a:schemeClr val="tx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1: Agent Policy-aware Performance Measurement </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237490" y="824865"/>
            <a:ext cx="11635105" cy="922020"/>
          </a:xfrm>
          <a:prstGeom prst="rect">
            <a:avLst/>
          </a:prstGeom>
        </p:spPr>
        <p:txBody>
          <a:bodyPr wrap="square">
            <a:spAutoFit/>
          </a:bodyPr>
          <a:p>
            <a:pPr marL="0" indent="0" algn="l" defTabSz="266700">
              <a:lnSpc>
                <a:spcPct val="150000"/>
              </a:lnSpc>
              <a:spcBef>
                <a:spcPct val="0"/>
              </a:spcBef>
              <a:spcAft>
                <a:spcPct val="0"/>
              </a:spcAft>
              <a:tabLst>
                <a:tab pos="127000" algn="l"/>
              </a:tabLst>
            </a:pPr>
            <a:r>
              <a:rPr lang="en-US" altLang="zh-CN">
                <a:solidFill>
                  <a:srgbClr val="000000"/>
                </a:solidFill>
                <a:latin typeface="Times New Roman" panose="02020603050405020304"/>
                <a:ea typeface="宋体" panose="02010600030101010101" pitchFamily="2" charset="-122"/>
              </a:rPr>
              <a:t>Service Agents have strict latency and jitter requirements for specific data flows (e.g., emergency rescue video streams), and need real-time end-to-end network quality perception to meet business SLA</a:t>
            </a:r>
            <a:r>
              <a:rPr lang="en-US" altLang="zh-CN">
                <a:solidFill>
                  <a:srgbClr val="000000"/>
                </a:solidFill>
                <a:latin typeface="Times New Roman" panose="02020603050405020304"/>
                <a:ea typeface="宋体" panose="02010600030101010101" pitchFamily="2" charset="-122"/>
              </a:rPr>
              <a:t>s. </a:t>
            </a:r>
            <a:endParaRPr lang="en-US" altLang="zh-CN">
              <a:solidFill>
                <a:srgbClr val="000000"/>
              </a:solidFill>
              <a:latin typeface="Times New Roman" panose="02020603050405020304"/>
              <a:ea typeface="宋体" panose="02010600030101010101" pitchFamily="2" charset="-122"/>
            </a:endParaRPr>
          </a:p>
        </p:txBody>
      </p:sp>
      <p:sp>
        <p:nvSpPr>
          <p:cNvPr id="6" name="矩形 5"/>
          <p:cNvSpPr/>
          <p:nvPr/>
        </p:nvSpPr>
        <p:spPr>
          <a:xfrm>
            <a:off x="513715" y="2279650"/>
            <a:ext cx="163195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5440680" y="2256790"/>
            <a:ext cx="303530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Network Measurement </a:t>
            </a:r>
            <a:r>
              <a:rPr lang="en-US" altLang="zh-CN">
                <a:solidFill>
                  <a:schemeClr val="tx1"/>
                </a:solidFill>
              </a:rPr>
              <a:t>Agent</a:t>
            </a:r>
            <a:endParaRPr lang="en-US" altLang="zh-CN">
              <a:solidFill>
                <a:schemeClr val="tx1"/>
              </a:solidFill>
            </a:endParaRPr>
          </a:p>
        </p:txBody>
      </p:sp>
      <p:cxnSp>
        <p:nvCxnSpPr>
          <p:cNvPr id="7" name="直接连接符 6"/>
          <p:cNvCxnSpPr>
            <a:stCxn id="6" idx="2"/>
          </p:cNvCxnSpPr>
          <p:nvPr/>
        </p:nvCxnSpPr>
        <p:spPr>
          <a:xfrm>
            <a:off x="1329690" y="271208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6939915" y="268922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1366520" y="3310890"/>
            <a:ext cx="557022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a:off x="6939915" y="3829050"/>
            <a:ext cx="3374390"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366520" y="2894965"/>
            <a:ext cx="586295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1.send</a:t>
            </a:r>
            <a:r>
              <a:rPr lang="en-US" altLang="zh-CN" sz="1600">
                <a:solidFill>
                  <a:srgbClr val="000000"/>
                </a:solidFill>
                <a:latin typeface="Times New Roman" panose="02020603050405020304"/>
                <a:ea typeface="宋体" panose="02010600030101010101" pitchFamily="2" charset="-122"/>
              </a:rPr>
              <a:t> structured measurement intents based on SLA requirements</a:t>
            </a:r>
            <a:endParaRPr lang="en-US" altLang="zh-CN" sz="1600">
              <a:solidFill>
                <a:srgbClr val="000000"/>
              </a:solidFill>
              <a:latin typeface="Times New Roman" panose="02020603050405020304"/>
              <a:ea typeface="宋体" panose="02010600030101010101" pitchFamily="2" charset="-122"/>
            </a:endParaRPr>
          </a:p>
        </p:txBody>
      </p:sp>
      <p:sp>
        <p:nvSpPr>
          <p:cNvPr id="12" name="矩形 11"/>
          <p:cNvSpPr/>
          <p:nvPr/>
        </p:nvSpPr>
        <p:spPr>
          <a:xfrm>
            <a:off x="9300210" y="2245360"/>
            <a:ext cx="192151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13" name="直接连接符 12"/>
          <p:cNvCxnSpPr/>
          <p:nvPr/>
        </p:nvCxnSpPr>
        <p:spPr>
          <a:xfrm>
            <a:off x="10292715" y="267779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6972300" y="3649980"/>
            <a:ext cx="33420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6991350" y="3222625"/>
            <a:ext cx="349059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2.select adaptive measurement protocols</a:t>
            </a:r>
            <a:endParaRPr lang="en-US" altLang="zh-CN" sz="1600">
              <a:solidFill>
                <a:srgbClr val="000000"/>
              </a:solidFill>
              <a:latin typeface="Times New Roman" panose="02020603050405020304"/>
              <a:ea typeface="宋体" panose="02010600030101010101" pitchFamily="2" charset="-122"/>
            </a:endParaRPr>
          </a:p>
        </p:txBody>
      </p:sp>
      <p:cxnSp>
        <p:nvCxnSpPr>
          <p:cNvPr id="16" name="直接箭头连接符 15"/>
          <p:cNvCxnSpPr/>
          <p:nvPr/>
        </p:nvCxnSpPr>
        <p:spPr>
          <a:xfrm flipH="1">
            <a:off x="1386205" y="4076700"/>
            <a:ext cx="5586095"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7271385" y="3828415"/>
            <a:ext cx="277177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3. collect performance data</a:t>
            </a:r>
            <a:endParaRPr lang="en-US" altLang="zh-CN" sz="1600">
              <a:solidFill>
                <a:srgbClr val="000000"/>
              </a:solidFill>
              <a:latin typeface="Times New Roman" panose="02020603050405020304"/>
              <a:ea typeface="宋体" panose="02010600030101010101" pitchFamily="2" charset="-122"/>
            </a:endParaRPr>
          </a:p>
        </p:txBody>
      </p:sp>
      <p:sp>
        <p:nvSpPr>
          <p:cNvPr id="18" name="文本框 17"/>
          <p:cNvSpPr txBox="1"/>
          <p:nvPr/>
        </p:nvSpPr>
        <p:spPr>
          <a:xfrm>
            <a:off x="2318385" y="3701415"/>
            <a:ext cx="3722370"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4. receive structured measurement results</a:t>
            </a:r>
            <a:endParaRPr lang="en-US" altLang="zh-CN" sz="1600">
              <a:solidFill>
                <a:srgbClr val="000000"/>
              </a:solidFill>
              <a:latin typeface="Times New Roman" panose="02020603050405020304"/>
              <a:ea typeface="宋体" panose="02010600030101010101" pitchFamily="2" charset="-122"/>
            </a:endParaRPr>
          </a:p>
        </p:txBody>
      </p:sp>
      <p:sp>
        <p:nvSpPr>
          <p:cNvPr id="19" name="文本框 18"/>
          <p:cNvSpPr txBox="1"/>
          <p:nvPr/>
        </p:nvSpPr>
        <p:spPr>
          <a:xfrm>
            <a:off x="1626870" y="4290695"/>
            <a:ext cx="4971415" cy="82994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5. extract performance characteristics of business flows</a:t>
            </a:r>
            <a:endParaRPr lang="en-US" altLang="zh-CN" sz="1600">
              <a:solidFill>
                <a:srgbClr val="000000"/>
              </a:solidFill>
              <a:latin typeface="Times New Roman" panose="02020603050405020304"/>
              <a:ea typeface="宋体" panose="02010600030101010101" pitchFamily="2" charset="-122"/>
            </a:endParaRPr>
          </a:p>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6. predict traffic and security requirements based on datas, and map business semantic actions to traffic features</a:t>
            </a:r>
            <a:endParaRPr lang="en-US" altLang="zh-CN" sz="1600">
              <a:solidFill>
                <a:srgbClr val="000000"/>
              </a:solidFill>
              <a:latin typeface="Times New Roman" panose="02020603050405020304"/>
              <a:ea typeface="宋体" panose="02010600030101010101" pitchFamily="2" charset="-122"/>
            </a:endParaRPr>
          </a:p>
        </p:txBody>
      </p:sp>
      <p:grpSp>
        <p:nvGrpSpPr>
          <p:cNvPr id="25" name="组合 24"/>
          <p:cNvGrpSpPr/>
          <p:nvPr/>
        </p:nvGrpSpPr>
        <p:grpSpPr>
          <a:xfrm>
            <a:off x="1356995" y="4506595"/>
            <a:ext cx="240665" cy="472440"/>
            <a:chOff x="2137" y="7707"/>
            <a:chExt cx="492" cy="358"/>
          </a:xfrm>
        </p:grpSpPr>
        <p:cxnSp>
          <p:nvCxnSpPr>
            <p:cNvPr id="22" name="直接连接符 21"/>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27" name="直接箭头连接符 26"/>
          <p:cNvCxnSpPr/>
          <p:nvPr/>
        </p:nvCxnSpPr>
        <p:spPr>
          <a:xfrm flipV="1">
            <a:off x="1421130" y="5758180"/>
            <a:ext cx="557022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8" name="矩形 27"/>
          <p:cNvSpPr/>
          <p:nvPr/>
        </p:nvSpPr>
        <p:spPr>
          <a:xfrm>
            <a:off x="5344795" y="2139315"/>
            <a:ext cx="5978525" cy="652780"/>
          </a:xfrm>
          <a:prstGeom prst="rect">
            <a:avLst/>
          </a:prstGeom>
          <a:noFill/>
          <a:ln w="15875">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1616710" y="5166360"/>
            <a:ext cx="4349115" cy="58356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7. output explicit QOS requirement to netowrk</a:t>
            </a:r>
            <a:r>
              <a:rPr lang="zh-CN" altLang="en-US" sz="1600">
                <a:solidFill>
                  <a:srgbClr val="000000"/>
                </a:solidFill>
                <a:latin typeface="Times New Roman" panose="02020603050405020304"/>
                <a:ea typeface="宋体" panose="02010600030101010101" pitchFamily="2" charset="-122"/>
              </a:rPr>
              <a:t>（</a:t>
            </a:r>
            <a:r>
              <a:rPr lang="en-US" altLang="zh-CN" sz="1600">
                <a:solidFill>
                  <a:srgbClr val="000000"/>
                </a:solidFill>
                <a:latin typeface="Times New Roman" panose="02020603050405020304"/>
                <a:ea typeface="宋体" panose="02010600030101010101" pitchFamily="2" charset="-122"/>
              </a:rPr>
              <a:t>carrying Agent ID and task ID</a:t>
            </a:r>
            <a:r>
              <a:rPr lang="zh-CN" altLang="en-US" sz="1600">
                <a:solidFill>
                  <a:srgbClr val="000000"/>
                </a:solidFill>
                <a:latin typeface="Times New Roman" panose="02020603050405020304"/>
                <a:ea typeface="宋体" panose="02010600030101010101" pitchFamily="2" charset="-122"/>
              </a:rPr>
              <a:t>）</a:t>
            </a:r>
            <a:endParaRPr lang="zh-CN" altLang="en-US" sz="1600">
              <a:solidFill>
                <a:srgbClr val="000000"/>
              </a:solidFill>
              <a:latin typeface="Times New Roman" panose="02020603050405020304"/>
              <a:ea typeface="宋体" panose="02010600030101010101" pitchFamily="2" charset="-122"/>
            </a:endParaRPr>
          </a:p>
        </p:txBody>
      </p:sp>
      <p:cxnSp>
        <p:nvCxnSpPr>
          <p:cNvPr id="30" name="直接箭头连接符 29"/>
          <p:cNvCxnSpPr/>
          <p:nvPr/>
        </p:nvCxnSpPr>
        <p:spPr>
          <a:xfrm flipV="1">
            <a:off x="6994525" y="5788025"/>
            <a:ext cx="33420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972300" y="5186680"/>
            <a:ext cx="3431540" cy="583565"/>
          </a:xfrm>
          <a:prstGeom prst="rect">
            <a:avLst/>
          </a:prstGeom>
        </p:spPr>
        <p:txBody>
          <a:bodyPr wrap="square">
            <a:spAutoFit/>
          </a:bodyPr>
          <a:p>
            <a:pPr marL="0" indent="0" algn="l"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8. APAD generate APA ID and allocate dedicated network </a:t>
            </a:r>
            <a:r>
              <a:rPr lang="en-US" altLang="zh-CN" sz="1600">
                <a:solidFill>
                  <a:srgbClr val="000000"/>
                </a:solidFill>
                <a:latin typeface="Times New Roman" panose="02020603050405020304"/>
                <a:ea typeface="宋体" panose="02010600030101010101" pitchFamily="2" charset="-122"/>
              </a:rPr>
              <a:t>resouces</a:t>
            </a:r>
            <a:endParaRPr lang="en-US" altLang="zh-CN" sz="1600">
              <a:solidFill>
                <a:srgbClr val="000000"/>
              </a:solidFill>
              <a:latin typeface="Times New Roman" panose="02020603050405020304"/>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2: Agent Policy-aware Path Optimization</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285750" y="796925"/>
            <a:ext cx="11685905" cy="829945"/>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When congestion or faults occur on the current transmission path, service SLAs may be degraded. The network should switch to a more optimal path without service interruption, enabling fault self-healing and experience self-optimization, thereby ensuring service continuity.</a:t>
            </a:r>
            <a:endParaRPr lang="en-US" altLang="zh-CN" sz="1600">
              <a:solidFill>
                <a:srgbClr val="000000"/>
              </a:solidFill>
              <a:latin typeface="Times New Roman" panose="02020603050405020304"/>
              <a:ea typeface="宋体" panose="02010600030101010101" pitchFamily="2" charset="-122"/>
            </a:endParaRPr>
          </a:p>
        </p:txBody>
      </p:sp>
      <p:sp>
        <p:nvSpPr>
          <p:cNvPr id="6" name="矩形 5"/>
          <p:cNvSpPr/>
          <p:nvPr/>
        </p:nvSpPr>
        <p:spPr>
          <a:xfrm>
            <a:off x="775335" y="2044065"/>
            <a:ext cx="163195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4304665" y="2026285"/>
            <a:ext cx="303530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80000"/>
              </a:lnSpc>
              <a:spcBef>
                <a:spcPts val="0"/>
              </a:spcBef>
              <a:spcAft>
                <a:spcPts val="0"/>
              </a:spcAft>
            </a:pPr>
            <a:r>
              <a:rPr lang="en-US" altLang="zh-CN" sz="1600">
                <a:solidFill>
                  <a:schemeClr val="tx1"/>
                </a:solidFill>
              </a:rPr>
              <a:t>APA Controller</a:t>
            </a:r>
            <a:endParaRPr lang="en-US" altLang="zh-CN" sz="1600">
              <a:solidFill>
                <a:schemeClr val="tx1"/>
              </a:solidFill>
            </a:endParaRPr>
          </a:p>
          <a:p>
            <a:pPr algn="ctr">
              <a:lnSpc>
                <a:spcPct val="80000"/>
              </a:lnSpc>
              <a:spcBef>
                <a:spcPts val="0"/>
              </a:spcBef>
              <a:spcAft>
                <a:spcPts val="0"/>
              </a:spcAft>
            </a:pPr>
            <a:r>
              <a:rPr lang="en-US" altLang="zh-CN" sz="1600">
                <a:solidFill>
                  <a:schemeClr val="tx1"/>
                </a:solidFill>
              </a:rPr>
              <a:t>(Path Optimization Agent)</a:t>
            </a:r>
            <a:endParaRPr lang="en-US" altLang="zh-CN" sz="1600">
              <a:solidFill>
                <a:schemeClr val="tx1"/>
              </a:solidFill>
            </a:endParaRPr>
          </a:p>
        </p:txBody>
      </p:sp>
      <p:sp>
        <p:nvSpPr>
          <p:cNvPr id="12" name="矩形 11"/>
          <p:cNvSpPr/>
          <p:nvPr/>
        </p:nvSpPr>
        <p:spPr>
          <a:xfrm>
            <a:off x="8481695" y="2014855"/>
            <a:ext cx="192151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7" name="直接连接符 6"/>
          <p:cNvCxnSpPr>
            <a:stCxn id="6" idx="2"/>
          </p:cNvCxnSpPr>
          <p:nvPr/>
        </p:nvCxnSpPr>
        <p:spPr>
          <a:xfrm>
            <a:off x="1591310" y="2476500"/>
            <a:ext cx="6985"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H="1">
            <a:off x="5886450" y="2476500"/>
            <a:ext cx="2540"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9444990" y="2447290"/>
            <a:ext cx="12065"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a:off x="1591310" y="3169920"/>
            <a:ext cx="4294505"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534160" y="2886075"/>
            <a:ext cx="463042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1.2. receive network feedback of quality degradation alarms</a:t>
            </a:r>
            <a:endParaRPr lang="en-US" altLang="zh-CN" sz="1400">
              <a:solidFill>
                <a:srgbClr val="000000"/>
              </a:solidFill>
              <a:latin typeface="Times New Roman" panose="02020603050405020304"/>
              <a:ea typeface="宋体" panose="02010600030101010101" pitchFamily="2" charset="-122"/>
            </a:endParaRPr>
          </a:p>
        </p:txBody>
      </p:sp>
      <p:grpSp>
        <p:nvGrpSpPr>
          <p:cNvPr id="25" name="组合 24"/>
          <p:cNvGrpSpPr/>
          <p:nvPr/>
        </p:nvGrpSpPr>
        <p:grpSpPr>
          <a:xfrm>
            <a:off x="1617980" y="2626995"/>
            <a:ext cx="240665" cy="257175"/>
            <a:chOff x="2137" y="7707"/>
            <a:chExt cx="492" cy="358"/>
          </a:xfrm>
        </p:grpSpPr>
        <p:cxnSp>
          <p:nvCxnSpPr>
            <p:cNvPr id="22" name="直接连接符 21"/>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3" name="文本框 12"/>
          <p:cNvSpPr txBox="1"/>
          <p:nvPr/>
        </p:nvSpPr>
        <p:spPr>
          <a:xfrm>
            <a:off x="1778635" y="2604135"/>
            <a:ext cx="463042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1.1. perceive its own service experience degradation</a:t>
            </a:r>
            <a:endParaRPr lang="en-US" altLang="zh-CN" sz="1400">
              <a:solidFill>
                <a:srgbClr val="000000"/>
              </a:solidFill>
              <a:latin typeface="Times New Roman" panose="02020603050405020304"/>
              <a:ea typeface="宋体" panose="02010600030101010101" pitchFamily="2" charset="-122"/>
            </a:endParaRPr>
          </a:p>
        </p:txBody>
      </p:sp>
      <p:cxnSp>
        <p:nvCxnSpPr>
          <p:cNvPr id="14" name="直接箭头连接符 13"/>
          <p:cNvCxnSpPr/>
          <p:nvPr/>
        </p:nvCxnSpPr>
        <p:spPr>
          <a:xfrm flipV="1">
            <a:off x="1585595" y="3731895"/>
            <a:ext cx="4300855" cy="20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623060" y="3223260"/>
            <a:ext cx="418719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2. send a request for path recalculation and switching </a:t>
            </a:r>
            <a:endParaRPr lang="en-US" altLang="zh-CN" sz="1400">
              <a:solidFill>
                <a:srgbClr val="000000"/>
              </a:solidFill>
              <a:latin typeface="Times New Roman" panose="02020603050405020304"/>
              <a:ea typeface="宋体" panose="02010600030101010101" pitchFamily="2" charset="-122"/>
            </a:endParaRPr>
          </a:p>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with service tolerance (e.g. lossless swtching) </a:t>
            </a:r>
            <a:endParaRPr lang="en-US" altLang="zh-CN" sz="1400">
              <a:solidFill>
                <a:srgbClr val="000000"/>
              </a:solidFill>
              <a:latin typeface="Times New Roman" panose="02020603050405020304"/>
              <a:ea typeface="宋体" panose="02010600030101010101" pitchFamily="2" charset="-122"/>
            </a:endParaRPr>
          </a:p>
        </p:txBody>
      </p:sp>
      <p:cxnSp>
        <p:nvCxnSpPr>
          <p:cNvPr id="17" name="直接箭头连接符 16"/>
          <p:cNvCxnSpPr/>
          <p:nvPr/>
        </p:nvCxnSpPr>
        <p:spPr>
          <a:xfrm flipH="1">
            <a:off x="1585595" y="4312920"/>
            <a:ext cx="4294505"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5907405" y="3863340"/>
            <a:ext cx="240665" cy="257175"/>
            <a:chOff x="2137" y="7707"/>
            <a:chExt cx="492" cy="358"/>
          </a:xfrm>
        </p:grpSpPr>
        <p:cxnSp>
          <p:nvCxnSpPr>
            <p:cNvPr id="19" name="直接连接符 18"/>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27" name="文本框 26"/>
          <p:cNvSpPr txBox="1"/>
          <p:nvPr/>
        </p:nvSpPr>
        <p:spPr>
          <a:xfrm>
            <a:off x="6259195" y="3727450"/>
            <a:ext cx="3277870" cy="521970"/>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 calculates an optimal set of schedulable paths that meet constraints</a:t>
            </a:r>
            <a:endParaRPr lang="en-US" altLang="zh-CN" sz="1400">
              <a:solidFill>
                <a:srgbClr val="000000"/>
              </a:solidFill>
              <a:latin typeface="Times New Roman" panose="02020603050405020304"/>
              <a:ea typeface="宋体" panose="02010600030101010101" pitchFamily="2" charset="-122"/>
            </a:endParaRPr>
          </a:p>
        </p:txBody>
      </p:sp>
      <p:sp>
        <p:nvSpPr>
          <p:cNvPr id="29" name="文本框 28"/>
          <p:cNvSpPr txBox="1"/>
          <p:nvPr/>
        </p:nvSpPr>
        <p:spPr>
          <a:xfrm>
            <a:off x="1778635" y="3957320"/>
            <a:ext cx="394271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4. confirm the switching strategy with service </a:t>
            </a:r>
            <a:r>
              <a:rPr lang="en-US" altLang="zh-CN" sz="1400">
                <a:solidFill>
                  <a:srgbClr val="000000"/>
                </a:solidFill>
                <a:latin typeface="Times New Roman" panose="02020603050405020304"/>
                <a:ea typeface="宋体" panose="02010600030101010101" pitchFamily="2" charset="-122"/>
              </a:rPr>
              <a:t>agent </a:t>
            </a:r>
            <a:endParaRPr lang="en-US" altLang="zh-CN" sz="1400">
              <a:solidFill>
                <a:srgbClr val="000000"/>
              </a:solidFill>
              <a:latin typeface="Times New Roman" panose="02020603050405020304"/>
              <a:ea typeface="宋体" panose="02010600030101010101" pitchFamily="2" charset="-122"/>
            </a:endParaRPr>
          </a:p>
        </p:txBody>
      </p:sp>
      <p:cxnSp>
        <p:nvCxnSpPr>
          <p:cNvPr id="30" name="直接箭头连接符 29"/>
          <p:cNvCxnSpPr/>
          <p:nvPr/>
        </p:nvCxnSpPr>
        <p:spPr>
          <a:xfrm flipV="1">
            <a:off x="1617980" y="4468495"/>
            <a:ext cx="4300855" cy="20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V="1">
            <a:off x="5895340" y="4633595"/>
            <a:ext cx="3554095" cy="177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181090" y="4327525"/>
            <a:ext cx="314007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6. execute seamless path migration</a:t>
            </a:r>
            <a:endParaRPr lang="en-US" altLang="zh-CN" sz="1400">
              <a:solidFill>
                <a:srgbClr val="000000"/>
              </a:solidFill>
              <a:latin typeface="Times New Roman" panose="02020603050405020304"/>
              <a:ea typeface="宋体" panose="02010600030101010101" pitchFamily="2" charset="-122"/>
            </a:endParaRPr>
          </a:p>
        </p:txBody>
      </p:sp>
      <p:sp>
        <p:nvSpPr>
          <p:cNvPr id="33" name="文本框 32"/>
          <p:cNvSpPr txBox="1"/>
          <p:nvPr/>
        </p:nvSpPr>
        <p:spPr>
          <a:xfrm>
            <a:off x="1228725" y="5336540"/>
            <a:ext cx="7807960" cy="1274445"/>
          </a:xfrm>
          <a:prstGeom prst="rect">
            <a:avLst/>
          </a:prstGeom>
        </p:spPr>
        <p:txBody>
          <a:bodyPr wrap="square">
            <a:spAutoFit/>
          </a:bodyPr>
          <a:p>
            <a:pPr marL="0" indent="0" algn="l" defTabSz="266700">
              <a:lnSpc>
                <a:spcPct val="110000"/>
              </a:lnSpc>
              <a:spcBef>
                <a:spcPts val="0"/>
              </a:spcBef>
              <a:spcAft>
                <a:spcPts val="0"/>
              </a:spcAft>
              <a:tabLst>
                <a:tab pos="127000" algn="l"/>
              </a:tabLst>
            </a:pPr>
            <a:r>
              <a:rPr lang="en-US" altLang="zh-CN" sz="1400">
                <a:solidFill>
                  <a:srgbClr val="000000"/>
                </a:solidFill>
                <a:latin typeface="Times New Roman" panose="02020603050405020304"/>
                <a:ea typeface="宋体" panose="02010600030101010101" pitchFamily="2" charset="-122"/>
              </a:rPr>
              <a:t>Schedulable Path Set Information Model:</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Basic Identifier: Path ID / Path Group ID</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Performance Attributes: Latency, jitter, packet loss, bandwidth, remaining bandwidth</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O&amp;M Attributes: Cost, priority, reliability, congestion probability</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Constraint Attributes: </a:t>
            </a:r>
            <a:r>
              <a:rPr lang="en-US" altLang="zh-CN" sz="1400">
                <a:solidFill>
                  <a:srgbClr val="000000"/>
                </a:solidFill>
                <a:latin typeface="Times New Roman" panose="02020603050405020304"/>
                <a:ea typeface="Times New Roman" panose="02020603050405020304"/>
              </a:rPr>
              <a:t>S</a:t>
            </a:r>
            <a:r>
              <a:rPr lang="en-US" altLang="zh-CN" sz="1400">
                <a:solidFill>
                  <a:srgbClr val="000000"/>
                </a:solidFill>
                <a:latin typeface="Times New Roman" panose="02020603050405020304"/>
                <a:ea typeface="宋体" panose="02010600030101010101" pitchFamily="2" charset="-122"/>
              </a:rPr>
              <a:t>licing support, cross-domain support, encryption support</a:t>
            </a:r>
            <a:endParaRPr lang="en-US" altLang="zh-CN" sz="1400">
              <a:solidFill>
                <a:srgbClr val="000000"/>
              </a:solidFill>
              <a:latin typeface="Times New Roman" panose="02020603050405020304"/>
              <a:ea typeface="宋体" panose="02010600030101010101" pitchFamily="2" charset="-122"/>
            </a:endParaRPr>
          </a:p>
        </p:txBody>
      </p:sp>
      <p:sp>
        <p:nvSpPr>
          <p:cNvPr id="34" name="文本框 33"/>
          <p:cNvSpPr txBox="1"/>
          <p:nvPr/>
        </p:nvSpPr>
        <p:spPr>
          <a:xfrm>
            <a:off x="1771015" y="4468495"/>
            <a:ext cx="394271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5. select an optimal path from the path set</a:t>
            </a:r>
            <a:endParaRPr lang="en-US" altLang="zh-CN" sz="1400">
              <a:solidFill>
                <a:srgbClr val="000000"/>
              </a:solidFill>
              <a:latin typeface="Times New Roman" panose="02020603050405020304"/>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3: Agent Policy-aware SLA Level Assurance</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345440" y="782320"/>
            <a:ext cx="11643995" cy="1198880"/>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Different types of traffic from Agents feature high dynamism, burstiness and periodicity (e.g., scheduled big data synchronization). The network needs to allocate exclusive resources such as bandwidth on demand to realize "tidal scheduling" of network resources, greatly improve resource utilization, and ensure deterministic experience for critical services.</a:t>
            </a:r>
            <a:endParaRPr lang="en-US" altLang="zh-CN" sz="1600">
              <a:solidFill>
                <a:srgbClr val="000000"/>
              </a:solidFill>
              <a:latin typeface="Times New Roman" panose="02020603050405020304"/>
              <a:ea typeface="宋体" panose="02010600030101010101" pitchFamily="2" charset="-122"/>
            </a:endParaRPr>
          </a:p>
        </p:txBody>
      </p:sp>
      <p:grpSp>
        <p:nvGrpSpPr>
          <p:cNvPr id="43" name="组合 42"/>
          <p:cNvGrpSpPr/>
          <p:nvPr/>
        </p:nvGrpSpPr>
        <p:grpSpPr>
          <a:xfrm>
            <a:off x="775335" y="2440305"/>
            <a:ext cx="9627870" cy="3341370"/>
            <a:chOff x="1221" y="3563"/>
            <a:chExt cx="15162" cy="5262"/>
          </a:xfrm>
        </p:grpSpPr>
        <p:grpSp>
          <p:nvGrpSpPr>
            <p:cNvPr id="16" name="组合 15"/>
            <p:cNvGrpSpPr/>
            <p:nvPr/>
          </p:nvGrpSpPr>
          <p:grpSpPr>
            <a:xfrm>
              <a:off x="1221" y="3563"/>
              <a:ext cx="15162" cy="5262"/>
              <a:chOff x="1221" y="3173"/>
              <a:chExt cx="15162" cy="5262"/>
            </a:xfrm>
          </p:grpSpPr>
          <p:sp>
            <p:nvSpPr>
              <p:cNvPr id="6" name="矩形 5"/>
              <p:cNvSpPr/>
              <p:nvPr/>
            </p:nvSpPr>
            <p:spPr>
              <a:xfrm>
                <a:off x="1221" y="3219"/>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6779" y="3191"/>
                <a:ext cx="478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spcBef>
                    <a:spcPts val="0"/>
                  </a:spcBef>
                  <a:buClrTx/>
                  <a:buSzTx/>
                  <a:buFontTx/>
                </a:pPr>
                <a:r>
                  <a:rPr lang="en-US" altLang="zh-CN" sz="1800">
                    <a:solidFill>
                      <a:schemeClr val="tx1"/>
                    </a:solidFill>
                  </a:rPr>
                  <a:t>Resource Reservation Agent</a:t>
                </a:r>
                <a:endParaRPr lang="en-US" altLang="zh-CN" sz="1800">
                  <a:solidFill>
                    <a:schemeClr val="tx1"/>
                  </a:solidFill>
                </a:endParaRPr>
              </a:p>
            </p:txBody>
          </p:sp>
          <p:sp>
            <p:nvSpPr>
              <p:cNvPr id="12" name="矩形 11"/>
              <p:cNvSpPr/>
              <p:nvPr/>
            </p:nvSpPr>
            <p:spPr>
              <a:xfrm>
                <a:off x="13357" y="3173"/>
                <a:ext cx="3026"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7" name="直接连接符 6"/>
              <p:cNvCxnSpPr>
                <a:stCxn id="6" idx="2"/>
              </p:cNvCxnSpPr>
              <p:nvPr/>
            </p:nvCxnSpPr>
            <p:spPr>
              <a:xfrm>
                <a:off x="2506" y="3900"/>
                <a:ext cx="11"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H="1">
                <a:off x="9270" y="3900"/>
                <a:ext cx="4"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14874" y="3854"/>
                <a:ext cx="19"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2487" y="5093"/>
                <a:ext cx="6773" cy="3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494" y="4349"/>
                <a:ext cx="6747" cy="535"/>
              </a:xfrm>
              <a:prstGeom prst="rect">
                <a:avLst/>
              </a:prstGeom>
            </p:spPr>
            <p:txBody>
              <a:bodyPr wrap="square">
                <a:noAutofit/>
              </a:bodyPr>
              <a:p>
                <a:pPr marL="0" algn="just" defTabSz="266700">
                  <a:buClrTx/>
                  <a:buSzTx/>
                  <a:buFontTx/>
                </a:pPr>
                <a:r>
                  <a:rPr lang="en-US" altLang="zh-CN" sz="1200">
                    <a:solidFill>
                      <a:srgbClr val="000000"/>
                    </a:solidFill>
                    <a:latin typeface="Times New Roman" panose="02020603050405020304"/>
                    <a:ea typeface="宋体" panose="02010600030101010101" pitchFamily="2" charset="-122"/>
                  </a:rPr>
                  <a:t>1. predict future traffic trends and send "resource reservation intents" (including time window, bandwidth peak, and duration) </a:t>
                </a:r>
                <a:endParaRPr lang="en-US" altLang="zh-CN" sz="1200">
                  <a:solidFill>
                    <a:srgbClr val="000000"/>
                  </a:solidFill>
                  <a:latin typeface="Times New Roman" panose="02020603050405020304"/>
                  <a:ea typeface="宋体" panose="02010600030101010101" pitchFamily="2" charset="-122"/>
                </a:endParaRPr>
              </a:p>
            </p:txBody>
          </p:sp>
          <p:cxnSp>
            <p:nvCxnSpPr>
              <p:cNvPr id="17" name="直接箭头连接符 16"/>
              <p:cNvCxnSpPr/>
              <p:nvPr/>
            </p:nvCxnSpPr>
            <p:spPr>
              <a:xfrm flipH="1">
                <a:off x="2517" y="6523"/>
                <a:ext cx="6763" cy="2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9755" y="4781"/>
                <a:ext cx="5162"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2. evaluates the global network load, and check whether the resources are sufficiant </a:t>
                </a:r>
                <a:endParaRPr lang="en-US" altLang="zh-CN" sz="1400">
                  <a:solidFill>
                    <a:srgbClr val="000000"/>
                  </a:solidFill>
                  <a:latin typeface="Times New Roman" panose="02020603050405020304"/>
                  <a:ea typeface="宋体" panose="02010600030101010101" pitchFamily="2" charset="-122"/>
                </a:endParaRPr>
              </a:p>
            </p:txBody>
          </p:sp>
          <p:sp>
            <p:nvSpPr>
              <p:cNvPr id="29" name="文本框 28"/>
              <p:cNvSpPr txBox="1"/>
              <p:nvPr/>
            </p:nvSpPr>
            <p:spPr>
              <a:xfrm>
                <a:off x="2789" y="6027"/>
                <a:ext cx="6209" cy="483"/>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3.3. negotiate a degradation strategy </a:t>
                </a:r>
                <a:endParaRPr lang="en-US" altLang="zh-CN" sz="1400">
                  <a:solidFill>
                    <a:srgbClr val="000000"/>
                  </a:solidFill>
                  <a:latin typeface="Times New Roman" panose="02020603050405020304"/>
                  <a:ea typeface="宋体" panose="02010600030101010101" pitchFamily="2" charset="-122"/>
                </a:endParaRPr>
              </a:p>
            </p:txBody>
          </p:sp>
          <p:cxnSp>
            <p:nvCxnSpPr>
              <p:cNvPr id="31" name="直接箭头连接符 30"/>
              <p:cNvCxnSpPr/>
              <p:nvPr/>
            </p:nvCxnSpPr>
            <p:spPr>
              <a:xfrm flipV="1">
                <a:off x="9325" y="7212"/>
                <a:ext cx="5597" cy="2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9303" y="6066"/>
                <a:ext cx="5815" cy="1161"/>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3.1. provide the corresponding network slice /SRv6 policy,  and </a:t>
                </a:r>
                <a:r>
                  <a:rPr lang="en-US" altLang="zh-CN" sz="1400">
                    <a:solidFill>
                      <a:srgbClr val="000000"/>
                    </a:solidFill>
                    <a:latin typeface="Times New Roman" panose="02020603050405020304"/>
                    <a:ea typeface="宋体" panose="02010600030101010101" pitchFamily="2" charset="-122"/>
                    <a:sym typeface="+mn-ea"/>
                  </a:rPr>
                  <a:t>complete the lifecycle management </a:t>
                </a:r>
                <a:r>
                  <a:rPr lang="en-US" altLang="zh-CN" sz="1400">
                    <a:solidFill>
                      <a:srgbClr val="000000"/>
                    </a:solidFill>
                    <a:latin typeface="Times New Roman" panose="02020603050405020304"/>
                    <a:ea typeface="宋体" panose="02010600030101010101" pitchFamily="2" charset="-122"/>
                  </a:rPr>
                  <a:t>for current task</a:t>
                </a:r>
                <a:endParaRPr lang="en-US" altLang="zh-CN" sz="1400">
                  <a:solidFill>
                    <a:srgbClr val="000000"/>
                  </a:solidFill>
                  <a:latin typeface="Times New Roman" panose="02020603050405020304"/>
                  <a:ea typeface="宋体" panose="02010600030101010101" pitchFamily="2" charset="-122"/>
                </a:endParaRPr>
              </a:p>
            </p:txBody>
          </p:sp>
        </p:grpSp>
        <p:grpSp>
          <p:nvGrpSpPr>
            <p:cNvPr id="28" name="组合 27"/>
            <p:cNvGrpSpPr/>
            <p:nvPr/>
          </p:nvGrpSpPr>
          <p:grpSpPr>
            <a:xfrm>
              <a:off x="9284" y="5483"/>
              <a:ext cx="379" cy="405"/>
              <a:chOff x="2137" y="7707"/>
              <a:chExt cx="492" cy="358"/>
            </a:xfrm>
          </p:grpSpPr>
          <p:cxnSp>
            <p:nvCxnSpPr>
              <p:cNvPr id="33" name="直接连接符 32"/>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37" name="直接箭头连接符 36"/>
            <p:cNvCxnSpPr/>
            <p:nvPr/>
          </p:nvCxnSpPr>
          <p:spPr>
            <a:xfrm>
              <a:off x="10761" y="5929"/>
              <a:ext cx="1572" cy="35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12436" y="5983"/>
              <a:ext cx="921" cy="434"/>
            </a:xfrm>
            <a:prstGeom prst="rect">
              <a:avLst/>
            </a:prstGeom>
            <a:noFill/>
          </p:spPr>
          <p:txBody>
            <a:bodyPr wrap="square" rtlCol="0">
              <a:spAutoFit/>
            </a:bodyPr>
            <a:p>
              <a:r>
                <a:rPr lang="en-US" altLang="zh-CN" sz="1200">
                  <a:latin typeface="Times New Roman" panose="02020603050405020304" charset="0"/>
                  <a:cs typeface="Times New Roman" panose="02020603050405020304" charset="0"/>
                </a:rPr>
                <a:t>Yes</a:t>
              </a:r>
              <a:endParaRPr lang="en-US" altLang="zh-CN" sz="1200">
                <a:latin typeface="Times New Roman" panose="02020603050405020304" charset="0"/>
                <a:cs typeface="Times New Roman" panose="02020603050405020304" charset="0"/>
              </a:endParaRPr>
            </a:p>
          </p:txBody>
        </p:sp>
        <p:cxnSp>
          <p:nvCxnSpPr>
            <p:cNvPr id="39" name="直接箭头连接符 38"/>
            <p:cNvCxnSpPr/>
            <p:nvPr/>
          </p:nvCxnSpPr>
          <p:spPr>
            <a:xfrm flipH="1">
              <a:off x="9054" y="5918"/>
              <a:ext cx="1635" cy="50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8508" y="5983"/>
              <a:ext cx="921" cy="434"/>
            </a:xfrm>
            <a:prstGeom prst="rect">
              <a:avLst/>
            </a:prstGeom>
            <a:noFill/>
          </p:spPr>
          <p:txBody>
            <a:bodyPr wrap="square" rtlCol="0">
              <a:spAutoFit/>
            </a:bodyPr>
            <a:p>
              <a:r>
                <a:rPr lang="en-US" altLang="zh-CN" sz="1200">
                  <a:latin typeface="Times New Roman" panose="02020603050405020304" charset="0"/>
                  <a:cs typeface="Times New Roman" panose="02020603050405020304" charset="0"/>
                </a:rPr>
                <a:t>No</a:t>
              </a:r>
              <a:endParaRPr lang="en-US" altLang="zh-CN" sz="1200">
                <a:latin typeface="Times New Roman" panose="02020603050405020304" charset="0"/>
                <a:cs typeface="Times New Roman" panose="02020603050405020304" charset="0"/>
              </a:endParaRPr>
            </a:p>
          </p:txBody>
        </p:sp>
        <p:sp>
          <p:nvSpPr>
            <p:cNvPr id="42" name="文本框 41"/>
            <p:cNvSpPr txBox="1"/>
            <p:nvPr/>
          </p:nvSpPr>
          <p:spPr>
            <a:xfrm>
              <a:off x="9347" y="7666"/>
              <a:ext cx="5815"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3.2. use the evolution of SFC to achieve the </a:t>
              </a:r>
              <a:r>
                <a:rPr lang="en-US" altLang="zh-CN" sz="1400">
                  <a:solidFill>
                    <a:srgbClr val="000000"/>
                  </a:solidFill>
                  <a:latin typeface="Times New Roman" panose="02020603050405020304"/>
                  <a:ea typeface="宋体" panose="02010600030101010101" pitchFamily="2" charset="-122"/>
                  <a:sym typeface="+mn-ea"/>
                </a:rPr>
                <a:t>agent’s </a:t>
              </a:r>
              <a:r>
                <a:rPr lang="en-US" altLang="zh-CN" sz="1400">
                  <a:solidFill>
                    <a:srgbClr val="000000"/>
                  </a:solidFill>
                  <a:latin typeface="Times New Roman" panose="02020603050405020304"/>
                  <a:ea typeface="宋体" panose="02010600030101010101" pitchFamily="2" charset="-122"/>
                </a:rPr>
                <a:t>ordered </a:t>
              </a:r>
              <a:r>
                <a:rPr lang="en-US" altLang="zh-CN"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宋体" panose="02010600030101010101" pitchFamily="2" charset="-122"/>
                </a:rPr>
                <a:t>service</a:t>
              </a:r>
              <a:endParaRPr lang="en-US" altLang="zh-CN" sz="1400">
                <a:solidFill>
                  <a:srgbClr val="000000"/>
                </a:solidFill>
                <a:latin typeface="Times New Roman" panose="02020603050405020304"/>
                <a:ea typeface="宋体" panose="02010600030101010101" pitchFamily="2"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2425" y="298450"/>
            <a:ext cx="8002270" cy="460375"/>
          </a:xfrm>
          <a:prstGeom prst="rect">
            <a:avLst/>
          </a:prstGeom>
          <a:noFill/>
        </p:spPr>
        <p:txBody>
          <a:bodyPr wrap="square" rtlCol="0" anchor="t">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sym typeface="+mn-ea"/>
              </a:rPr>
              <a:t>Use case 4: Agent Policy-aware  Security </a:t>
            </a:r>
            <a:endParaRPr lang="en-US" altLang="zh-CN" sz="2400" b="1" dirty="0">
              <a:solidFill>
                <a:srgbClr val="002B60"/>
              </a:solidFill>
              <a:latin typeface="+mj-lt"/>
              <a:ea typeface="Verdana" panose="020B0604030504040204" pitchFamily="34" charset="0"/>
              <a:cs typeface="Calibri Light" panose="020F0302020204030204" pitchFamily="34" charset="0"/>
              <a:sym typeface="+mn-ea"/>
            </a:endParaRPr>
          </a:p>
        </p:txBody>
      </p:sp>
      <p:sp>
        <p:nvSpPr>
          <p:cNvPr id="5" name="文本框 4"/>
          <p:cNvSpPr txBox="1"/>
          <p:nvPr/>
        </p:nvSpPr>
        <p:spPr>
          <a:xfrm>
            <a:off x="396240" y="911225"/>
            <a:ext cx="11377930" cy="1198880"/>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For the sensitive data transmission in govenment, medical and financial scenarios, when Agents in different trust domains conduct data interaction, the network needs to dynamically match the corresponding security levels and encryption mechanisms to realize identity and context-based dynamic zero-trust security, ensuring that data only flows within authorized scopes.</a:t>
            </a:r>
            <a:endParaRPr lang="en-US" altLang="zh-CN" sz="1600">
              <a:solidFill>
                <a:srgbClr val="000000"/>
              </a:solidFill>
              <a:latin typeface="Times New Roman" panose="02020603050405020304"/>
              <a:ea typeface="宋体" panose="02010600030101010101" pitchFamily="2" charset="-122"/>
            </a:endParaRPr>
          </a:p>
        </p:txBody>
      </p:sp>
      <p:grpSp>
        <p:nvGrpSpPr>
          <p:cNvPr id="43" name="组合 42"/>
          <p:cNvGrpSpPr/>
          <p:nvPr/>
        </p:nvGrpSpPr>
        <p:grpSpPr>
          <a:xfrm>
            <a:off x="775335" y="2440305"/>
            <a:ext cx="9627870" cy="3341370"/>
            <a:chOff x="1221" y="3563"/>
            <a:chExt cx="15162" cy="5262"/>
          </a:xfrm>
        </p:grpSpPr>
        <p:grpSp>
          <p:nvGrpSpPr>
            <p:cNvPr id="16" name="组合 15"/>
            <p:cNvGrpSpPr/>
            <p:nvPr/>
          </p:nvGrpSpPr>
          <p:grpSpPr>
            <a:xfrm>
              <a:off x="1221" y="3563"/>
              <a:ext cx="15162" cy="5262"/>
              <a:chOff x="1221" y="3173"/>
              <a:chExt cx="15162" cy="5262"/>
            </a:xfrm>
          </p:grpSpPr>
          <p:sp>
            <p:nvSpPr>
              <p:cNvPr id="6" name="矩形 5"/>
              <p:cNvSpPr/>
              <p:nvPr/>
            </p:nvSpPr>
            <p:spPr>
              <a:xfrm>
                <a:off x="1221" y="3219"/>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Agent1</a:t>
                </a:r>
                <a:endParaRPr lang="en-US" altLang="zh-CN">
                  <a:solidFill>
                    <a:schemeClr val="tx1"/>
                  </a:solidFill>
                </a:endParaRPr>
              </a:p>
            </p:txBody>
          </p:sp>
          <p:sp>
            <p:nvSpPr>
              <p:cNvPr id="7" name="矩形 6"/>
              <p:cNvSpPr/>
              <p:nvPr/>
            </p:nvSpPr>
            <p:spPr>
              <a:xfrm>
                <a:off x="8170" y="3191"/>
                <a:ext cx="3019"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spcBef>
                    <a:spcPts val="0"/>
                  </a:spcBef>
                  <a:buClrTx/>
                  <a:buSzTx/>
                  <a:buFontTx/>
                </a:pPr>
                <a:r>
                  <a:rPr lang="en-US" altLang="zh-CN" sz="1800">
                    <a:solidFill>
                      <a:schemeClr val="tx1"/>
                    </a:solidFill>
                  </a:rPr>
                  <a:t>Security Agent</a:t>
                </a:r>
                <a:endParaRPr lang="en-US" altLang="zh-CN" sz="1800">
                  <a:solidFill>
                    <a:schemeClr val="tx1"/>
                  </a:solidFill>
                </a:endParaRPr>
              </a:p>
            </p:txBody>
          </p:sp>
          <p:sp>
            <p:nvSpPr>
              <p:cNvPr id="12" name="矩形 11"/>
              <p:cNvSpPr/>
              <p:nvPr/>
            </p:nvSpPr>
            <p:spPr>
              <a:xfrm>
                <a:off x="13357" y="3173"/>
                <a:ext cx="3026"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8" name="直接连接符 7"/>
              <p:cNvCxnSpPr>
                <a:stCxn id="6" idx="2"/>
              </p:cNvCxnSpPr>
              <p:nvPr/>
            </p:nvCxnSpPr>
            <p:spPr>
              <a:xfrm>
                <a:off x="2506" y="3900"/>
                <a:ext cx="11"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flipH="1">
                <a:off x="9270" y="3900"/>
                <a:ext cx="4"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14874" y="3854"/>
                <a:ext cx="19"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2487" y="5513"/>
                <a:ext cx="6773" cy="3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464" y="5050"/>
                <a:ext cx="6747" cy="535"/>
              </a:xfrm>
              <a:prstGeom prst="rect">
                <a:avLst/>
              </a:prstGeom>
            </p:spPr>
            <p:txBody>
              <a:bodyPr wrap="square">
                <a:noAutofit/>
              </a:bodyPr>
              <a:p>
                <a:pPr marL="0" algn="l" defTabSz="266700">
                  <a:buClrTx/>
                  <a:buSzTx/>
                  <a:buFontTx/>
                </a:pPr>
                <a:r>
                  <a:rPr lang="en-US" altLang="zh-CN" sz="1400">
                    <a:solidFill>
                      <a:srgbClr val="000000"/>
                    </a:solidFill>
                    <a:latin typeface="Times New Roman" panose="02020603050405020304"/>
                    <a:ea typeface="宋体" panose="02010600030101010101" pitchFamily="2" charset="-122"/>
                  </a:rPr>
                  <a:t>2.  send "the required </a:t>
                </a:r>
                <a:r>
                  <a:rPr lang="en-US" altLang="zh-CN" sz="1400">
                    <a:solidFill>
                      <a:srgbClr val="000000"/>
                    </a:solidFill>
                    <a:latin typeface="Times New Roman" panose="02020603050405020304"/>
                    <a:ea typeface="宋体" panose="02010600030101010101" pitchFamily="2" charset="-122"/>
                  </a:rPr>
                  <a:t>security intents" </a:t>
                </a:r>
                <a:endParaRPr lang="en-US" altLang="zh-CN" sz="1400">
                  <a:solidFill>
                    <a:srgbClr val="000000"/>
                  </a:solidFill>
                  <a:latin typeface="Times New Roman" panose="02020603050405020304"/>
                  <a:ea typeface="宋体" panose="02010600030101010101" pitchFamily="2" charset="-122"/>
                </a:endParaRPr>
              </a:p>
            </p:txBody>
          </p:sp>
          <p:sp>
            <p:nvSpPr>
              <p:cNvPr id="27" name="文本框 26"/>
              <p:cNvSpPr txBox="1"/>
              <p:nvPr/>
            </p:nvSpPr>
            <p:spPr>
              <a:xfrm>
                <a:off x="9680" y="4889"/>
                <a:ext cx="5162"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2. parse, retrieve and match preconfigured cross-domain mutual trust policies</a:t>
                </a:r>
                <a:endParaRPr lang="en-US" altLang="zh-CN" sz="1400">
                  <a:solidFill>
                    <a:srgbClr val="000000"/>
                  </a:solidFill>
                  <a:latin typeface="Times New Roman" panose="02020603050405020304"/>
                  <a:ea typeface="宋体" panose="02010600030101010101" pitchFamily="2" charset="-122"/>
                </a:endParaRPr>
              </a:p>
            </p:txBody>
          </p:sp>
          <p:cxnSp>
            <p:nvCxnSpPr>
              <p:cNvPr id="31" name="直接箭头连接符 30"/>
              <p:cNvCxnSpPr/>
              <p:nvPr/>
            </p:nvCxnSpPr>
            <p:spPr>
              <a:xfrm flipV="1">
                <a:off x="9325" y="7212"/>
                <a:ext cx="5597" cy="2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9284" y="5963"/>
                <a:ext cx="5815" cy="1161"/>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 provides hierarchical security technologies on demand, including IPSec, QKD key distribution, and group secure transmission</a:t>
                </a:r>
                <a:endParaRPr lang="en-US" altLang="zh-CN" sz="1400">
                  <a:solidFill>
                    <a:srgbClr val="000000"/>
                  </a:solidFill>
                  <a:latin typeface="Times New Roman" panose="02020603050405020304"/>
                  <a:ea typeface="宋体" panose="02010600030101010101" pitchFamily="2" charset="-122"/>
                </a:endParaRPr>
              </a:p>
            </p:txBody>
          </p:sp>
        </p:grpSp>
        <p:grpSp>
          <p:nvGrpSpPr>
            <p:cNvPr id="28" name="组合 27"/>
            <p:cNvGrpSpPr/>
            <p:nvPr/>
          </p:nvGrpSpPr>
          <p:grpSpPr>
            <a:xfrm>
              <a:off x="9284" y="5483"/>
              <a:ext cx="379" cy="405"/>
              <a:chOff x="2137" y="7707"/>
              <a:chExt cx="492" cy="358"/>
            </a:xfrm>
          </p:grpSpPr>
          <p:cxnSp>
            <p:nvCxnSpPr>
              <p:cNvPr id="33" name="直接连接符 32"/>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42" name="文本框 41"/>
            <p:cNvSpPr txBox="1"/>
            <p:nvPr/>
          </p:nvSpPr>
          <p:spPr>
            <a:xfrm>
              <a:off x="9284" y="7766"/>
              <a:ext cx="5815"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4. The policies are automatically revoked after the session ends.</a:t>
              </a:r>
              <a:endParaRPr lang="en-US" altLang="zh-CN" sz="1400">
                <a:solidFill>
                  <a:srgbClr val="000000"/>
                </a:solidFill>
                <a:latin typeface="Times New Roman" panose="02020603050405020304"/>
                <a:ea typeface="宋体" panose="02010600030101010101" pitchFamily="2" charset="-122"/>
              </a:endParaRPr>
            </a:p>
          </p:txBody>
        </p:sp>
      </p:grpSp>
      <p:sp>
        <p:nvSpPr>
          <p:cNvPr id="11" name="矩形 10"/>
          <p:cNvSpPr/>
          <p:nvPr/>
        </p:nvSpPr>
        <p:spPr>
          <a:xfrm>
            <a:off x="3063875" y="2469515"/>
            <a:ext cx="167132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Agent2</a:t>
            </a:r>
            <a:endParaRPr lang="en-US" altLang="zh-CN">
              <a:solidFill>
                <a:schemeClr val="tx1"/>
              </a:solidFill>
            </a:endParaRPr>
          </a:p>
        </p:txBody>
      </p:sp>
      <p:cxnSp>
        <p:nvCxnSpPr>
          <p:cNvPr id="13" name="直接连接符 12"/>
          <p:cNvCxnSpPr/>
          <p:nvPr/>
        </p:nvCxnSpPr>
        <p:spPr>
          <a:xfrm>
            <a:off x="4030980" y="2884170"/>
            <a:ext cx="8255" cy="69786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a:off x="1573530" y="3529965"/>
            <a:ext cx="2446655" cy="6350"/>
          </a:xfrm>
          <a:prstGeom prst="straightConnector1">
            <a:avLst/>
          </a:prstGeom>
          <a:ln>
            <a:headEnd type="triangle"/>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573530" y="3007995"/>
            <a:ext cx="2459990" cy="339725"/>
          </a:xfrm>
          <a:prstGeom prst="rect">
            <a:avLst/>
          </a:prstGeom>
        </p:spPr>
        <p:txBody>
          <a:bodyPr wrap="square">
            <a:noAutofit/>
          </a:bodyPr>
          <a:p>
            <a:pPr marL="0" algn="l" defTabSz="266700">
              <a:buClrTx/>
              <a:buSzTx/>
              <a:buFontTx/>
            </a:pPr>
            <a:r>
              <a:rPr lang="en-US" altLang="zh-CN" sz="1400">
                <a:solidFill>
                  <a:srgbClr val="000000"/>
                </a:solidFill>
                <a:latin typeface="Times New Roman" panose="02020603050405020304"/>
                <a:ea typeface="宋体" panose="02010600030101010101" pitchFamily="2" charset="-122"/>
              </a:rPr>
              <a:t>1. </a:t>
            </a:r>
            <a:r>
              <a:rPr lang="en-US" altLang="zh-CN" sz="1400">
                <a:solidFill>
                  <a:srgbClr val="000000"/>
                </a:solidFill>
                <a:latin typeface="Times New Roman" panose="02020603050405020304"/>
                <a:ea typeface="宋体" panose="02010600030101010101" pitchFamily="2" charset="-122"/>
              </a:rPr>
              <a:t>exchange identity credentials and trust domain attributes </a:t>
            </a:r>
            <a:endParaRPr lang="en-US" altLang="zh-CN" sz="1400">
              <a:solidFill>
                <a:srgbClr val="000000"/>
              </a:solidFill>
              <a:latin typeface="Times New Roman" panose="02020603050405020304"/>
              <a:ea typeface="宋体" panose="02010600030101010101" pitchFamily="2" charset="-122"/>
            </a:endParaRPr>
          </a:p>
        </p:txBody>
      </p:sp>
      <p:sp>
        <p:nvSpPr>
          <p:cNvPr id="2" name="文本框 1"/>
          <p:cNvSpPr txBox="1"/>
          <p:nvPr/>
        </p:nvSpPr>
        <p:spPr>
          <a:xfrm>
            <a:off x="1640840" y="3971608"/>
            <a:ext cx="5080000" cy="306705"/>
          </a:xfrm>
          <a:prstGeom prst="rect">
            <a:avLst/>
          </a:prstGeom>
        </p:spPr>
        <p:txBody>
          <a:bodyPr>
            <a:spAutoFit/>
          </a:bodyPr>
          <a:p>
            <a:pPr marL="0" indent="0" algn="just" defTabSz="266700">
              <a:spcBef>
                <a:spcPct val="0"/>
              </a:spcBef>
              <a:spcAft>
                <a:spcPct val="0"/>
              </a:spcAft>
            </a:pPr>
            <a:r>
              <a:rPr lang="en-US" altLang="zh-CN" sz="1400">
                <a:solidFill>
                  <a:srgbClr val="1F2329"/>
                </a:solidFill>
                <a:latin typeface="Times New Roman" panose="02020603050405020304"/>
                <a:ea typeface="宋体" panose="02010600030101010101" pitchFamily="2" charset="-122"/>
              </a:rPr>
              <a:t>(e.g. national cryptographic algorithm encryption)</a:t>
            </a:r>
            <a:endParaRPr lang="en-US" altLang="zh-CN" sz="1400">
              <a:solidFill>
                <a:srgbClr val="1F2329"/>
              </a:solidFill>
              <a:latin typeface="Times New Roman" panose="02020603050405020304"/>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595847" y="3791666"/>
            <a:ext cx="3626795" cy="830997"/>
          </a:xfrm>
          <a:prstGeom prst="rect">
            <a:avLst/>
          </a:prstGeom>
          <a:noFill/>
        </p:spPr>
        <p:txBody>
          <a:bodyPr wrap="square" rtlCol="0">
            <a:spAutoFit/>
          </a:bodyPr>
          <a:p>
            <a:r>
              <a:rPr lang="en-US" altLang="zh-CN" sz="4800" b="1" i="1" dirty="0">
                <a:latin typeface="Arial" panose="020B0604020202020204" pitchFamily="34" charset="0"/>
                <a:cs typeface="Arial" panose="020B0604020202020204" pitchFamily="34" charset="0"/>
              </a:rPr>
              <a:t>Thank You!</a:t>
            </a:r>
            <a:endParaRPr lang="zh-CN" altLang="en-US" sz="4800" b="1" i="1" dirty="0">
              <a:latin typeface="Arial" panose="020B0604020202020204" pitchFamily="34" charset="0"/>
              <a:cs typeface="Arial" panose="020B0604020202020204" pitchFamily="34" charset="0"/>
            </a:endParaRPr>
          </a:p>
        </p:txBody>
      </p:sp>
      <p:sp>
        <p:nvSpPr>
          <p:cNvPr id="5" name="Rectangle 1"/>
          <p:cNvSpPr>
            <a:spLocks noGrp="1" noChangeArrowheads="1"/>
          </p:cNvSpPr>
          <p:nvPr>
            <p:ph type="title"/>
          </p:nvPr>
        </p:nvSpPr>
        <p:spPr bwMode="auto">
          <a:xfrm>
            <a:off x="412315" y="474438"/>
            <a:ext cx="1754505" cy="4305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p>
            <a:pPr algn="l">
              <a:lnSpc>
                <a:spcPct val="100000"/>
              </a:lnSpc>
              <a:buClrTx/>
              <a:buSzTx/>
              <a:buFontTx/>
            </a:pPr>
            <a:r>
              <a:rPr lang="en-US" altLang="zh-CN" sz="2800" b="1" dirty="0">
                <a:solidFill>
                  <a:srgbClr val="002B60"/>
                </a:solidFill>
                <a:ea typeface="Verdana" panose="020B0604030504040204" pitchFamily="34" charset="0"/>
                <a:cs typeface="Calibri Light" panose="020F0302020204030204" pitchFamily="34" charset="0"/>
              </a:rPr>
              <a:t>Next Steps</a:t>
            </a:r>
            <a:endParaRPr lang="en-US" altLang="zh-CN" sz="2800" b="1" dirty="0">
              <a:solidFill>
                <a:srgbClr val="002B60"/>
              </a:solidFill>
              <a:ea typeface="Verdana" panose="020B0604030504040204" pitchFamily="34" charset="0"/>
              <a:cs typeface="Calibri Light" panose="020F0302020204030204" pitchFamily="34" charset="0"/>
            </a:endParaRPr>
          </a:p>
        </p:txBody>
      </p:sp>
      <p:sp>
        <p:nvSpPr>
          <p:cNvPr id="6" name="内容占位符 2"/>
          <p:cNvSpPr>
            <a:spLocks noGrp="1"/>
          </p:cNvSpPr>
          <p:nvPr>
            <p:ph idx="1"/>
          </p:nvPr>
        </p:nvSpPr>
        <p:spPr>
          <a:xfrm>
            <a:off x="900829" y="1337110"/>
            <a:ext cx="10347543" cy="4412337"/>
          </a:xfrm>
          <a:ln>
            <a:noFill/>
          </a:ln>
        </p:spPr>
        <p:txBody>
          <a:bodyPr>
            <a:noAutofit/>
          </a:bodyPr>
          <a:p>
            <a:pPr marL="457200" indent="-457200">
              <a:spcBef>
                <a:spcPts val="1200"/>
              </a:spcBef>
              <a:buFont typeface="Wingdings" panose="05000000000000000000" pitchFamily="2" charset="2"/>
              <a:buChar char="u"/>
            </a:pPr>
            <a:endParaRPr lang="en-US" altLang="zh-CN" sz="2000" dirty="0">
              <a:latin typeface="Arial Unicode MS" panose="020B0604020202020204" charset="-122"/>
              <a:ea typeface="Arial Unicode MS" panose="020B0604020202020204" charset="-122"/>
              <a:cs typeface="Arial Unicode MS" panose="020B0604020202020204" charset="-122"/>
            </a:endParaRPr>
          </a:p>
          <a:p>
            <a:pPr>
              <a:lnSpc>
                <a:spcPct val="130000"/>
              </a:lnSpc>
              <a:spcBef>
                <a:spcPts val="1400"/>
              </a:spcBef>
              <a:spcAft>
                <a:spcPts val="1400"/>
              </a:spcAft>
            </a:pPr>
            <a:r>
              <a:rPr lang="en-US" altLang="zh-CN" sz="2000" b="1" dirty="0">
                <a:solidFill>
                  <a:srgbClr val="000000"/>
                </a:solidFill>
                <a:latin typeface="Times New Roman" panose="02020603050405020304" charset="0"/>
                <a:cs typeface="Times New Roman" panose="02020603050405020304" charset="0"/>
              </a:rPr>
              <a:t>Request more opinions and feedbacks to promote our work</a:t>
            </a:r>
            <a:r>
              <a:rPr lang="en-US" altLang="zh-CN" sz="2000" dirty="0">
                <a:latin typeface="Arial" panose="020B0604020202020204" pitchFamily="34" charset="0"/>
                <a:cs typeface="Arial" panose="020B0604020202020204" pitchFamily="34" charset="0"/>
              </a:rPr>
              <a:t>.</a:t>
            </a:r>
            <a:endParaRPr lang="en-US" altLang="zh-CN" sz="2000" dirty="0">
              <a:latin typeface="Arial" panose="020B0604020202020204" pitchFamily="34" charset="0"/>
              <a:cs typeface="Arial" panose="020B0604020202020204" pitchFamily="34" charset="0"/>
            </a:endParaRPr>
          </a:p>
          <a:p>
            <a:pPr>
              <a:lnSpc>
                <a:spcPct val="130000"/>
              </a:lnSpc>
              <a:spcBef>
                <a:spcPts val="1400"/>
              </a:spcBef>
              <a:spcAft>
                <a:spcPts val="1400"/>
              </a:spcAft>
            </a:pPr>
            <a:r>
              <a:rPr lang="en-US" altLang="zh-CN" sz="2000" b="1" dirty="0">
                <a:solidFill>
                  <a:srgbClr val="000000"/>
                </a:solidFill>
                <a:latin typeface="Times New Roman" panose="02020603050405020304" charset="0"/>
                <a:cs typeface="Times New Roman" panose="02020603050405020304" charset="0"/>
              </a:rPr>
              <a:t>Any comments </a:t>
            </a:r>
            <a:r>
              <a:rPr lang="en-US" altLang="zh-CN" sz="2000" b="1" dirty="0">
                <a:solidFill>
                  <a:srgbClr val="000000"/>
                </a:solidFill>
                <a:latin typeface="Times New Roman" panose="02020603050405020304" charset="0"/>
                <a:cs typeface="Times New Roman" panose="02020603050405020304" charset="0"/>
              </a:rPr>
              <a:t>are welcome.</a:t>
            </a:r>
            <a:endParaRPr lang="en-US" altLang="zh-CN" sz="2000" b="1" dirty="0">
              <a:solidFill>
                <a:srgbClr val="000000"/>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5615</Words>
  <Application>WPS 演示</Application>
  <PresentationFormat>宽屏</PresentationFormat>
  <Paragraphs>181</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宋体</vt:lpstr>
      <vt:lpstr>Wingdings</vt:lpstr>
      <vt:lpstr>Arial</vt:lpstr>
      <vt:lpstr>Verdana</vt:lpstr>
      <vt:lpstr>Calibri Light</vt:lpstr>
      <vt:lpstr>Times New Roman</vt:lpstr>
      <vt:lpstr>Times New Roman</vt:lpstr>
      <vt:lpstr>微软雅黑</vt:lpstr>
      <vt:lpstr>Arial Unicode MS</vt:lpstr>
      <vt:lpstr>Noto Sans SC</vt:lpstr>
      <vt:lpstr>Calibri</vt:lpstr>
      <vt:lpstr>WPS</vt:lpstr>
      <vt:lpstr>Thoughts on Agent Policy-aware Network</vt:lpstr>
      <vt:lpstr>PowerPoint 演示文稿</vt:lpstr>
      <vt:lpstr>PowerPoint 演示文稿</vt:lpstr>
      <vt:lpstr>PowerPoint 演示文稿</vt:lpstr>
      <vt:lpstr>PowerPoint 演示文稿</vt:lpstr>
      <vt:lpstr>PowerPoint 演示文稿</vt:lpstr>
      <vt:lpstr>PowerPoint 演示文稿</vt:lpstr>
      <vt:lpstr>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张晓秋</cp:lastModifiedBy>
  <cp:revision>73</cp:revision>
  <dcterms:created xsi:type="dcterms:W3CDTF">2023-08-09T12:44:00Z</dcterms:created>
  <dcterms:modified xsi:type="dcterms:W3CDTF">2026-03-17T02:51:20Z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2052-12.8.2.21177</vt:lpwstr>
  </property>
</Properties>
</file>