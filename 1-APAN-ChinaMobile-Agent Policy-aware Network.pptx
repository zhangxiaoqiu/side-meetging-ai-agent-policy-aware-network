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256" r:id="rId4"/>
    <p:sldId id="258" r:id="rId5"/>
    <p:sldId id="257" r:id="rId7"/>
    <p:sldId id="262" r:id="rId8"/>
    <p:sldId id="263" r:id="rId9"/>
    <p:sldId id="264" r:id="rId10"/>
    <p:sldId id="265" r:id="rId11"/>
    <p:sldId id="260" r:id="rId12"/>
    <p:sldId id="259" r:id="rId13"/>
    <p:sldId id="261"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Traditional applications can’t proactively decide how to use network services, and can only passively receive the service provided by network. By contrast, Agent is an autonomous intelligent entity capable of perceiving, making decisions, and executing tasks. Furthermore, it can even interact with networks to express policy intents and select different network service abilities.</a:t>
            </a:r>
            <a:endParaRPr lang="en-US" altLang="zh-CN"/>
          </a:p>
          <a:p>
            <a:r>
              <a:rPr lang="en-US" altLang="en-US"/>
              <a:t>3 </a:t>
            </a:r>
            <a:r>
              <a:rPr lang="en-US" altLang="zh-CN"/>
              <a:t>And Traditional networks can’t match the dynamic, bursty needs of Agents.</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是否</a:t>
            </a:r>
            <a:r>
              <a:rPr lang="en-US" altLang="zh-CN"/>
              <a:t>policy ID </a:t>
            </a:r>
            <a:r>
              <a:rPr lang="zh-CN" altLang="en-US"/>
              <a:t>和现有得</a:t>
            </a:r>
            <a:r>
              <a:rPr lang="en-US" altLang="zh-CN"/>
              <a:t>ARN/APN</a:t>
            </a:r>
            <a:r>
              <a:rPr lang="zh-CN" altLang="en-US"/>
              <a:t>是什么关系</a:t>
            </a:r>
            <a:r>
              <a:rPr lang="en-US" altLang="zh-CN"/>
              <a:t>  </a:t>
            </a:r>
            <a:r>
              <a:rPr lang="zh-CN" altLang="en-US"/>
              <a:t>智能体是否需要做</a:t>
            </a:r>
            <a:r>
              <a:rPr lang="zh-CN" altLang="en-US"/>
              <a:t>决策</a:t>
            </a:r>
            <a:endParaRPr lang="zh-CN" altLang="en-US"/>
          </a:p>
          <a:p>
            <a:endParaRPr lang="zh-CN" altLang="en-US"/>
          </a:p>
          <a:p>
            <a:r>
              <a:rPr lang="en-US" altLang="zh-CN"/>
              <a:t>APAD is in charge of fast local intent processing, policy execution and status monitoring – to achieve quick local responses. APAC undertakes global complex intent parsing, cross-domain resource coordination, policy optimization and closed-loop management – to realize overall global planning. </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all without manual operation, forming an automated closed loop.</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increased response time, request timeout</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本页将为大家介绍我们基于OpenClaw构建的智能体感知网络解决方案。我们的核心目标，是让每个智能体都具备“网络感知”能力，实现从被动响应到主动适应环境的飞跃。这背后有三大核心思想：首先是构建感知-决策-执行的完整闭环；其次是利用端-边-云协同来优化性能；最后是通过策略与通道的解耦来保证灵活性。</a:t>
            </a:r>
            <a:endParaRPr lang="en-US" sz="1400" b="0" i="0" u="none" strike="noStrike">
              <a:solidFill>
                <a:srgbClr val="000000"/>
              </a:solidFill>
            </a:endParaRPr>
          </a:p>
          <a:p>
            <a:pPr indent="0" algn="l">
              <a:lnSpc>
                <a:spcPct val="100000"/>
              </a:lnSpc>
            </a:pPr>
            <a:r>
              <a:rPr lang="en-US" sz="1400" b="0" i="0" u="none" strike="noStrike">
                <a:solidFill>
                  <a:srgbClr val="000000"/>
                </a:solidFill>
              </a:rPr>
              <a:t>在系统架构上，我们充分利用了OpenClaw现有的三层架构。感知层由增强的OpenClaw Nodes组成，它们就像系统的神经末梢，负责采集网络数据。决策层是智能的OpenClaw Gateway，作为大脑，它分析数据并作出决策。最后，执行层将决策作用于外部网络环境，比如切换协议或申请5G切片，从而完成整个优化循环。</a:t>
            </a:r>
            <a:endParaRPr lang="en-US" sz="1400" b="0" i="0" u="none" strike="noStrike">
              <a:solidFill>
                <a:srgbClr val="000000"/>
              </a:solidFill>
            </a:endParaRPr>
          </a:p>
          <a:p>
            <a:pPr indent="0" algn="l">
              <a:lnSpc>
                <a:spcPct val="100000"/>
              </a:lnSpc>
            </a:pPr>
            <a:r>
              <a:rPr lang="en-US" sz="1400" b="0" i="0" u="none" strike="noStrike">
                <a:solidFill>
                  <a:srgbClr val="000000"/>
                </a:solidFill>
              </a:rPr>
              <a:t>要实现这个方案，我们规划了四个关键步骤：从基础的数据采集开始，到构建感知反馈，再到实现自动优化闭环，最终迈向更智能的预测性协同。这是一个从无到有、从有到优的完整落地路径。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6" Type="http://schemas.openxmlformats.org/officeDocument/2006/relationships/notesSlide" Target="../notesSlides/notesSlide5.xml"/><Relationship Id="rId15" Type="http://schemas.openxmlformats.org/officeDocument/2006/relationships/slideLayout" Target="../slideLayouts/slideLayout2.xml"/><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1" Type="http://schemas.openxmlformats.org/officeDocument/2006/relationships/notesSlide" Target="../notesSlides/notesSlide6.xml"/><Relationship Id="rId20" Type="http://schemas.openxmlformats.org/officeDocument/2006/relationships/slideLayout" Target="../slideLayouts/slideLayout12.xml"/><Relationship Id="rId2" Type="http://schemas.openxmlformats.org/officeDocument/2006/relationships/image" Target="../media/image12.svg"/><Relationship Id="rId19" Type="http://schemas.openxmlformats.org/officeDocument/2006/relationships/image" Target="../media/image19.png"/><Relationship Id="rId18" Type="http://schemas.openxmlformats.org/officeDocument/2006/relationships/image" Target="../media/image14.svg"/><Relationship Id="rId17" Type="http://schemas.openxmlformats.org/officeDocument/2006/relationships/image" Target="../media/image13.png"/><Relationship Id="rId16" Type="http://schemas.openxmlformats.org/officeDocument/2006/relationships/image" Target="../media/image10.svg"/><Relationship Id="rId15" Type="http://schemas.openxmlformats.org/officeDocument/2006/relationships/image" Target="../media/image9.png"/><Relationship Id="rId14" Type="http://schemas.openxmlformats.org/officeDocument/2006/relationships/image" Target="../media/image8.svg"/><Relationship Id="rId13" Type="http://schemas.openxmlformats.org/officeDocument/2006/relationships/image" Target="../media/image7.png"/><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image" Target="../media/image4.sv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472565"/>
            <a:ext cx="9144000" cy="1813560"/>
          </a:xfrm>
        </p:spPr>
        <p:txBody>
          <a:bodyPr>
            <a:normAutofit fontScale="90000"/>
          </a:bodyPr>
          <a:p>
            <a:r>
              <a:rPr lang="en-US" altLang="zh-CN"/>
              <a:t>Thoughts </a:t>
            </a:r>
            <a:r>
              <a:rPr lang="en-US" altLang="zh-CN"/>
              <a:t>on Agent Policy-aware </a:t>
            </a:r>
            <a:r>
              <a:rPr lang="en-US" altLang="zh-CN"/>
              <a:t>Network</a:t>
            </a:r>
            <a:endParaRPr lang="en-US" altLang="zh-CN"/>
          </a:p>
        </p:txBody>
      </p:sp>
      <p:sp>
        <p:nvSpPr>
          <p:cNvPr id="3" name="副标题 2"/>
          <p:cNvSpPr>
            <a:spLocks noGrp="1"/>
          </p:cNvSpPr>
          <p:nvPr>
            <p:ph type="subTitle" idx="1"/>
          </p:nvPr>
        </p:nvSpPr>
        <p:spPr>
          <a:xfrm>
            <a:off x="1196340" y="4572635"/>
            <a:ext cx="9144000" cy="991235"/>
          </a:xfrm>
        </p:spPr>
        <p:txBody>
          <a:bodyPr/>
          <a:p>
            <a:r>
              <a:rPr lang="en-US" altLang="zh-CN"/>
              <a:t>China </a:t>
            </a:r>
            <a:r>
              <a:rPr lang="en-US" altLang="zh-CN"/>
              <a:t>Mobile</a:t>
            </a:r>
            <a:endParaRPr lang="en-US" altLang="zh-CN"/>
          </a:p>
          <a:p>
            <a:r>
              <a:rPr lang="en-US" altLang="zh-CN"/>
              <a:t>Xiaoqiu </a:t>
            </a:r>
            <a:r>
              <a:rPr lang="en-US" altLang="zh-CN"/>
              <a:t>Zhang</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281420" y="4074160"/>
            <a:ext cx="5582285" cy="1753235"/>
          </a:xfrm>
          <a:prstGeom prst="rect">
            <a:avLst/>
          </a:prstGeom>
          <a:noFill/>
        </p:spPr>
        <p:txBody>
          <a:bodyPr wrap="square" rtlCol="0">
            <a:spAutoFit/>
          </a:bodyPr>
          <a:p>
            <a:pPr>
              <a:lnSpc>
                <a:spcPct val="200000"/>
              </a:lnSpc>
            </a:pPr>
            <a:r>
              <a:rPr lang="en-US" altLang="zh-CN"/>
              <a:t>Flow-aware                          Agent-</a:t>
            </a:r>
            <a:r>
              <a:rPr lang="en-US" altLang="zh-CN"/>
              <a:t>aware</a:t>
            </a:r>
            <a:endParaRPr lang="en-US" altLang="zh-CN"/>
          </a:p>
          <a:p>
            <a:pPr>
              <a:lnSpc>
                <a:spcPct val="200000"/>
              </a:lnSpc>
            </a:pPr>
            <a:r>
              <a:rPr lang="en-US" altLang="zh-CN"/>
              <a:t>QoS-based   </a:t>
            </a:r>
            <a:r>
              <a:rPr lang="en-US" altLang="zh-CN">
                <a:sym typeface="+mn-ea"/>
              </a:rPr>
              <a:t>                        Policy-intent-</a:t>
            </a:r>
            <a:r>
              <a:rPr lang="en-US" altLang="zh-CN">
                <a:sym typeface="+mn-ea"/>
              </a:rPr>
              <a:t>based</a:t>
            </a:r>
            <a:endParaRPr lang="en-US" altLang="zh-CN">
              <a:sym typeface="+mn-ea"/>
            </a:endParaRPr>
          </a:p>
          <a:p>
            <a:pPr>
              <a:lnSpc>
                <a:spcPct val="200000"/>
              </a:lnSpc>
            </a:pPr>
            <a:r>
              <a:rPr lang="en-US" altLang="zh-CN">
                <a:sym typeface="+mn-ea"/>
              </a:rPr>
              <a:t>Network-driven                  Agent-network </a:t>
            </a:r>
            <a:r>
              <a:rPr lang="en-US" altLang="zh-CN">
                <a:sym typeface="+mn-ea"/>
              </a:rPr>
              <a:t>collaboration</a:t>
            </a:r>
            <a:endParaRPr lang="en-US" altLang="zh-CN">
              <a:sym typeface="+mn-ea"/>
            </a:endParaRPr>
          </a:p>
        </p:txBody>
      </p:sp>
      <p:cxnSp>
        <p:nvCxnSpPr>
          <p:cNvPr id="5" name="直接箭头连接符 4"/>
          <p:cNvCxnSpPr/>
          <p:nvPr/>
        </p:nvCxnSpPr>
        <p:spPr>
          <a:xfrm flipV="1">
            <a:off x="8006715" y="4496435"/>
            <a:ext cx="483870" cy="6350"/>
          </a:xfrm>
          <a:prstGeom prst="straightConnector1">
            <a:avLst/>
          </a:prstGeom>
          <a:ln w="31750">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flipV="1">
            <a:off x="8006715" y="5039995"/>
            <a:ext cx="483870" cy="6350"/>
          </a:xfrm>
          <a:prstGeom prst="straightConnector1">
            <a:avLst/>
          </a:prstGeom>
          <a:ln w="31750">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V="1">
            <a:off x="8006715" y="5582920"/>
            <a:ext cx="483870" cy="6350"/>
          </a:xfrm>
          <a:prstGeom prst="straightConnector1">
            <a:avLst/>
          </a:prstGeom>
          <a:ln w="31750">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266700" y="197485"/>
            <a:ext cx="6096000" cy="460375"/>
          </a:xfrm>
          <a:prstGeom prst="rect">
            <a:avLst/>
          </a:prstGeom>
          <a:noFill/>
        </p:spPr>
        <p:txBody>
          <a:bodyPr wrap="square" rtlCol="0" anchor="t">
            <a:spAutoFit/>
          </a:bodyPr>
          <a:p>
            <a:r>
              <a:rPr lang="en-US" altLang="zh-CN" sz="2400" b="1" dirty="0">
                <a:solidFill>
                  <a:srgbClr val="002B60"/>
                </a:solidFill>
                <a:latin typeface="+mj-lt"/>
                <a:ea typeface="Verdana" panose="020B0604030504040204" pitchFamily="34" charset="0"/>
                <a:cs typeface="Calibri Light" panose="020F0302020204030204" pitchFamily="34" charset="0"/>
                <a:sym typeface="+mn-ea"/>
              </a:rPr>
              <a:t>Background &amp; Motivations</a:t>
            </a:r>
            <a:endParaRPr lang="en-US" altLang="zh-CN" sz="2400" b="1" dirty="0">
              <a:solidFill>
                <a:srgbClr val="002B60"/>
              </a:solidFill>
              <a:latin typeface="+mj-lt"/>
              <a:ea typeface="Verdana" panose="020B0604030504040204" pitchFamily="34" charset="0"/>
              <a:cs typeface="Calibri Light" panose="020F0302020204030204" pitchFamily="34" charset="0"/>
              <a:sym typeface="+mn-ea"/>
            </a:endParaRPr>
          </a:p>
        </p:txBody>
      </p:sp>
      <p:sp>
        <p:nvSpPr>
          <p:cNvPr id="10" name="文本框 9"/>
          <p:cNvSpPr txBox="1"/>
          <p:nvPr/>
        </p:nvSpPr>
        <p:spPr>
          <a:xfrm>
            <a:off x="358140" y="749935"/>
            <a:ext cx="11381105" cy="2399665"/>
          </a:xfrm>
          <a:prstGeom prst="rect">
            <a:avLst/>
          </a:prstGeom>
        </p:spPr>
        <p:txBody>
          <a:bodyPr wrap="square">
            <a:spAutoFit/>
          </a:bodyPr>
          <a:p>
            <a:pPr marL="0" indent="0" algn="just" defTabSz="266700">
              <a:lnSpc>
                <a:spcPct val="150000"/>
              </a:lnSpc>
              <a:spcBef>
                <a:spcPct val="0"/>
              </a:spcBef>
              <a:spcAft>
                <a:spcPct val="0"/>
              </a:spcAft>
            </a:pPr>
            <a:r>
              <a:rPr lang="en-US" altLang="zh-CN" sz="2000">
                <a:solidFill>
                  <a:srgbClr val="000000"/>
                </a:solidFill>
                <a:latin typeface="Times New Roman" panose="02020603050405020304"/>
                <a:ea typeface="宋体" panose="02010600030101010101" pitchFamily="2" charset="-122"/>
              </a:rPr>
              <a:t>AI Agents are widely used in many industries and different from traditonal applications, raising new deamnds for network. Howerver, traditional network architectures can no longer meet the demand for efficient collaboration between Agents and networks. </a:t>
            </a:r>
            <a:endParaRPr lang="en-US" altLang="zh-CN" sz="2000">
              <a:solidFill>
                <a:srgbClr val="000000"/>
              </a:solidFill>
              <a:latin typeface="Times New Roman" panose="02020603050405020304"/>
              <a:ea typeface="宋体" panose="02010600030101010101" pitchFamily="2" charset="-122"/>
            </a:endParaRPr>
          </a:p>
          <a:p>
            <a:pPr marL="0" indent="0" algn="just" defTabSz="266700">
              <a:lnSpc>
                <a:spcPct val="150000"/>
              </a:lnSpc>
              <a:spcBef>
                <a:spcPct val="0"/>
              </a:spcBef>
              <a:spcAft>
                <a:spcPct val="0"/>
              </a:spcAft>
            </a:pPr>
            <a:r>
              <a:rPr lang="en-US" altLang="zh-CN" sz="2000">
                <a:solidFill>
                  <a:srgbClr val="000000"/>
                </a:solidFill>
                <a:latin typeface="Times New Roman" panose="02020603050405020304"/>
                <a:ea typeface="宋体" panose="02010600030101010101" pitchFamily="2" charset="-122"/>
              </a:rPr>
              <a:t>Current network deliver differentiated quality of service guarantees primarily based on traditional QoS mechanisms, but fail to understand the intents and requirements of AI Agents. </a:t>
            </a:r>
            <a:endParaRPr lang="en-US" altLang="zh-CN" sz="2000">
              <a:solidFill>
                <a:srgbClr val="000000"/>
              </a:solidFill>
              <a:latin typeface="Times New Roman" panose="02020603050405020304"/>
              <a:ea typeface="宋体" panose="02010600030101010101" pitchFamily="2" charset="-122"/>
            </a:endParaRPr>
          </a:p>
        </p:txBody>
      </p:sp>
      <p:sp>
        <p:nvSpPr>
          <p:cNvPr id="11" name="文本框 10"/>
          <p:cNvSpPr txBox="1"/>
          <p:nvPr/>
        </p:nvSpPr>
        <p:spPr>
          <a:xfrm>
            <a:off x="387985" y="3413443"/>
            <a:ext cx="5080000" cy="2861310"/>
          </a:xfrm>
          <a:prstGeom prst="rect">
            <a:avLst/>
          </a:prstGeom>
        </p:spPr>
        <p:txBody>
          <a:bodyPr>
            <a:spAutoFit/>
          </a:bodyPr>
          <a:p>
            <a:pPr marL="0" algn="just" defTabSz="266700">
              <a:lnSpc>
                <a:spcPct val="200000"/>
              </a:lnSpc>
              <a:buClrTx/>
              <a:buSzTx/>
              <a:buFontTx/>
            </a:pPr>
            <a:r>
              <a:rPr lang="en-US" altLang="zh-CN" b="1">
                <a:solidFill>
                  <a:srgbClr val="000000"/>
                </a:solidFill>
                <a:latin typeface="Times New Roman" panose="02020603050405020304" charset="0"/>
                <a:ea typeface="宋体" panose="02010600030101010101" pitchFamily="2" charset="-122"/>
                <a:cs typeface="Times New Roman" panose="02020603050405020304" charset="0"/>
              </a:rPr>
              <a:t>Challenges</a:t>
            </a:r>
            <a:r>
              <a:rPr lang="zh-CN" altLang="en-US" b="1">
                <a:solidFill>
                  <a:srgbClr val="000000"/>
                </a:solidFill>
                <a:latin typeface="Times New Roman" panose="02020603050405020304" charset="0"/>
                <a:ea typeface="宋体" panose="02010600030101010101" pitchFamily="2" charset="-122"/>
                <a:cs typeface="Times New Roman" panose="02020603050405020304" charset="0"/>
              </a:rPr>
              <a:t>：</a:t>
            </a:r>
            <a:endParaRPr lang="en-US" altLang="zh-CN" b="1">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Lack of intent expression</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Insufficient collaborative decision-making</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difficult to achieve end-to-end SLA assurance</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a:p>
            <a:pPr marL="285750" indent="-285750" algn="just" defTabSz="266700">
              <a:lnSpc>
                <a:spcPct val="200000"/>
              </a:lnSpc>
              <a:spcBef>
                <a:spcPct val="0"/>
              </a:spcBef>
              <a:spcAft>
                <a:spcPct val="0"/>
              </a:spcAft>
              <a:buFont typeface="Arial" panose="020B0604020202020204" pitchFamily="34" charset="0"/>
              <a:buChar char="•"/>
            </a:pPr>
            <a:r>
              <a:rPr lang="en-US" altLang="zh-CN">
                <a:solidFill>
                  <a:srgbClr val="000000"/>
                </a:solidFill>
                <a:latin typeface="Times New Roman" panose="02020603050405020304" charset="0"/>
                <a:ea typeface="宋体" panose="02010600030101010101" pitchFamily="2" charset="-122"/>
                <a:cs typeface="Times New Roman" panose="02020603050405020304" charset="0"/>
              </a:rPr>
              <a:t>Inflexible security mechanisms</a:t>
            </a:r>
            <a:endParaRPr lang="en-US" altLang="zh-CN">
              <a:solidFill>
                <a:srgbClr val="000000"/>
              </a:solidFill>
              <a:latin typeface="Times New Roman" panose="02020603050405020304" charset="0"/>
              <a:ea typeface="宋体" panose="02010600030101010101" pitchFamily="2" charset="-122"/>
              <a:cs typeface="Times New Roman" panose="02020603050405020304" charset="0"/>
            </a:endParaRPr>
          </a:p>
        </p:txBody>
      </p:sp>
      <p:sp>
        <p:nvSpPr>
          <p:cNvPr id="13" name="文本框 12"/>
          <p:cNvSpPr txBox="1"/>
          <p:nvPr/>
        </p:nvSpPr>
        <p:spPr>
          <a:xfrm>
            <a:off x="6292850" y="3618865"/>
            <a:ext cx="4064000" cy="368300"/>
          </a:xfrm>
          <a:prstGeom prst="rect">
            <a:avLst/>
          </a:prstGeom>
          <a:noFill/>
        </p:spPr>
        <p:txBody>
          <a:bodyPr wrap="square" rtlCol="0">
            <a:spAutoFit/>
          </a:bodyPr>
          <a:p>
            <a:r>
              <a:rPr lang="en-US" altLang="zh-CN" b="1">
                <a:latin typeface="Times New Roman" panose="02020603050405020304" charset="0"/>
                <a:cs typeface="Times New Roman" panose="02020603050405020304" charset="0"/>
              </a:rPr>
              <a:t>Key Transformations:</a:t>
            </a:r>
            <a:endParaRPr lang="zh-CN" altLang="en-US" b="1">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b="1">
                <a:solidFill>
                  <a:srgbClr val="000000"/>
                </a:solidFill>
                <a:latin typeface="Times New Roman" panose="02020603050405020304"/>
                <a:ea typeface="宋体" panose="02010600030101010101" pitchFamily="2" charset="-122"/>
              </a:rPr>
              <a:t> </a:t>
            </a:r>
            <a:r>
              <a:rPr lang="en-US" altLang="zh-CN" sz="2400" b="1" dirty="0">
                <a:solidFill>
                  <a:srgbClr val="002B60"/>
                </a:solidFill>
                <a:latin typeface="+mj-lt"/>
                <a:ea typeface="Verdana" panose="020B0604030504040204" pitchFamily="34" charset="0"/>
                <a:cs typeface="Calibri Light" panose="020F0302020204030204" pitchFamily="34" charset="0"/>
              </a:rPr>
              <a:t>New Paradigm of "AI Agent Policy-Aware Network"</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29" name="文本框 28"/>
          <p:cNvSpPr txBox="1"/>
          <p:nvPr/>
        </p:nvSpPr>
        <p:spPr>
          <a:xfrm>
            <a:off x="237490" y="695325"/>
            <a:ext cx="11676380" cy="1751330"/>
          </a:xfrm>
          <a:prstGeom prst="rect">
            <a:avLst/>
          </a:prstGeom>
        </p:spPr>
        <p:txBody>
          <a:bodyPr wrap="square">
            <a:noAutofit/>
          </a:bodyPr>
          <a:p>
            <a:pPr marL="0" indent="0" algn="just" defTabSz="266700">
              <a:spcBef>
                <a:spcPct val="0"/>
              </a:spcBef>
              <a:spcAft>
                <a:spcPct val="0"/>
              </a:spcAft>
            </a:pPr>
            <a:r>
              <a:rPr lang="en-US" altLang="zh-CN">
                <a:solidFill>
                  <a:srgbClr val="000000"/>
                </a:solidFill>
                <a:latin typeface="Times New Roman" panose="02020603050405020304"/>
                <a:ea typeface="宋体" panose="02010600030101010101" pitchFamily="2" charset="-122"/>
              </a:rPr>
              <a:t>AI Agents need to act as network users and schedulers, better expressing their intents and requirements for network guarantees. It proactively perceives network quality, discovers network services, and guarantees service quality based on performance and cost, autonomously selecting corresponding network paths or egress nodes.</a:t>
            </a:r>
            <a:endParaRPr lang="en-US" altLang="zh-CN">
              <a:solidFill>
                <a:srgbClr val="000000"/>
              </a:solidFill>
              <a:latin typeface="Times New Roman" panose="02020603050405020304"/>
              <a:ea typeface="宋体" panose="02010600030101010101" pitchFamily="2" charset="-122"/>
            </a:endParaRPr>
          </a:p>
          <a:p>
            <a:pPr indent="0" algn="just" defTabSz="266700" fontAlgn="auto">
              <a:spcBef>
                <a:spcPts val="600"/>
              </a:spcBef>
              <a:spcAft>
                <a:spcPct val="0"/>
              </a:spcAft>
            </a:pPr>
            <a:r>
              <a:rPr lang="en-US" altLang="zh-CN">
                <a:solidFill>
                  <a:srgbClr val="000000"/>
                </a:solidFill>
                <a:latin typeface="Times New Roman" panose="02020603050405020304"/>
                <a:ea typeface="宋体" panose="02010600030101010101" pitchFamily="2" charset="-122"/>
              </a:rPr>
              <a:t>Networks need to identify, understand, and execute the intents and policies of AI Agents, enabling collaborative decision-making between Agents and networks, end-to-end SLA assurance, and secure transmission.</a:t>
            </a:r>
            <a:endParaRPr lang="en-US" altLang="zh-CN">
              <a:solidFill>
                <a:srgbClr val="000000"/>
              </a:solidFill>
              <a:latin typeface="Times New Roman" panose="02020603050405020304"/>
              <a:ea typeface="宋体" panose="02010600030101010101" pitchFamily="2" charset="-122"/>
            </a:endParaRPr>
          </a:p>
        </p:txBody>
      </p:sp>
      <p:sp>
        <p:nvSpPr>
          <p:cNvPr id="38" name="文本框 37"/>
          <p:cNvSpPr txBox="1"/>
          <p:nvPr/>
        </p:nvSpPr>
        <p:spPr>
          <a:xfrm>
            <a:off x="549910" y="6147435"/>
            <a:ext cx="5220000" cy="368300"/>
          </a:xfrm>
          <a:prstGeom prst="rect">
            <a:avLst/>
          </a:prstGeom>
          <a:solidFill>
            <a:schemeClr val="tx2">
              <a:lumMod val="20000"/>
              <a:lumOff val="80000"/>
            </a:schemeClr>
          </a:solidFill>
        </p:spPr>
        <p:txBody>
          <a:bodyPr wrap="square" rtlCol="0">
            <a:spAutoFit/>
          </a:bodyPr>
          <a:p>
            <a:r>
              <a:rPr lang="en-US" altLang="zh-CN"/>
              <a:t>3.  </a:t>
            </a:r>
            <a:r>
              <a:rPr lang="en-US" altLang="zh-CN">
                <a:sym typeface="+mn-ea"/>
              </a:rPr>
              <a:t>Agent </a:t>
            </a:r>
            <a:r>
              <a:rPr lang="en-US" altLang="zh-CN">
                <a:sym typeface="+mn-ea"/>
              </a:rPr>
              <a:t>Policy-aware</a:t>
            </a:r>
            <a:r>
              <a:rPr lang="en-US" altLang="zh-CN"/>
              <a:t> SLA Level Assurance</a:t>
            </a:r>
            <a:endParaRPr lang="en-US" altLang="zh-CN"/>
          </a:p>
        </p:txBody>
      </p:sp>
      <p:sp>
        <p:nvSpPr>
          <p:cNvPr id="39" name="文本框 38"/>
          <p:cNvSpPr txBox="1"/>
          <p:nvPr/>
        </p:nvSpPr>
        <p:spPr>
          <a:xfrm>
            <a:off x="6256655" y="6147435"/>
            <a:ext cx="5220000" cy="368300"/>
          </a:xfrm>
          <a:prstGeom prst="rect">
            <a:avLst/>
          </a:prstGeom>
          <a:solidFill>
            <a:schemeClr val="tx2">
              <a:lumMod val="20000"/>
              <a:lumOff val="80000"/>
            </a:schemeClr>
          </a:solidFill>
        </p:spPr>
        <p:txBody>
          <a:bodyPr wrap="square" rtlCol="0">
            <a:spAutoFit/>
          </a:bodyPr>
          <a:p>
            <a:r>
              <a:rPr lang="en-US" altLang="zh-CN"/>
              <a:t>4.  </a:t>
            </a:r>
            <a:r>
              <a:rPr lang="en-US" altLang="zh-CN">
                <a:sym typeface="+mn-ea"/>
              </a:rPr>
              <a:t>Agent </a:t>
            </a:r>
            <a:r>
              <a:rPr lang="en-US" altLang="zh-CN">
                <a:sym typeface="+mn-ea"/>
              </a:rPr>
              <a:t>Policy</a:t>
            </a:r>
            <a:r>
              <a:rPr lang="en-US" altLang="zh-CN">
                <a:sym typeface="+mn-ea"/>
              </a:rPr>
              <a:t>-aware</a:t>
            </a:r>
            <a:r>
              <a:rPr lang="en-US" altLang="zh-CN"/>
              <a:t> Secure Transmission</a:t>
            </a:r>
            <a:endParaRPr lang="en-US" altLang="zh-CN"/>
          </a:p>
        </p:txBody>
      </p:sp>
      <p:sp>
        <p:nvSpPr>
          <p:cNvPr id="36" name="文本框 35"/>
          <p:cNvSpPr txBox="1"/>
          <p:nvPr/>
        </p:nvSpPr>
        <p:spPr>
          <a:xfrm>
            <a:off x="545465" y="5664835"/>
            <a:ext cx="5219700" cy="368300"/>
          </a:xfrm>
          <a:prstGeom prst="rect">
            <a:avLst/>
          </a:prstGeom>
          <a:solidFill>
            <a:schemeClr val="tx2">
              <a:lumMod val="20000"/>
              <a:lumOff val="80000"/>
            </a:schemeClr>
          </a:solidFill>
        </p:spPr>
        <p:txBody>
          <a:bodyPr wrap="square" rtlCol="0">
            <a:spAutoFit/>
          </a:bodyPr>
          <a:p>
            <a:r>
              <a:rPr lang="en-US" altLang="zh-CN"/>
              <a:t>1.  Agent </a:t>
            </a:r>
            <a:r>
              <a:rPr lang="en-US" altLang="zh-CN"/>
              <a:t>Policy-</a:t>
            </a:r>
            <a:r>
              <a:rPr lang="en-US" altLang="zh-CN"/>
              <a:t>aware Performance Measurement</a:t>
            </a:r>
            <a:endParaRPr lang="zh-CN" altLang="en-US"/>
          </a:p>
        </p:txBody>
      </p:sp>
      <p:sp>
        <p:nvSpPr>
          <p:cNvPr id="37" name="文本框 36"/>
          <p:cNvSpPr txBox="1"/>
          <p:nvPr/>
        </p:nvSpPr>
        <p:spPr>
          <a:xfrm>
            <a:off x="6257290" y="5664835"/>
            <a:ext cx="5219700" cy="368300"/>
          </a:xfrm>
          <a:prstGeom prst="rect">
            <a:avLst/>
          </a:prstGeom>
          <a:solidFill>
            <a:schemeClr val="tx2">
              <a:lumMod val="20000"/>
              <a:lumOff val="80000"/>
            </a:schemeClr>
          </a:solidFill>
        </p:spPr>
        <p:txBody>
          <a:bodyPr wrap="square" rtlCol="0">
            <a:spAutoFit/>
          </a:bodyPr>
          <a:p>
            <a:r>
              <a:rPr lang="en-US" altLang="zh-CN"/>
              <a:t>2.  </a:t>
            </a:r>
            <a:r>
              <a:rPr lang="en-US" altLang="zh-CN">
                <a:sym typeface="+mn-ea"/>
              </a:rPr>
              <a:t>Agent </a:t>
            </a:r>
            <a:r>
              <a:rPr lang="en-US" altLang="zh-CN">
                <a:sym typeface="+mn-ea"/>
              </a:rPr>
              <a:t>Policy-aware</a:t>
            </a:r>
            <a:r>
              <a:rPr lang="en-US" altLang="zh-CN"/>
              <a:t> Path Optimization</a:t>
            </a:r>
            <a:endParaRPr lang="en-US" altLang="zh-CN"/>
          </a:p>
        </p:txBody>
      </p:sp>
      <p:grpSp>
        <p:nvGrpSpPr>
          <p:cNvPr id="3" name="组合 2"/>
          <p:cNvGrpSpPr/>
          <p:nvPr/>
        </p:nvGrpSpPr>
        <p:grpSpPr>
          <a:xfrm>
            <a:off x="855980" y="2380615"/>
            <a:ext cx="9568180" cy="3178810"/>
            <a:chOff x="1348" y="3290"/>
            <a:chExt cx="15068" cy="5006"/>
          </a:xfrm>
        </p:grpSpPr>
        <p:sp>
          <p:nvSpPr>
            <p:cNvPr id="5" name="矩形 4"/>
            <p:cNvSpPr/>
            <p:nvPr/>
          </p:nvSpPr>
          <p:spPr>
            <a:xfrm>
              <a:off x="7496" y="3290"/>
              <a:ext cx="5292" cy="1137"/>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p>
              <a:pPr algn="ctr"/>
              <a:r>
                <a:rPr lang="en-US" altLang="zh-CN">
                  <a:solidFill>
                    <a:schemeClr val="tx1"/>
                  </a:solidFill>
                </a:rPr>
                <a:t>Agent policy-aware </a:t>
              </a:r>
              <a:r>
                <a:rPr lang="en-US" altLang="zh-CN">
                  <a:solidFill>
                    <a:schemeClr val="tx1"/>
                  </a:solidFill>
                </a:rPr>
                <a:t>controller</a:t>
              </a:r>
              <a:endParaRPr lang="en-US" altLang="zh-CN">
                <a:solidFill>
                  <a:schemeClr val="tx1"/>
                </a:solidFill>
              </a:endParaRPr>
            </a:p>
          </p:txBody>
        </p:sp>
        <p:sp>
          <p:nvSpPr>
            <p:cNvPr id="6" name="矩形 5"/>
            <p:cNvSpPr/>
            <p:nvPr/>
          </p:nvSpPr>
          <p:spPr>
            <a:xfrm>
              <a:off x="1348" y="5655"/>
              <a:ext cx="257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7" name="流程图: 磁盘 6"/>
            <p:cNvSpPr/>
            <p:nvPr/>
          </p:nvSpPr>
          <p:spPr>
            <a:xfrm>
              <a:off x="5916" y="5429"/>
              <a:ext cx="2046" cy="11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a:solidFill>
                  <a:schemeClr val="tx1"/>
                </a:solidFill>
              </a:endParaRPr>
            </a:p>
          </p:txBody>
        </p:sp>
        <p:sp>
          <p:nvSpPr>
            <p:cNvPr id="8" name="流程图: 磁盘 7"/>
            <p:cNvSpPr/>
            <p:nvPr/>
          </p:nvSpPr>
          <p:spPr>
            <a:xfrm>
              <a:off x="12208" y="5429"/>
              <a:ext cx="140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600">
                  <a:solidFill>
                    <a:schemeClr val="tx1"/>
                  </a:solidFill>
                  <a:sym typeface="+mn-ea"/>
                </a:rPr>
                <a:t>APA Device</a:t>
              </a:r>
              <a:endParaRPr lang="en-US" altLang="zh-CN" sz="1600">
                <a:solidFill>
                  <a:schemeClr val="tx1"/>
                </a:solidFill>
                <a:sym typeface="+mn-ea"/>
              </a:endParaRPr>
            </a:p>
          </p:txBody>
        </p:sp>
        <p:cxnSp>
          <p:nvCxnSpPr>
            <p:cNvPr id="10" name="直接连接符 9"/>
            <p:cNvCxnSpPr/>
            <p:nvPr/>
          </p:nvCxnSpPr>
          <p:spPr>
            <a:xfrm flipV="1">
              <a:off x="3918" y="6053"/>
              <a:ext cx="1998" cy="13"/>
            </a:xfrm>
            <a:prstGeom prst="line">
              <a:avLst/>
            </a:prstGeom>
            <a:ln>
              <a:prstDash val="sysDot"/>
              <a:headEnd type="none"/>
              <a:tailEnd type="triangle"/>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5814" y="5391"/>
              <a:ext cx="2249" cy="454"/>
            </a:xfrm>
            <a:prstGeom prst="rect">
              <a:avLst/>
            </a:prstGeom>
            <a:noFill/>
          </p:spPr>
          <p:txBody>
            <a:bodyPr wrap="square" rtlCol="0" anchor="t">
              <a:spAutoFit/>
            </a:bodyPr>
            <a:p>
              <a:pPr indent="0" algn="ctr" fontAlgn="auto">
                <a:lnSpc>
                  <a:spcPct val="80000"/>
                </a:lnSpc>
              </a:pPr>
              <a:r>
                <a:rPr lang="en-US" altLang="zh-CN" sz="1600">
                  <a:sym typeface="+mn-ea"/>
                </a:rPr>
                <a:t>APA Device</a:t>
              </a:r>
              <a:endParaRPr lang="en-US" altLang="zh-CN" sz="1600">
                <a:sym typeface="+mn-ea"/>
              </a:endParaRPr>
            </a:p>
          </p:txBody>
        </p:sp>
        <p:sp>
          <p:nvSpPr>
            <p:cNvPr id="12" name="矩形 11"/>
            <p:cNvSpPr/>
            <p:nvPr/>
          </p:nvSpPr>
          <p:spPr>
            <a:xfrm>
              <a:off x="6051" y="5900"/>
              <a:ext cx="1809" cy="410"/>
            </a:xfrm>
            <a:prstGeom prst="rect">
              <a:avLst/>
            </a:prstGeom>
            <a:noFill/>
            <a:ln w="15875">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sym typeface="+mn-ea"/>
                </a:rPr>
                <a:t>Net agent</a:t>
              </a:r>
              <a:endParaRPr lang="en-US" altLang="zh-CN" sz="1600">
                <a:solidFill>
                  <a:schemeClr val="tx1"/>
                </a:solidFill>
              </a:endParaRPr>
            </a:p>
          </p:txBody>
        </p:sp>
        <p:sp>
          <p:nvSpPr>
            <p:cNvPr id="13" name="流程图: 磁盘 12"/>
            <p:cNvSpPr/>
            <p:nvPr/>
          </p:nvSpPr>
          <p:spPr>
            <a:xfrm>
              <a:off x="12235" y="7390"/>
              <a:ext cx="140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600">
                  <a:solidFill>
                    <a:schemeClr val="tx1"/>
                  </a:solidFill>
                  <a:sym typeface="+mn-ea"/>
                </a:rPr>
                <a:t>APA Device</a:t>
              </a:r>
              <a:endParaRPr lang="en-US" altLang="zh-CN" sz="1600">
                <a:solidFill>
                  <a:schemeClr val="tx1"/>
                </a:solidFill>
                <a:sym typeface="+mn-ea"/>
              </a:endParaRPr>
            </a:p>
          </p:txBody>
        </p:sp>
        <p:sp>
          <p:nvSpPr>
            <p:cNvPr id="14" name="流程图: 磁盘 13"/>
            <p:cNvSpPr/>
            <p:nvPr/>
          </p:nvSpPr>
          <p:spPr>
            <a:xfrm>
              <a:off x="6226" y="7390"/>
              <a:ext cx="140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600">
                  <a:solidFill>
                    <a:schemeClr val="tx1"/>
                  </a:solidFill>
                  <a:sym typeface="+mn-ea"/>
                </a:rPr>
                <a:t>APA Device</a:t>
              </a:r>
              <a:endParaRPr lang="en-US" altLang="zh-CN" sz="1600">
                <a:solidFill>
                  <a:schemeClr val="tx1"/>
                </a:solidFill>
                <a:sym typeface="+mn-ea"/>
              </a:endParaRPr>
            </a:p>
          </p:txBody>
        </p:sp>
        <p:sp>
          <p:nvSpPr>
            <p:cNvPr id="15" name="椭圆 14"/>
            <p:cNvSpPr/>
            <p:nvPr/>
          </p:nvSpPr>
          <p:spPr>
            <a:xfrm>
              <a:off x="7374" y="5877"/>
              <a:ext cx="5556" cy="2207"/>
            </a:xfrm>
            <a:prstGeom prst="ellipse">
              <a:avLst/>
            </a:prstGeom>
            <a:solidFill>
              <a:schemeClr val="bg2">
                <a:alpha val="77000"/>
              </a:schemeClr>
            </a:solidFill>
            <a:ln w="0" cmpd="dbl">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连接符 15"/>
            <p:cNvCxnSpPr>
              <a:endCxn id="8" idx="2"/>
            </p:cNvCxnSpPr>
            <p:nvPr/>
          </p:nvCxnSpPr>
          <p:spPr>
            <a:xfrm flipV="1">
              <a:off x="8015" y="5883"/>
              <a:ext cx="4193" cy="68"/>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14" idx="4"/>
              <a:endCxn id="13" idx="2"/>
            </p:cNvCxnSpPr>
            <p:nvPr/>
          </p:nvCxnSpPr>
          <p:spPr>
            <a:xfrm>
              <a:off x="7631" y="7844"/>
              <a:ext cx="4604" cy="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7" idx="3"/>
              <a:endCxn id="14" idx="1"/>
            </p:cNvCxnSpPr>
            <p:nvPr/>
          </p:nvCxnSpPr>
          <p:spPr>
            <a:xfrm flipH="1">
              <a:off x="6929" y="6536"/>
              <a:ext cx="10" cy="8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8" idx="3"/>
              <a:endCxn id="13" idx="1"/>
            </p:cNvCxnSpPr>
            <p:nvPr/>
          </p:nvCxnSpPr>
          <p:spPr>
            <a:xfrm>
              <a:off x="12911" y="6336"/>
              <a:ext cx="27" cy="10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0" name="直接连接符 19"/>
            <p:cNvCxnSpPr>
              <a:stCxn id="12" idx="3"/>
            </p:cNvCxnSpPr>
            <p:nvPr/>
          </p:nvCxnSpPr>
          <p:spPr>
            <a:xfrm>
              <a:off x="7860" y="6105"/>
              <a:ext cx="4350" cy="1726"/>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H="1">
              <a:off x="7673" y="6016"/>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flipV="1">
              <a:off x="3918" y="3809"/>
              <a:ext cx="3578" cy="2077"/>
            </a:xfrm>
            <a:prstGeom prst="line">
              <a:avLst/>
            </a:prstGeom>
            <a:ln>
              <a:prstDash val="sysDot"/>
              <a:headEnd type="none"/>
              <a:tailEnd type="triangle"/>
            </a:ln>
          </p:spPr>
          <p:style>
            <a:lnRef idx="2">
              <a:schemeClr val="accent1"/>
            </a:lnRef>
            <a:fillRef idx="0">
              <a:srgbClr val="FFFFFF"/>
            </a:fillRef>
            <a:effectRef idx="0">
              <a:srgbClr val="FFFFFF"/>
            </a:effectRef>
            <a:fontRef idx="minor">
              <a:schemeClr val="tx1"/>
            </a:fontRef>
          </p:style>
        </p:cxnSp>
        <p:cxnSp>
          <p:nvCxnSpPr>
            <p:cNvPr id="23" name="直接连接符 22"/>
            <p:cNvCxnSpPr>
              <a:stCxn id="11" idx="0"/>
              <a:endCxn id="5" idx="2"/>
            </p:cNvCxnSpPr>
            <p:nvPr/>
          </p:nvCxnSpPr>
          <p:spPr>
            <a:xfrm flipV="1">
              <a:off x="6939" y="4427"/>
              <a:ext cx="3203" cy="964"/>
            </a:xfrm>
            <a:prstGeom prst="line">
              <a:avLst/>
            </a:prstGeom>
            <a:ln>
              <a:solidFill>
                <a:schemeClr val="tx1">
                  <a:lumMod val="50000"/>
                  <a:lumOff val="50000"/>
                </a:schemeClr>
              </a:solidFill>
              <a:prstDash val="sysDot"/>
              <a:headEnd type="triangle"/>
              <a:tailEnd type="none"/>
            </a:ln>
          </p:spPr>
          <p:style>
            <a:lnRef idx="2">
              <a:schemeClr val="accent1"/>
            </a:lnRef>
            <a:fillRef idx="0">
              <a:srgbClr val="FFFFFF"/>
            </a:fillRef>
            <a:effectRef idx="0">
              <a:srgbClr val="FFFFFF"/>
            </a:effectRef>
            <a:fontRef idx="minor">
              <a:schemeClr val="tx1"/>
            </a:fontRef>
          </p:style>
        </p:cxnSp>
        <p:cxnSp>
          <p:nvCxnSpPr>
            <p:cNvPr id="24" name="直接连接符 23"/>
            <p:cNvCxnSpPr>
              <a:stCxn id="8" idx="1"/>
            </p:cNvCxnSpPr>
            <p:nvPr/>
          </p:nvCxnSpPr>
          <p:spPr>
            <a:xfrm flipH="1" flipV="1">
              <a:off x="10111" y="4403"/>
              <a:ext cx="2800" cy="1026"/>
            </a:xfrm>
            <a:prstGeom prst="line">
              <a:avLst/>
            </a:prstGeom>
            <a:ln>
              <a:solidFill>
                <a:schemeClr val="tx1">
                  <a:lumMod val="50000"/>
                  <a:lumOff val="50000"/>
                </a:schemeClr>
              </a:solidFill>
              <a:prstDash val="sysDot"/>
              <a:headEnd type="triangle"/>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rot="19800000">
              <a:off x="4545" y="4049"/>
              <a:ext cx="3034"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Global  intent</a:t>
              </a:r>
              <a:endParaRPr lang="en-US" altLang="zh-CN" sz="1400">
                <a:solidFill>
                  <a:schemeClr val="tx1"/>
                </a:solidFill>
                <a:latin typeface="Times New Roman" panose="02020603050405020304" charset="0"/>
                <a:cs typeface="Times New Roman" panose="02020603050405020304" charset="0"/>
              </a:endParaRPr>
            </a:p>
          </p:txBody>
        </p:sp>
        <p:sp>
          <p:nvSpPr>
            <p:cNvPr id="28" name="文本框 27"/>
            <p:cNvSpPr txBox="1"/>
            <p:nvPr/>
          </p:nvSpPr>
          <p:spPr>
            <a:xfrm>
              <a:off x="4133" y="5645"/>
              <a:ext cx="1782" cy="461"/>
            </a:xfrm>
            <a:prstGeom prst="rect">
              <a:avLst/>
            </a:prstGeom>
            <a:noFill/>
          </p:spPr>
          <p:txBody>
            <a:bodyPr wrap="square" rtlCol="0">
              <a:noAutofit/>
            </a:bodyPr>
            <a:p>
              <a:r>
                <a:rPr lang="en-US" altLang="zh-CN" sz="1400">
                  <a:solidFill>
                    <a:schemeClr val="tx1"/>
                  </a:solidFill>
                  <a:latin typeface="Times New Roman" panose="02020603050405020304" charset="0"/>
                  <a:cs typeface="Times New Roman" panose="02020603050405020304" charset="0"/>
                </a:rPr>
                <a:t>Local intent</a:t>
              </a:r>
              <a:endParaRPr lang="en-US" altLang="zh-CN" sz="1400">
                <a:solidFill>
                  <a:schemeClr val="tx1"/>
                </a:solidFill>
                <a:latin typeface="Times New Roman" panose="02020603050405020304" charset="0"/>
                <a:cs typeface="Times New Roman" panose="02020603050405020304" charset="0"/>
              </a:endParaRPr>
            </a:p>
          </p:txBody>
        </p:sp>
        <p:sp>
          <p:nvSpPr>
            <p:cNvPr id="30" name="文本框 29"/>
            <p:cNvSpPr txBox="1"/>
            <p:nvPr/>
          </p:nvSpPr>
          <p:spPr>
            <a:xfrm>
              <a:off x="8984" y="6694"/>
              <a:ext cx="2317" cy="580"/>
            </a:xfrm>
            <a:prstGeom prst="rect">
              <a:avLst/>
            </a:prstGeom>
            <a:noFill/>
          </p:spPr>
          <p:txBody>
            <a:bodyPr wrap="square" rtlCol="0">
              <a:spAutoFit/>
            </a:bodyPr>
            <a:p>
              <a:r>
                <a:rPr lang="en-US" altLang="zh-CN">
                  <a:solidFill>
                    <a:schemeClr val="bg2">
                      <a:lumMod val="25000"/>
                    </a:schemeClr>
                  </a:solidFill>
                </a:rPr>
                <a:t>APA Netwrok</a:t>
              </a:r>
              <a:endParaRPr lang="en-US" altLang="zh-CN">
                <a:solidFill>
                  <a:schemeClr val="bg2">
                    <a:lumMod val="25000"/>
                  </a:schemeClr>
                </a:solidFill>
              </a:endParaRPr>
            </a:p>
          </p:txBody>
        </p:sp>
        <p:sp>
          <p:nvSpPr>
            <p:cNvPr id="31" name="文本框 30"/>
            <p:cNvSpPr txBox="1"/>
            <p:nvPr/>
          </p:nvSpPr>
          <p:spPr>
            <a:xfrm rot="19860000">
              <a:off x="5172" y="4577"/>
              <a:ext cx="2663"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Complicate policy</a:t>
              </a:r>
              <a:endParaRPr lang="en-US" altLang="zh-CN" sz="1400">
                <a:solidFill>
                  <a:schemeClr val="tx1"/>
                </a:solidFill>
                <a:latin typeface="Times New Roman" panose="02020603050405020304" charset="0"/>
                <a:cs typeface="Times New Roman" panose="02020603050405020304" charset="0"/>
              </a:endParaRPr>
            </a:p>
          </p:txBody>
        </p:sp>
        <p:sp>
          <p:nvSpPr>
            <p:cNvPr id="33" name="文本框 32"/>
            <p:cNvSpPr txBox="1"/>
            <p:nvPr/>
          </p:nvSpPr>
          <p:spPr>
            <a:xfrm>
              <a:off x="3908" y="6203"/>
              <a:ext cx="2243"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Real-time policy</a:t>
              </a:r>
              <a:endParaRPr lang="en-US" altLang="zh-CN" sz="1400">
                <a:solidFill>
                  <a:schemeClr val="tx1"/>
                </a:solidFill>
                <a:latin typeface="Times New Roman" panose="02020603050405020304" charset="0"/>
                <a:cs typeface="Times New Roman" panose="02020603050405020304" charset="0"/>
              </a:endParaRPr>
            </a:p>
          </p:txBody>
        </p:sp>
        <p:cxnSp>
          <p:nvCxnSpPr>
            <p:cNvPr id="40" name="直接连接符 39"/>
            <p:cNvCxnSpPr/>
            <p:nvPr/>
          </p:nvCxnSpPr>
          <p:spPr>
            <a:xfrm flipV="1">
              <a:off x="3916" y="6183"/>
              <a:ext cx="1998" cy="13"/>
            </a:xfrm>
            <a:prstGeom prst="line">
              <a:avLst/>
            </a:prstGeom>
            <a:ln>
              <a:prstDash val="sysDot"/>
              <a:headEnd type="triangle"/>
              <a:tailEnd type="none"/>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flipV="1">
              <a:off x="3958" y="3980"/>
              <a:ext cx="3578" cy="2077"/>
            </a:xfrm>
            <a:prstGeom prst="line">
              <a:avLst/>
            </a:prstGeom>
            <a:ln>
              <a:prstDash val="sysDot"/>
              <a:headEnd type="triangle"/>
              <a:tailEnd type="none"/>
            </a:ln>
          </p:spPr>
          <p:style>
            <a:lnRef idx="2">
              <a:schemeClr val="accent1"/>
            </a:lnRef>
            <a:fillRef idx="0">
              <a:srgbClr val="FFFFFF"/>
            </a:fillRef>
            <a:effectRef idx="0">
              <a:srgbClr val="FFFFFF"/>
            </a:effectRef>
            <a:fontRef idx="minor">
              <a:schemeClr val="tx1"/>
            </a:fontRef>
          </p:style>
        </p:cxnSp>
        <p:sp>
          <p:nvSpPr>
            <p:cNvPr id="240" name="Freeform 6"/>
            <p:cNvSpPr/>
            <p:nvPr/>
          </p:nvSpPr>
          <p:spPr bwMode="auto">
            <a:xfrm>
              <a:off x="14740" y="5969"/>
              <a:ext cx="1677" cy="951"/>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1" fmla="*/ 8448 w 10000"/>
                <a:gd name="connsiteY0-2" fmla="*/ 9807 h 10000"/>
                <a:gd name="connsiteX1-3" fmla="*/ 1220 w 10000"/>
                <a:gd name="connsiteY1-4" fmla="*/ 9711 h 10000"/>
                <a:gd name="connsiteX2-5" fmla="*/ 199 w 10000"/>
                <a:gd name="connsiteY2-6" fmla="*/ 6988 h 10000"/>
                <a:gd name="connsiteX3-7" fmla="*/ 1470 w 10000"/>
                <a:gd name="connsiteY3-8" fmla="*/ 4211 h 10000"/>
                <a:gd name="connsiteX4-9" fmla="*/ 3806 w 10000"/>
                <a:gd name="connsiteY4-10" fmla="*/ 627 h 10000"/>
                <a:gd name="connsiteX5-11" fmla="*/ 6684 w 10000"/>
                <a:gd name="connsiteY5-12" fmla="*/ 2940 h 10000"/>
                <a:gd name="connsiteX6-13" fmla="*/ 8621 w 10000"/>
                <a:gd name="connsiteY6-14" fmla="*/ 2867 h 10000"/>
                <a:gd name="connsiteX7-15" fmla="*/ 9353 w 10000"/>
                <a:gd name="connsiteY7-16" fmla="*/ 5815 h 10000"/>
                <a:gd name="connsiteX8-17" fmla="*/ 9841 w 10000"/>
                <a:gd name="connsiteY8-18" fmla="*/ 8096 h 10000"/>
                <a:gd name="connsiteX9-19" fmla="*/ 8448 w 10000"/>
                <a:gd name="connsiteY9-20" fmla="*/ 9807 h 10000"/>
                <a:gd name="connsiteX0-21" fmla="*/ 8448 w 10000"/>
                <a:gd name="connsiteY0-22" fmla="*/ 9807 h 10000"/>
                <a:gd name="connsiteX1-23" fmla="*/ 1220 w 10000"/>
                <a:gd name="connsiteY1-24" fmla="*/ 9711 h 10000"/>
                <a:gd name="connsiteX2-25" fmla="*/ 199 w 10000"/>
                <a:gd name="connsiteY2-26" fmla="*/ 6988 h 10000"/>
                <a:gd name="connsiteX3-27" fmla="*/ 1638 w 10000"/>
                <a:gd name="connsiteY3-28" fmla="*/ 4336 h 10000"/>
                <a:gd name="connsiteX4-29" fmla="*/ 3806 w 10000"/>
                <a:gd name="connsiteY4-30" fmla="*/ 627 h 10000"/>
                <a:gd name="connsiteX5-31" fmla="*/ 6684 w 10000"/>
                <a:gd name="connsiteY5-32" fmla="*/ 2940 h 10000"/>
                <a:gd name="connsiteX6-33" fmla="*/ 8621 w 10000"/>
                <a:gd name="connsiteY6-34" fmla="*/ 2867 h 10000"/>
                <a:gd name="connsiteX7-35" fmla="*/ 9353 w 10000"/>
                <a:gd name="connsiteY7-36" fmla="*/ 5815 h 10000"/>
                <a:gd name="connsiteX8-37" fmla="*/ 9841 w 10000"/>
                <a:gd name="connsiteY8-38" fmla="*/ 8096 h 10000"/>
                <a:gd name="connsiteX9-39" fmla="*/ 8448 w 10000"/>
                <a:gd name="connsiteY9-40" fmla="*/ 9807 h 10000"/>
                <a:gd name="connsiteX0-41" fmla="*/ 8448 w 10000"/>
                <a:gd name="connsiteY0-42" fmla="*/ 9807 h 10000"/>
                <a:gd name="connsiteX1-43" fmla="*/ 1220 w 10000"/>
                <a:gd name="connsiteY1-44" fmla="*/ 9711 h 10000"/>
                <a:gd name="connsiteX2-45" fmla="*/ 199 w 10000"/>
                <a:gd name="connsiteY2-46" fmla="*/ 6988 h 10000"/>
                <a:gd name="connsiteX3-47" fmla="*/ 1638 w 10000"/>
                <a:gd name="connsiteY3-48" fmla="*/ 4336 h 10000"/>
                <a:gd name="connsiteX4-49" fmla="*/ 3806 w 10000"/>
                <a:gd name="connsiteY4-50" fmla="*/ 627 h 10000"/>
                <a:gd name="connsiteX5-51" fmla="*/ 6684 w 10000"/>
                <a:gd name="connsiteY5-52" fmla="*/ 2940 h 10000"/>
                <a:gd name="connsiteX6-53" fmla="*/ 8621 w 10000"/>
                <a:gd name="connsiteY6-54" fmla="*/ 2867 h 10000"/>
                <a:gd name="connsiteX7-55" fmla="*/ 9054 w 10000"/>
                <a:gd name="connsiteY7-56" fmla="*/ 5692 h 10000"/>
                <a:gd name="connsiteX8-57" fmla="*/ 9841 w 10000"/>
                <a:gd name="connsiteY8-58" fmla="*/ 8096 h 10000"/>
                <a:gd name="connsiteX9-59" fmla="*/ 8448 w 10000"/>
                <a:gd name="connsiteY9-60" fmla="*/ 9807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noFill/>
            <a:ln w="3175" cap="flat" cmpd="sng" algn="ctr">
              <a:solidFill>
                <a:schemeClr val="tx1"/>
              </a:solidFill>
              <a:prstDash val="solid"/>
              <a:miter lim="800000"/>
            </a:ln>
            <a:effectLst/>
          </p:spPr>
          <p:txBody>
            <a:bodyPr rtlCol="0" anchor="ctr"/>
            <a:p>
              <a:pPr algn="ctr">
                <a:lnSpc>
                  <a:spcPct val="150000"/>
                </a:lnSpc>
              </a:pPr>
              <a:r>
                <a:rPr lang="en-US" altLang="zh-CN" sz="1600" kern="0" dirty="0">
                  <a:latin typeface="微软雅黑" panose="020B0503020204020204" charset="-122"/>
                  <a:ea typeface="微软雅黑" panose="020B0503020204020204" charset="-122"/>
                  <a:sym typeface="Arial" panose="020B0604020202020204"/>
                </a:rPr>
                <a:t>Cloud</a:t>
              </a:r>
              <a:endParaRPr lang="en-US" altLang="zh-CN" sz="1600" kern="0" dirty="0">
                <a:solidFill>
                  <a:schemeClr val="tx1"/>
                </a:solidFill>
                <a:latin typeface="微软雅黑" panose="020B0503020204020204" charset="-122"/>
                <a:ea typeface="微软雅黑" panose="020B0503020204020204" charset="-122"/>
                <a:sym typeface="Arial" panose="020B0604020202020204"/>
              </a:endParaRPr>
            </a:p>
          </p:txBody>
        </p:sp>
        <p:cxnSp>
          <p:nvCxnSpPr>
            <p:cNvPr id="42" name="直接连接符 41"/>
            <p:cNvCxnSpPr>
              <a:stCxn id="8" idx="4"/>
            </p:cNvCxnSpPr>
            <p:nvPr/>
          </p:nvCxnSpPr>
          <p:spPr>
            <a:xfrm>
              <a:off x="13613" y="5883"/>
              <a:ext cx="1158" cy="713"/>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43" name="直接连接符 42"/>
            <p:cNvCxnSpPr>
              <a:stCxn id="13" idx="4"/>
              <a:endCxn id="240" idx="2"/>
            </p:cNvCxnSpPr>
            <p:nvPr/>
          </p:nvCxnSpPr>
          <p:spPr>
            <a:xfrm flipV="1">
              <a:off x="13640" y="6634"/>
              <a:ext cx="1133" cy="121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6337" y="6509"/>
              <a:ext cx="1568" cy="483"/>
            </a:xfrm>
            <a:prstGeom prst="rect">
              <a:avLst/>
            </a:prstGeom>
            <a:noFill/>
          </p:spPr>
          <p:txBody>
            <a:bodyPr wrap="square" rtlCol="0">
              <a:spAutoFit/>
            </a:bodyPr>
            <a:p>
              <a:r>
                <a:rPr lang="en-US" altLang="zh-CN" sz="1400" b="1">
                  <a:solidFill>
                    <a:schemeClr val="tx1"/>
                  </a:solidFill>
                </a:rPr>
                <a:t>APA </a:t>
              </a:r>
              <a:r>
                <a:rPr lang="en-US" altLang="zh-CN" sz="1400" b="1">
                  <a:solidFill>
                    <a:schemeClr val="tx1"/>
                  </a:solidFill>
                </a:rPr>
                <a:t>ID</a:t>
              </a:r>
              <a:endParaRPr lang="en-US" altLang="zh-CN" sz="1400" b="1">
                <a:solidFill>
                  <a:schemeClr val="tx1"/>
                </a:solidFill>
              </a:endParaRPr>
            </a:p>
          </p:txBody>
        </p:sp>
        <p:sp>
          <p:nvSpPr>
            <p:cNvPr id="45" name="矩形 44"/>
            <p:cNvSpPr/>
            <p:nvPr/>
          </p:nvSpPr>
          <p:spPr>
            <a:xfrm>
              <a:off x="8800" y="3877"/>
              <a:ext cx="2614" cy="410"/>
            </a:xfrm>
            <a:prstGeom prst="rect">
              <a:avLst/>
            </a:prstGeom>
            <a:noFill/>
            <a:ln w="15875">
              <a:solidFill>
                <a:schemeClr val="accent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sym typeface="+mn-ea"/>
                </a:rPr>
                <a:t>Network agent</a:t>
              </a:r>
              <a:endParaRPr lang="en-US" altLang="zh-CN" sz="1600">
                <a:solidFill>
                  <a:schemeClr val="tx1"/>
                </a:solidFill>
              </a:endParaRPr>
            </a:p>
          </p:txBody>
        </p:sp>
        <p:sp>
          <p:nvSpPr>
            <p:cNvPr id="47" name="文本框 46"/>
            <p:cNvSpPr txBox="1"/>
            <p:nvPr/>
          </p:nvSpPr>
          <p:spPr>
            <a:xfrm>
              <a:off x="7774" y="5025"/>
              <a:ext cx="2243" cy="483"/>
            </a:xfrm>
            <a:prstGeom prst="rect">
              <a:avLst/>
            </a:prstGeom>
            <a:noFill/>
          </p:spPr>
          <p:txBody>
            <a:bodyPr wrap="square" rtlCol="0">
              <a:spAutoFit/>
            </a:bodyPr>
            <a:p>
              <a:r>
                <a:rPr lang="en-US" altLang="zh-CN" sz="1400">
                  <a:solidFill>
                    <a:schemeClr val="tx1"/>
                  </a:solidFill>
                  <a:latin typeface="Times New Roman" panose="02020603050405020304" charset="0"/>
                  <a:cs typeface="Times New Roman" panose="02020603050405020304" charset="0"/>
                </a:rPr>
                <a:t>E2E policy</a:t>
              </a:r>
              <a:endParaRPr lang="en-US" altLang="zh-CN" sz="1400">
                <a:solidFill>
                  <a:schemeClr val="tx1"/>
                </a:solidFill>
                <a:latin typeface="Times New Roman" panose="02020603050405020304" charset="0"/>
                <a:cs typeface="Times New Roman" panose="02020603050405020304" charset="0"/>
              </a:endParaRPr>
            </a:p>
          </p:txBody>
        </p:sp>
        <p:sp>
          <p:nvSpPr>
            <p:cNvPr id="48" name="文本框 47"/>
            <p:cNvSpPr txBox="1"/>
            <p:nvPr/>
          </p:nvSpPr>
          <p:spPr>
            <a:xfrm>
              <a:off x="1348" y="6437"/>
              <a:ext cx="2569" cy="483"/>
            </a:xfrm>
            <a:prstGeom prst="rect">
              <a:avLst/>
            </a:prstGeom>
            <a:noFill/>
          </p:spPr>
          <p:txBody>
            <a:bodyPr wrap="square" rtlCol="0">
              <a:spAutoFit/>
            </a:bodyPr>
            <a:p>
              <a:r>
                <a:rPr lang="en-US" altLang="zh-CN" sz="1400" b="1">
                  <a:solidFill>
                    <a:schemeClr val="tx1"/>
                  </a:solidFill>
                </a:rPr>
                <a:t>Agent ID</a:t>
              </a:r>
              <a:r>
                <a:rPr lang="zh-CN" altLang="en-US" sz="1400" b="1">
                  <a:solidFill>
                    <a:schemeClr val="tx1"/>
                  </a:solidFill>
                </a:rPr>
                <a:t>、</a:t>
              </a:r>
              <a:r>
                <a:rPr lang="en-US" altLang="zh-CN" sz="1400" b="1">
                  <a:solidFill>
                    <a:schemeClr val="tx1"/>
                  </a:solidFill>
                </a:rPr>
                <a:t>Task ID</a:t>
              </a:r>
              <a:endParaRPr lang="en-US" altLang="zh-CN" sz="1400" b="1">
                <a:solidFill>
                  <a:schemeClr val="tx1"/>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rPr>
              <a:t>Use case 1: Agent Policy-aware Performance Measurement </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4" name="文本框 3"/>
          <p:cNvSpPr txBox="1"/>
          <p:nvPr/>
        </p:nvSpPr>
        <p:spPr>
          <a:xfrm>
            <a:off x="237490" y="824865"/>
            <a:ext cx="11635105" cy="922020"/>
          </a:xfrm>
          <a:prstGeom prst="rect">
            <a:avLst/>
          </a:prstGeom>
        </p:spPr>
        <p:txBody>
          <a:bodyPr wrap="square">
            <a:spAutoFit/>
          </a:bodyPr>
          <a:p>
            <a:pPr marL="0" indent="0" algn="l" defTabSz="266700">
              <a:lnSpc>
                <a:spcPct val="150000"/>
              </a:lnSpc>
              <a:spcBef>
                <a:spcPct val="0"/>
              </a:spcBef>
              <a:spcAft>
                <a:spcPct val="0"/>
              </a:spcAft>
              <a:tabLst>
                <a:tab pos="127000" algn="l"/>
              </a:tabLst>
            </a:pPr>
            <a:r>
              <a:rPr lang="en-US" altLang="zh-CN">
                <a:solidFill>
                  <a:srgbClr val="000000"/>
                </a:solidFill>
                <a:latin typeface="Times New Roman" panose="02020603050405020304"/>
                <a:ea typeface="宋体" panose="02010600030101010101" pitchFamily="2" charset="-122"/>
              </a:rPr>
              <a:t>Service Agents have strict latency and jitter requirements for specific data flows (e.g., emergency rescue video streams), and need real-time end-to-end network quality perception to meet business SLA</a:t>
            </a:r>
            <a:r>
              <a:rPr lang="en-US" altLang="zh-CN">
                <a:solidFill>
                  <a:srgbClr val="000000"/>
                </a:solidFill>
                <a:latin typeface="Times New Roman" panose="02020603050405020304"/>
                <a:ea typeface="宋体" panose="02010600030101010101" pitchFamily="2" charset="-122"/>
              </a:rPr>
              <a:t>s. </a:t>
            </a:r>
            <a:endParaRPr lang="en-US" altLang="zh-CN">
              <a:solidFill>
                <a:srgbClr val="000000"/>
              </a:solidFill>
              <a:latin typeface="Times New Roman" panose="02020603050405020304"/>
              <a:ea typeface="宋体" panose="02010600030101010101" pitchFamily="2" charset="-122"/>
            </a:endParaRPr>
          </a:p>
        </p:txBody>
      </p:sp>
      <p:sp>
        <p:nvSpPr>
          <p:cNvPr id="6" name="矩形 5"/>
          <p:cNvSpPr/>
          <p:nvPr/>
        </p:nvSpPr>
        <p:spPr>
          <a:xfrm>
            <a:off x="513715" y="2279650"/>
            <a:ext cx="163195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5" name="矩形 4"/>
          <p:cNvSpPr/>
          <p:nvPr/>
        </p:nvSpPr>
        <p:spPr>
          <a:xfrm>
            <a:off x="5440680" y="2256790"/>
            <a:ext cx="303530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Network Measurement </a:t>
            </a:r>
            <a:r>
              <a:rPr lang="en-US" altLang="zh-CN">
                <a:solidFill>
                  <a:schemeClr val="tx1"/>
                </a:solidFill>
              </a:rPr>
              <a:t>Agent</a:t>
            </a:r>
            <a:endParaRPr lang="en-US" altLang="zh-CN">
              <a:solidFill>
                <a:schemeClr val="tx1"/>
              </a:solidFill>
            </a:endParaRPr>
          </a:p>
        </p:txBody>
      </p:sp>
      <p:cxnSp>
        <p:nvCxnSpPr>
          <p:cNvPr id="7" name="直接连接符 6"/>
          <p:cNvCxnSpPr>
            <a:stCxn id="6" idx="2"/>
          </p:cNvCxnSpPr>
          <p:nvPr/>
        </p:nvCxnSpPr>
        <p:spPr>
          <a:xfrm>
            <a:off x="1329690" y="2712085"/>
            <a:ext cx="36830" cy="32283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6939915" y="2689225"/>
            <a:ext cx="36830" cy="32283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V="1">
            <a:off x="1366520" y="3310890"/>
            <a:ext cx="5570220" cy="19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a:off x="6939915" y="3829050"/>
            <a:ext cx="3374390" cy="146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366520" y="2894965"/>
            <a:ext cx="5862955"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1.send</a:t>
            </a:r>
            <a:r>
              <a:rPr lang="en-US" altLang="zh-CN" sz="1600">
                <a:solidFill>
                  <a:srgbClr val="000000"/>
                </a:solidFill>
                <a:latin typeface="Times New Roman" panose="02020603050405020304"/>
                <a:ea typeface="宋体" panose="02010600030101010101" pitchFamily="2" charset="-122"/>
              </a:rPr>
              <a:t> structured measurement intents based on SLA requirements</a:t>
            </a:r>
            <a:endParaRPr lang="en-US" altLang="zh-CN" sz="1600">
              <a:solidFill>
                <a:srgbClr val="000000"/>
              </a:solidFill>
              <a:latin typeface="Times New Roman" panose="02020603050405020304"/>
              <a:ea typeface="宋体" panose="02010600030101010101" pitchFamily="2" charset="-122"/>
            </a:endParaRPr>
          </a:p>
        </p:txBody>
      </p:sp>
      <p:sp>
        <p:nvSpPr>
          <p:cNvPr id="12" name="矩形 11"/>
          <p:cNvSpPr/>
          <p:nvPr/>
        </p:nvSpPr>
        <p:spPr>
          <a:xfrm>
            <a:off x="9300210" y="2245360"/>
            <a:ext cx="192151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13" name="直接连接符 12"/>
          <p:cNvCxnSpPr/>
          <p:nvPr/>
        </p:nvCxnSpPr>
        <p:spPr>
          <a:xfrm>
            <a:off x="10292715" y="2677795"/>
            <a:ext cx="36830" cy="32283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6972300" y="3649980"/>
            <a:ext cx="334200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6991350" y="3222625"/>
            <a:ext cx="3490595"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2.select adaptive measurement protocols</a:t>
            </a:r>
            <a:endParaRPr lang="en-US" altLang="zh-CN" sz="1600">
              <a:solidFill>
                <a:srgbClr val="000000"/>
              </a:solidFill>
              <a:latin typeface="Times New Roman" panose="02020603050405020304"/>
              <a:ea typeface="宋体" panose="02010600030101010101" pitchFamily="2" charset="-122"/>
            </a:endParaRPr>
          </a:p>
        </p:txBody>
      </p:sp>
      <p:cxnSp>
        <p:nvCxnSpPr>
          <p:cNvPr id="16" name="直接箭头连接符 15"/>
          <p:cNvCxnSpPr/>
          <p:nvPr/>
        </p:nvCxnSpPr>
        <p:spPr>
          <a:xfrm flipH="1">
            <a:off x="1386205" y="4076700"/>
            <a:ext cx="5586095" cy="25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7271385" y="3828415"/>
            <a:ext cx="2771775"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3. collect performance data</a:t>
            </a:r>
            <a:endParaRPr lang="en-US" altLang="zh-CN" sz="1600">
              <a:solidFill>
                <a:srgbClr val="000000"/>
              </a:solidFill>
              <a:latin typeface="Times New Roman" panose="02020603050405020304"/>
              <a:ea typeface="宋体" panose="02010600030101010101" pitchFamily="2" charset="-122"/>
            </a:endParaRPr>
          </a:p>
        </p:txBody>
      </p:sp>
      <p:sp>
        <p:nvSpPr>
          <p:cNvPr id="18" name="文本框 17"/>
          <p:cNvSpPr txBox="1"/>
          <p:nvPr/>
        </p:nvSpPr>
        <p:spPr>
          <a:xfrm>
            <a:off x="2318385" y="3701415"/>
            <a:ext cx="3722370"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4. receive structured measurement results</a:t>
            </a:r>
            <a:endParaRPr lang="en-US" altLang="zh-CN" sz="1600">
              <a:solidFill>
                <a:srgbClr val="000000"/>
              </a:solidFill>
              <a:latin typeface="Times New Roman" panose="02020603050405020304"/>
              <a:ea typeface="宋体" panose="02010600030101010101" pitchFamily="2" charset="-122"/>
            </a:endParaRPr>
          </a:p>
        </p:txBody>
      </p:sp>
      <p:sp>
        <p:nvSpPr>
          <p:cNvPr id="19" name="文本框 18"/>
          <p:cNvSpPr txBox="1"/>
          <p:nvPr/>
        </p:nvSpPr>
        <p:spPr>
          <a:xfrm>
            <a:off x="1626870" y="4290695"/>
            <a:ext cx="4971415" cy="82994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5. extract performance characteristics of business flows</a:t>
            </a:r>
            <a:endParaRPr lang="en-US" altLang="zh-CN" sz="1600">
              <a:solidFill>
                <a:srgbClr val="000000"/>
              </a:solidFill>
              <a:latin typeface="Times New Roman" panose="02020603050405020304"/>
              <a:ea typeface="宋体" panose="02010600030101010101" pitchFamily="2" charset="-122"/>
            </a:endParaRPr>
          </a:p>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6. predict traffic and security requirements based on datas, and map business semantic actions to traffic features</a:t>
            </a:r>
            <a:endParaRPr lang="en-US" altLang="zh-CN" sz="1600">
              <a:solidFill>
                <a:srgbClr val="000000"/>
              </a:solidFill>
              <a:latin typeface="Times New Roman" panose="02020603050405020304"/>
              <a:ea typeface="宋体" panose="02010600030101010101" pitchFamily="2" charset="-122"/>
            </a:endParaRPr>
          </a:p>
        </p:txBody>
      </p:sp>
      <p:grpSp>
        <p:nvGrpSpPr>
          <p:cNvPr id="25" name="组合 24"/>
          <p:cNvGrpSpPr/>
          <p:nvPr/>
        </p:nvGrpSpPr>
        <p:grpSpPr>
          <a:xfrm>
            <a:off x="1356995" y="4506595"/>
            <a:ext cx="240665" cy="472440"/>
            <a:chOff x="2137" y="7707"/>
            <a:chExt cx="492" cy="358"/>
          </a:xfrm>
        </p:grpSpPr>
        <p:cxnSp>
          <p:nvCxnSpPr>
            <p:cNvPr id="22" name="直接连接符 21"/>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27" name="直接箭头连接符 26"/>
          <p:cNvCxnSpPr/>
          <p:nvPr/>
        </p:nvCxnSpPr>
        <p:spPr>
          <a:xfrm flipV="1">
            <a:off x="1421130" y="5758180"/>
            <a:ext cx="5570220" cy="19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8" name="矩形 27"/>
          <p:cNvSpPr/>
          <p:nvPr/>
        </p:nvSpPr>
        <p:spPr>
          <a:xfrm>
            <a:off x="5344795" y="2139315"/>
            <a:ext cx="5978525" cy="652780"/>
          </a:xfrm>
          <a:prstGeom prst="rect">
            <a:avLst/>
          </a:prstGeom>
          <a:noFill/>
          <a:ln w="15875">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1616710" y="5166360"/>
            <a:ext cx="4349115" cy="58356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7. output explicit QOS requirement to netowrk</a:t>
            </a:r>
            <a:r>
              <a:rPr lang="zh-CN" altLang="en-US" sz="1600">
                <a:solidFill>
                  <a:srgbClr val="000000"/>
                </a:solidFill>
                <a:latin typeface="Times New Roman" panose="02020603050405020304"/>
                <a:ea typeface="宋体" panose="02010600030101010101" pitchFamily="2" charset="-122"/>
              </a:rPr>
              <a:t>（</a:t>
            </a:r>
            <a:r>
              <a:rPr lang="en-US" altLang="zh-CN" sz="1600">
                <a:solidFill>
                  <a:srgbClr val="000000"/>
                </a:solidFill>
                <a:latin typeface="Times New Roman" panose="02020603050405020304"/>
                <a:ea typeface="宋体" panose="02010600030101010101" pitchFamily="2" charset="-122"/>
              </a:rPr>
              <a:t>carrying Agent ID and task ID</a:t>
            </a:r>
            <a:r>
              <a:rPr lang="zh-CN" altLang="en-US" sz="1600">
                <a:solidFill>
                  <a:srgbClr val="000000"/>
                </a:solidFill>
                <a:latin typeface="Times New Roman" panose="02020603050405020304"/>
                <a:ea typeface="宋体" panose="02010600030101010101" pitchFamily="2" charset="-122"/>
              </a:rPr>
              <a:t>）</a:t>
            </a:r>
            <a:endParaRPr lang="zh-CN" altLang="en-US" sz="1600">
              <a:solidFill>
                <a:srgbClr val="000000"/>
              </a:solidFill>
              <a:latin typeface="Times New Roman" panose="02020603050405020304"/>
              <a:ea typeface="宋体" panose="02010600030101010101" pitchFamily="2" charset="-122"/>
            </a:endParaRPr>
          </a:p>
        </p:txBody>
      </p:sp>
      <p:cxnSp>
        <p:nvCxnSpPr>
          <p:cNvPr id="30" name="直接箭头连接符 29"/>
          <p:cNvCxnSpPr/>
          <p:nvPr/>
        </p:nvCxnSpPr>
        <p:spPr>
          <a:xfrm flipV="1">
            <a:off x="6994525" y="5788025"/>
            <a:ext cx="334200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6972300" y="5186680"/>
            <a:ext cx="3431540" cy="583565"/>
          </a:xfrm>
          <a:prstGeom prst="rect">
            <a:avLst/>
          </a:prstGeom>
        </p:spPr>
        <p:txBody>
          <a:bodyPr wrap="square">
            <a:spAutoFit/>
          </a:bodyPr>
          <a:p>
            <a:pPr marL="0" indent="0" algn="l" defTabSz="266700">
              <a:spcBef>
                <a:spcPct val="0"/>
              </a:spcBef>
              <a:spcAft>
                <a:spcPct val="0"/>
              </a:spcAft>
            </a:pPr>
            <a:r>
              <a:rPr lang="en-US" altLang="zh-CN" sz="1600">
                <a:solidFill>
                  <a:srgbClr val="000000"/>
                </a:solidFill>
                <a:latin typeface="Times New Roman" panose="02020603050405020304"/>
                <a:ea typeface="宋体" panose="02010600030101010101" pitchFamily="2" charset="-122"/>
              </a:rPr>
              <a:t>8. APAD generate APA ID and allocate dedicated network </a:t>
            </a:r>
            <a:r>
              <a:rPr lang="en-US" altLang="zh-CN" sz="1600">
                <a:solidFill>
                  <a:srgbClr val="000000"/>
                </a:solidFill>
                <a:latin typeface="Times New Roman" panose="02020603050405020304"/>
                <a:ea typeface="宋体" panose="02010600030101010101" pitchFamily="2" charset="-122"/>
              </a:rPr>
              <a:t>resouces</a:t>
            </a:r>
            <a:endParaRPr lang="en-US" altLang="zh-CN" sz="1600">
              <a:solidFill>
                <a:srgbClr val="000000"/>
              </a:solidFill>
              <a:latin typeface="Times New Roman" panose="02020603050405020304"/>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rPr>
              <a:t>Use case 2: Agent Policy-aware Path Optimization</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4" name="文本框 3"/>
          <p:cNvSpPr txBox="1"/>
          <p:nvPr/>
        </p:nvSpPr>
        <p:spPr>
          <a:xfrm>
            <a:off x="285750" y="796925"/>
            <a:ext cx="11685905" cy="829945"/>
          </a:xfrm>
          <a:prstGeom prst="rect">
            <a:avLst/>
          </a:prstGeom>
        </p:spPr>
        <p:txBody>
          <a:bodyPr wrap="square">
            <a:spAutoFit/>
          </a:bodyPr>
          <a:p>
            <a:pPr marL="0" algn="l" defTabSz="266700">
              <a:lnSpc>
                <a:spcPct val="150000"/>
              </a:lnSpc>
              <a:buClrTx/>
              <a:buSzTx/>
              <a:buFontTx/>
              <a:tabLst>
                <a:tab pos="127000" algn="l"/>
              </a:tabLst>
            </a:pPr>
            <a:r>
              <a:rPr lang="en-US" altLang="zh-CN" sz="1600">
                <a:solidFill>
                  <a:srgbClr val="000000"/>
                </a:solidFill>
                <a:latin typeface="Times New Roman" panose="02020603050405020304"/>
                <a:ea typeface="宋体" panose="02010600030101010101" pitchFamily="2" charset="-122"/>
              </a:rPr>
              <a:t>When congestion or faults occur on the current transmission path, service SLAs may be degraded. The network should switch to a more optimal path without service interruption, enabling fault self-healing and experience self-optimization, thereby ensuring service continuity.</a:t>
            </a:r>
            <a:endParaRPr lang="en-US" altLang="zh-CN" sz="1600">
              <a:solidFill>
                <a:srgbClr val="000000"/>
              </a:solidFill>
              <a:latin typeface="Times New Roman" panose="02020603050405020304"/>
              <a:ea typeface="宋体" panose="02010600030101010101" pitchFamily="2" charset="-122"/>
            </a:endParaRPr>
          </a:p>
        </p:txBody>
      </p:sp>
      <p:sp>
        <p:nvSpPr>
          <p:cNvPr id="6" name="矩形 5"/>
          <p:cNvSpPr/>
          <p:nvPr/>
        </p:nvSpPr>
        <p:spPr>
          <a:xfrm>
            <a:off x="775335" y="2044065"/>
            <a:ext cx="163195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5" name="矩形 4"/>
          <p:cNvSpPr/>
          <p:nvPr/>
        </p:nvSpPr>
        <p:spPr>
          <a:xfrm>
            <a:off x="4304665" y="2026285"/>
            <a:ext cx="303530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80000"/>
              </a:lnSpc>
              <a:spcBef>
                <a:spcPts val="0"/>
              </a:spcBef>
              <a:spcAft>
                <a:spcPts val="0"/>
              </a:spcAft>
            </a:pPr>
            <a:r>
              <a:rPr lang="en-US" altLang="zh-CN" sz="1600">
                <a:solidFill>
                  <a:schemeClr val="tx1"/>
                </a:solidFill>
              </a:rPr>
              <a:t>APA Controller</a:t>
            </a:r>
            <a:endParaRPr lang="en-US" altLang="zh-CN" sz="1600">
              <a:solidFill>
                <a:schemeClr val="tx1"/>
              </a:solidFill>
            </a:endParaRPr>
          </a:p>
          <a:p>
            <a:pPr algn="ctr">
              <a:lnSpc>
                <a:spcPct val="80000"/>
              </a:lnSpc>
              <a:spcBef>
                <a:spcPts val="0"/>
              </a:spcBef>
              <a:spcAft>
                <a:spcPts val="0"/>
              </a:spcAft>
            </a:pPr>
            <a:r>
              <a:rPr lang="en-US" altLang="zh-CN" sz="1600">
                <a:solidFill>
                  <a:schemeClr val="tx1"/>
                </a:solidFill>
              </a:rPr>
              <a:t>(Path Optimization Agent)</a:t>
            </a:r>
            <a:endParaRPr lang="en-US" altLang="zh-CN" sz="1600">
              <a:solidFill>
                <a:schemeClr val="tx1"/>
              </a:solidFill>
            </a:endParaRPr>
          </a:p>
        </p:txBody>
      </p:sp>
      <p:sp>
        <p:nvSpPr>
          <p:cNvPr id="12" name="矩形 11"/>
          <p:cNvSpPr/>
          <p:nvPr/>
        </p:nvSpPr>
        <p:spPr>
          <a:xfrm>
            <a:off x="8481695" y="2014855"/>
            <a:ext cx="192151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7" name="直接连接符 6"/>
          <p:cNvCxnSpPr>
            <a:stCxn id="6" idx="2"/>
          </p:cNvCxnSpPr>
          <p:nvPr/>
        </p:nvCxnSpPr>
        <p:spPr>
          <a:xfrm>
            <a:off x="1591310" y="2476500"/>
            <a:ext cx="6985" cy="2592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H="1">
            <a:off x="5886450" y="2476500"/>
            <a:ext cx="2540" cy="2592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9444990" y="2447290"/>
            <a:ext cx="12065" cy="2592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a:off x="1591310" y="3169920"/>
            <a:ext cx="4294505" cy="146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534160" y="2886075"/>
            <a:ext cx="4630420" cy="339725"/>
          </a:xfrm>
          <a:prstGeom prst="rect">
            <a:avLst/>
          </a:prstGeom>
        </p:spPr>
        <p:txBody>
          <a:bodyPr wrap="square">
            <a:noAutofit/>
          </a:bodyPr>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1.2. receive network feedback of quality degradation alarms</a:t>
            </a:r>
            <a:endParaRPr lang="en-US" altLang="zh-CN" sz="1400">
              <a:solidFill>
                <a:srgbClr val="000000"/>
              </a:solidFill>
              <a:latin typeface="Times New Roman" panose="02020603050405020304"/>
              <a:ea typeface="宋体" panose="02010600030101010101" pitchFamily="2" charset="-122"/>
            </a:endParaRPr>
          </a:p>
        </p:txBody>
      </p:sp>
      <p:grpSp>
        <p:nvGrpSpPr>
          <p:cNvPr id="25" name="组合 24"/>
          <p:cNvGrpSpPr/>
          <p:nvPr/>
        </p:nvGrpSpPr>
        <p:grpSpPr>
          <a:xfrm>
            <a:off x="1617980" y="2626995"/>
            <a:ext cx="240665" cy="257175"/>
            <a:chOff x="2137" y="7707"/>
            <a:chExt cx="492" cy="358"/>
          </a:xfrm>
        </p:grpSpPr>
        <p:cxnSp>
          <p:nvCxnSpPr>
            <p:cNvPr id="22" name="直接连接符 21"/>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13" name="文本框 12"/>
          <p:cNvSpPr txBox="1"/>
          <p:nvPr/>
        </p:nvSpPr>
        <p:spPr>
          <a:xfrm>
            <a:off x="1778635" y="2604135"/>
            <a:ext cx="4630420" cy="339725"/>
          </a:xfrm>
          <a:prstGeom prst="rect">
            <a:avLst/>
          </a:prstGeom>
        </p:spPr>
        <p:txBody>
          <a:bodyPr wrap="square">
            <a:noAutofit/>
          </a:bodyPr>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1.1. perceive its own service experience degradation</a:t>
            </a:r>
            <a:endParaRPr lang="en-US" altLang="zh-CN" sz="1400">
              <a:solidFill>
                <a:srgbClr val="000000"/>
              </a:solidFill>
              <a:latin typeface="Times New Roman" panose="02020603050405020304"/>
              <a:ea typeface="宋体" panose="02010600030101010101" pitchFamily="2" charset="-122"/>
            </a:endParaRPr>
          </a:p>
        </p:txBody>
      </p:sp>
      <p:cxnSp>
        <p:nvCxnSpPr>
          <p:cNvPr id="14" name="直接箭头连接符 13"/>
          <p:cNvCxnSpPr/>
          <p:nvPr/>
        </p:nvCxnSpPr>
        <p:spPr>
          <a:xfrm flipV="1">
            <a:off x="1585595" y="3731895"/>
            <a:ext cx="4300855" cy="20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1623060" y="3223260"/>
            <a:ext cx="4187190" cy="339725"/>
          </a:xfrm>
          <a:prstGeom prst="rect">
            <a:avLst/>
          </a:prstGeom>
        </p:spPr>
        <p:txBody>
          <a:bodyPr wrap="square">
            <a:noAutofit/>
          </a:bodyPr>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2. send a request for path recalculation and switching </a:t>
            </a:r>
            <a:endParaRPr lang="en-US" altLang="zh-CN" sz="1400">
              <a:solidFill>
                <a:srgbClr val="000000"/>
              </a:solidFill>
              <a:latin typeface="Times New Roman" panose="02020603050405020304"/>
              <a:ea typeface="宋体" panose="02010600030101010101" pitchFamily="2" charset="-122"/>
            </a:endParaRPr>
          </a:p>
          <a:p>
            <a:pPr marL="0" algn="just" defTabSz="266700">
              <a:buClrTx/>
              <a:buSzTx/>
              <a:buFontTx/>
            </a:pPr>
            <a:r>
              <a:rPr lang="en-US" altLang="zh-CN" sz="1400">
                <a:solidFill>
                  <a:srgbClr val="000000"/>
                </a:solidFill>
                <a:latin typeface="Times New Roman" panose="02020603050405020304"/>
                <a:ea typeface="宋体" panose="02010600030101010101" pitchFamily="2" charset="-122"/>
              </a:rPr>
              <a:t>with service tolerance (e.g. lossless swtching) </a:t>
            </a:r>
            <a:endParaRPr lang="en-US" altLang="zh-CN" sz="1400">
              <a:solidFill>
                <a:srgbClr val="000000"/>
              </a:solidFill>
              <a:latin typeface="Times New Roman" panose="02020603050405020304"/>
              <a:ea typeface="宋体" panose="02010600030101010101" pitchFamily="2" charset="-122"/>
            </a:endParaRPr>
          </a:p>
        </p:txBody>
      </p:sp>
      <p:cxnSp>
        <p:nvCxnSpPr>
          <p:cNvPr id="17" name="直接箭头连接符 16"/>
          <p:cNvCxnSpPr/>
          <p:nvPr/>
        </p:nvCxnSpPr>
        <p:spPr>
          <a:xfrm flipH="1">
            <a:off x="1585595" y="4312920"/>
            <a:ext cx="4294505" cy="146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18" name="组合 17"/>
          <p:cNvGrpSpPr/>
          <p:nvPr/>
        </p:nvGrpSpPr>
        <p:grpSpPr>
          <a:xfrm>
            <a:off x="5907405" y="3863340"/>
            <a:ext cx="240665" cy="257175"/>
            <a:chOff x="2137" y="7707"/>
            <a:chExt cx="492" cy="358"/>
          </a:xfrm>
        </p:grpSpPr>
        <p:cxnSp>
          <p:nvCxnSpPr>
            <p:cNvPr id="19" name="直接连接符 18"/>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27" name="文本框 26"/>
          <p:cNvSpPr txBox="1"/>
          <p:nvPr/>
        </p:nvSpPr>
        <p:spPr>
          <a:xfrm>
            <a:off x="6259195" y="3727450"/>
            <a:ext cx="3277870" cy="521970"/>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 calculates an optimal set of schedulable paths that meet constraints</a:t>
            </a:r>
            <a:endParaRPr lang="en-US" altLang="zh-CN" sz="1400">
              <a:solidFill>
                <a:srgbClr val="000000"/>
              </a:solidFill>
              <a:latin typeface="Times New Roman" panose="02020603050405020304"/>
              <a:ea typeface="宋体" panose="02010600030101010101" pitchFamily="2" charset="-122"/>
            </a:endParaRPr>
          </a:p>
        </p:txBody>
      </p:sp>
      <p:sp>
        <p:nvSpPr>
          <p:cNvPr id="29" name="文本框 28"/>
          <p:cNvSpPr txBox="1"/>
          <p:nvPr/>
        </p:nvSpPr>
        <p:spPr>
          <a:xfrm>
            <a:off x="1778635" y="3957320"/>
            <a:ext cx="3942715" cy="306705"/>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4. confirm the switching strategy with service </a:t>
            </a:r>
            <a:r>
              <a:rPr lang="en-US" altLang="zh-CN" sz="1400">
                <a:solidFill>
                  <a:srgbClr val="000000"/>
                </a:solidFill>
                <a:latin typeface="Times New Roman" panose="02020603050405020304"/>
                <a:ea typeface="宋体" panose="02010600030101010101" pitchFamily="2" charset="-122"/>
              </a:rPr>
              <a:t>agent </a:t>
            </a:r>
            <a:endParaRPr lang="en-US" altLang="zh-CN" sz="1400">
              <a:solidFill>
                <a:srgbClr val="000000"/>
              </a:solidFill>
              <a:latin typeface="Times New Roman" panose="02020603050405020304"/>
              <a:ea typeface="宋体" panose="02010600030101010101" pitchFamily="2" charset="-122"/>
            </a:endParaRPr>
          </a:p>
        </p:txBody>
      </p:sp>
      <p:cxnSp>
        <p:nvCxnSpPr>
          <p:cNvPr id="30" name="直接箭头连接符 29"/>
          <p:cNvCxnSpPr/>
          <p:nvPr/>
        </p:nvCxnSpPr>
        <p:spPr>
          <a:xfrm flipV="1">
            <a:off x="1617980" y="4468495"/>
            <a:ext cx="4300855" cy="20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flipV="1">
            <a:off x="5895340" y="4633595"/>
            <a:ext cx="3554095" cy="177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6181090" y="4327525"/>
            <a:ext cx="3140075" cy="306705"/>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6. execute seamless path migration</a:t>
            </a:r>
            <a:endParaRPr lang="en-US" altLang="zh-CN" sz="1400">
              <a:solidFill>
                <a:srgbClr val="000000"/>
              </a:solidFill>
              <a:latin typeface="Times New Roman" panose="02020603050405020304"/>
              <a:ea typeface="宋体" panose="02010600030101010101" pitchFamily="2" charset="-122"/>
            </a:endParaRPr>
          </a:p>
        </p:txBody>
      </p:sp>
      <p:sp>
        <p:nvSpPr>
          <p:cNvPr id="33" name="文本框 32"/>
          <p:cNvSpPr txBox="1"/>
          <p:nvPr/>
        </p:nvSpPr>
        <p:spPr>
          <a:xfrm>
            <a:off x="1228725" y="5336540"/>
            <a:ext cx="7807960" cy="1274445"/>
          </a:xfrm>
          <a:prstGeom prst="rect">
            <a:avLst/>
          </a:prstGeom>
        </p:spPr>
        <p:txBody>
          <a:bodyPr wrap="square">
            <a:spAutoFit/>
          </a:bodyPr>
          <a:p>
            <a:pPr marL="0" indent="0" algn="l" defTabSz="266700">
              <a:lnSpc>
                <a:spcPct val="110000"/>
              </a:lnSpc>
              <a:spcBef>
                <a:spcPts val="0"/>
              </a:spcBef>
              <a:spcAft>
                <a:spcPts val="0"/>
              </a:spcAft>
              <a:tabLst>
                <a:tab pos="127000" algn="l"/>
              </a:tabLst>
            </a:pPr>
            <a:r>
              <a:rPr lang="en-US" altLang="zh-CN" sz="1400">
                <a:solidFill>
                  <a:srgbClr val="000000"/>
                </a:solidFill>
                <a:latin typeface="Times New Roman" panose="02020603050405020304"/>
                <a:ea typeface="宋体" panose="02010600030101010101" pitchFamily="2" charset="-122"/>
              </a:rPr>
              <a:t>Schedulable Path Set Information Model:</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Basic Identifier: Path ID / Path Group ID</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Performance Attributes: Latency, jitter, packet loss, bandwidth, remaining bandwidth</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O&amp;M Attributes: Cost, priority, reliability, congestion probability</a:t>
            </a:r>
            <a:endParaRPr lang="en-US" altLang="zh-CN" sz="1400">
              <a:solidFill>
                <a:srgbClr val="000000"/>
              </a:solidFill>
              <a:latin typeface="Times New Roman" panose="02020603050405020304"/>
              <a:ea typeface="宋体" panose="02010600030101010101" pitchFamily="2" charset="-122"/>
            </a:endParaRPr>
          </a:p>
          <a:p>
            <a:pPr marL="533400" indent="-266700" algn="l" defTabSz="266700">
              <a:lnSpc>
                <a:spcPct val="110000"/>
              </a:lnSpc>
              <a:spcBef>
                <a:spcPts val="0"/>
              </a:spcBef>
              <a:spcAft>
                <a:spcPts val="0"/>
              </a:spcAft>
              <a:buFont typeface="微软雅黑" panose="020B0503020204020204" charset="-122"/>
              <a:buChar char="‐"/>
              <a:tabLst>
                <a:tab pos="127000" algn="l"/>
              </a:tabLst>
            </a:pPr>
            <a:r>
              <a:rPr lang="en-US" altLang="zh-CN" sz="1400">
                <a:solidFill>
                  <a:srgbClr val="000000"/>
                </a:solidFill>
                <a:latin typeface="Times New Roman" panose="02020603050405020304"/>
                <a:ea typeface="宋体" panose="02010600030101010101" pitchFamily="2" charset="-122"/>
              </a:rPr>
              <a:t>Constraint Attributes: </a:t>
            </a:r>
            <a:r>
              <a:rPr lang="en-US" altLang="zh-CN" sz="1400">
                <a:solidFill>
                  <a:srgbClr val="000000"/>
                </a:solidFill>
                <a:latin typeface="Times New Roman" panose="02020603050405020304"/>
                <a:ea typeface="Times New Roman" panose="02020603050405020304"/>
              </a:rPr>
              <a:t>S</a:t>
            </a:r>
            <a:r>
              <a:rPr lang="en-US" altLang="zh-CN" sz="1400">
                <a:solidFill>
                  <a:srgbClr val="000000"/>
                </a:solidFill>
                <a:latin typeface="Times New Roman" panose="02020603050405020304"/>
                <a:ea typeface="宋体" panose="02010600030101010101" pitchFamily="2" charset="-122"/>
              </a:rPr>
              <a:t>licing support, cross-domain support, encryption support</a:t>
            </a:r>
            <a:endParaRPr lang="en-US" altLang="zh-CN" sz="1400">
              <a:solidFill>
                <a:srgbClr val="000000"/>
              </a:solidFill>
              <a:latin typeface="Times New Roman" panose="02020603050405020304"/>
              <a:ea typeface="宋体" panose="02010600030101010101" pitchFamily="2" charset="-122"/>
            </a:endParaRPr>
          </a:p>
        </p:txBody>
      </p:sp>
      <p:sp>
        <p:nvSpPr>
          <p:cNvPr id="34" name="文本框 33"/>
          <p:cNvSpPr txBox="1"/>
          <p:nvPr/>
        </p:nvSpPr>
        <p:spPr>
          <a:xfrm>
            <a:off x="1771015" y="4468495"/>
            <a:ext cx="3942715" cy="306705"/>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5. select an optimal path from the path set</a:t>
            </a:r>
            <a:endParaRPr lang="en-US" altLang="zh-CN" sz="1400">
              <a:solidFill>
                <a:srgbClr val="000000"/>
              </a:solidFill>
              <a:latin typeface="Times New Roman" panose="02020603050405020304"/>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文本框 25"/>
          <p:cNvSpPr txBox="1"/>
          <p:nvPr/>
        </p:nvSpPr>
        <p:spPr>
          <a:xfrm>
            <a:off x="237490" y="194945"/>
            <a:ext cx="7882255" cy="460375"/>
          </a:xfrm>
          <a:prstGeom prst="rect">
            <a:avLst/>
          </a:prstGeom>
        </p:spPr>
        <p:txBody>
          <a:bodyPr wrap="square">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rPr>
              <a:t>Use case 3: Agent Policy-aware SLA Level Assurance</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4" name="文本框 3"/>
          <p:cNvSpPr txBox="1"/>
          <p:nvPr/>
        </p:nvSpPr>
        <p:spPr>
          <a:xfrm>
            <a:off x="345440" y="782320"/>
            <a:ext cx="11643995" cy="1198880"/>
          </a:xfrm>
          <a:prstGeom prst="rect">
            <a:avLst/>
          </a:prstGeom>
        </p:spPr>
        <p:txBody>
          <a:bodyPr wrap="square">
            <a:spAutoFit/>
          </a:bodyPr>
          <a:p>
            <a:pPr marL="0" algn="l" defTabSz="266700">
              <a:lnSpc>
                <a:spcPct val="150000"/>
              </a:lnSpc>
              <a:buClrTx/>
              <a:buSzTx/>
              <a:buFontTx/>
              <a:tabLst>
                <a:tab pos="127000" algn="l"/>
              </a:tabLst>
            </a:pPr>
            <a:r>
              <a:rPr lang="en-US" altLang="zh-CN" sz="1600">
                <a:solidFill>
                  <a:srgbClr val="000000"/>
                </a:solidFill>
                <a:latin typeface="Times New Roman" panose="02020603050405020304"/>
                <a:ea typeface="宋体" panose="02010600030101010101" pitchFamily="2" charset="-122"/>
              </a:rPr>
              <a:t>Different types of traffic from Agents feature high dynamism, burstiness and periodicity (e.g., scheduled big data synchronization). The network needs to allocate exclusive resources such as bandwidth on demand to realize "tidal scheduling" of network resources, greatly improve resource utilization, and ensure deterministic experience for critical services.</a:t>
            </a:r>
            <a:endParaRPr lang="en-US" altLang="zh-CN" sz="1600">
              <a:solidFill>
                <a:srgbClr val="000000"/>
              </a:solidFill>
              <a:latin typeface="Times New Roman" panose="02020603050405020304"/>
              <a:ea typeface="宋体" panose="02010600030101010101" pitchFamily="2" charset="-122"/>
            </a:endParaRPr>
          </a:p>
        </p:txBody>
      </p:sp>
      <p:grpSp>
        <p:nvGrpSpPr>
          <p:cNvPr id="43" name="组合 42"/>
          <p:cNvGrpSpPr/>
          <p:nvPr/>
        </p:nvGrpSpPr>
        <p:grpSpPr>
          <a:xfrm>
            <a:off x="775335" y="2440305"/>
            <a:ext cx="9627870" cy="3341370"/>
            <a:chOff x="1221" y="3563"/>
            <a:chExt cx="15162" cy="5262"/>
          </a:xfrm>
        </p:grpSpPr>
        <p:grpSp>
          <p:nvGrpSpPr>
            <p:cNvPr id="16" name="组合 15"/>
            <p:cNvGrpSpPr/>
            <p:nvPr/>
          </p:nvGrpSpPr>
          <p:grpSpPr>
            <a:xfrm>
              <a:off x="1221" y="3563"/>
              <a:ext cx="15162" cy="5262"/>
              <a:chOff x="1221" y="3173"/>
              <a:chExt cx="15162" cy="5262"/>
            </a:xfrm>
          </p:grpSpPr>
          <p:sp>
            <p:nvSpPr>
              <p:cNvPr id="6" name="矩形 5"/>
              <p:cNvSpPr/>
              <p:nvPr/>
            </p:nvSpPr>
            <p:spPr>
              <a:xfrm>
                <a:off x="1221" y="3219"/>
                <a:ext cx="257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a:t>
                </a:r>
                <a:endParaRPr lang="en-US" altLang="zh-CN">
                  <a:solidFill>
                    <a:schemeClr val="tx1"/>
                  </a:solidFill>
                </a:endParaRPr>
              </a:p>
            </p:txBody>
          </p:sp>
          <p:sp>
            <p:nvSpPr>
              <p:cNvPr id="5" name="矩形 4"/>
              <p:cNvSpPr/>
              <p:nvPr/>
            </p:nvSpPr>
            <p:spPr>
              <a:xfrm>
                <a:off x="6779" y="3191"/>
                <a:ext cx="478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spcBef>
                    <a:spcPts val="0"/>
                  </a:spcBef>
                  <a:buClrTx/>
                  <a:buSzTx/>
                  <a:buFontTx/>
                </a:pPr>
                <a:r>
                  <a:rPr lang="en-US" altLang="zh-CN" sz="1800">
                    <a:solidFill>
                      <a:schemeClr val="tx1"/>
                    </a:solidFill>
                  </a:rPr>
                  <a:t>Resource Reservation Agent</a:t>
                </a:r>
                <a:endParaRPr lang="en-US" altLang="zh-CN" sz="1800">
                  <a:solidFill>
                    <a:schemeClr val="tx1"/>
                  </a:solidFill>
                </a:endParaRPr>
              </a:p>
            </p:txBody>
          </p:sp>
          <p:sp>
            <p:nvSpPr>
              <p:cNvPr id="12" name="矩形 11"/>
              <p:cNvSpPr/>
              <p:nvPr/>
            </p:nvSpPr>
            <p:spPr>
              <a:xfrm>
                <a:off x="13357" y="3173"/>
                <a:ext cx="3026"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7" name="直接连接符 6"/>
              <p:cNvCxnSpPr>
                <a:stCxn id="6" idx="2"/>
              </p:cNvCxnSpPr>
              <p:nvPr/>
            </p:nvCxnSpPr>
            <p:spPr>
              <a:xfrm>
                <a:off x="2506" y="3900"/>
                <a:ext cx="11"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H="1">
                <a:off x="9270" y="3900"/>
                <a:ext cx="4"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14874" y="3854"/>
                <a:ext cx="19"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2487" y="5093"/>
                <a:ext cx="6773" cy="3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2494" y="4349"/>
                <a:ext cx="6747" cy="535"/>
              </a:xfrm>
              <a:prstGeom prst="rect">
                <a:avLst/>
              </a:prstGeom>
            </p:spPr>
            <p:txBody>
              <a:bodyPr wrap="square">
                <a:noAutofit/>
              </a:bodyPr>
              <a:p>
                <a:pPr marL="0" algn="just" defTabSz="266700">
                  <a:buClrTx/>
                  <a:buSzTx/>
                  <a:buFontTx/>
                </a:pPr>
                <a:r>
                  <a:rPr lang="en-US" altLang="zh-CN" sz="1200">
                    <a:solidFill>
                      <a:srgbClr val="000000"/>
                    </a:solidFill>
                    <a:latin typeface="Times New Roman" panose="02020603050405020304"/>
                    <a:ea typeface="宋体" panose="02010600030101010101" pitchFamily="2" charset="-122"/>
                  </a:rPr>
                  <a:t>1. predict future traffic trends and send "resource reservation intents" (including time window, bandwidth peak, and duration) </a:t>
                </a:r>
                <a:endParaRPr lang="en-US" altLang="zh-CN" sz="1200">
                  <a:solidFill>
                    <a:srgbClr val="000000"/>
                  </a:solidFill>
                  <a:latin typeface="Times New Roman" panose="02020603050405020304"/>
                  <a:ea typeface="宋体" panose="02010600030101010101" pitchFamily="2" charset="-122"/>
                </a:endParaRPr>
              </a:p>
            </p:txBody>
          </p:sp>
          <p:cxnSp>
            <p:nvCxnSpPr>
              <p:cNvPr id="17" name="直接箭头连接符 16"/>
              <p:cNvCxnSpPr/>
              <p:nvPr/>
            </p:nvCxnSpPr>
            <p:spPr>
              <a:xfrm flipH="1">
                <a:off x="2517" y="6523"/>
                <a:ext cx="6763" cy="2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9755" y="4781"/>
                <a:ext cx="5162"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2. evaluates the global network load, and check whether the resources are sufficiant </a:t>
                </a:r>
                <a:endParaRPr lang="en-US" altLang="zh-CN" sz="1400">
                  <a:solidFill>
                    <a:srgbClr val="000000"/>
                  </a:solidFill>
                  <a:latin typeface="Times New Roman" panose="02020603050405020304"/>
                  <a:ea typeface="宋体" panose="02010600030101010101" pitchFamily="2" charset="-122"/>
                </a:endParaRPr>
              </a:p>
            </p:txBody>
          </p:sp>
          <p:sp>
            <p:nvSpPr>
              <p:cNvPr id="29" name="文本框 28"/>
              <p:cNvSpPr txBox="1"/>
              <p:nvPr/>
            </p:nvSpPr>
            <p:spPr>
              <a:xfrm>
                <a:off x="2789" y="6027"/>
                <a:ext cx="6209" cy="483"/>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3.3. negotiate a degradation strategy </a:t>
                </a:r>
                <a:endParaRPr lang="en-US" altLang="zh-CN" sz="1400">
                  <a:solidFill>
                    <a:srgbClr val="000000"/>
                  </a:solidFill>
                  <a:latin typeface="Times New Roman" panose="02020603050405020304"/>
                  <a:ea typeface="宋体" panose="02010600030101010101" pitchFamily="2" charset="-122"/>
                </a:endParaRPr>
              </a:p>
            </p:txBody>
          </p:sp>
          <p:cxnSp>
            <p:nvCxnSpPr>
              <p:cNvPr id="31" name="直接箭头连接符 30"/>
              <p:cNvCxnSpPr/>
              <p:nvPr/>
            </p:nvCxnSpPr>
            <p:spPr>
              <a:xfrm flipV="1">
                <a:off x="9325" y="7212"/>
                <a:ext cx="5597" cy="2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9303" y="6066"/>
                <a:ext cx="5815" cy="1161"/>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3.1. provide the corresponding network slice /SRv6 policy,  and </a:t>
                </a:r>
                <a:r>
                  <a:rPr lang="en-US" altLang="zh-CN" sz="1400">
                    <a:solidFill>
                      <a:srgbClr val="000000"/>
                    </a:solidFill>
                    <a:latin typeface="Times New Roman" panose="02020603050405020304"/>
                    <a:ea typeface="宋体" panose="02010600030101010101" pitchFamily="2" charset="-122"/>
                    <a:sym typeface="+mn-ea"/>
                  </a:rPr>
                  <a:t>complete the lifecycle management </a:t>
                </a:r>
                <a:r>
                  <a:rPr lang="en-US" altLang="zh-CN" sz="1400">
                    <a:solidFill>
                      <a:srgbClr val="000000"/>
                    </a:solidFill>
                    <a:latin typeface="Times New Roman" panose="02020603050405020304"/>
                    <a:ea typeface="宋体" panose="02010600030101010101" pitchFamily="2" charset="-122"/>
                  </a:rPr>
                  <a:t>for current task</a:t>
                </a:r>
                <a:endParaRPr lang="en-US" altLang="zh-CN" sz="1400">
                  <a:solidFill>
                    <a:srgbClr val="000000"/>
                  </a:solidFill>
                  <a:latin typeface="Times New Roman" panose="02020603050405020304"/>
                  <a:ea typeface="宋体" panose="02010600030101010101" pitchFamily="2" charset="-122"/>
                </a:endParaRPr>
              </a:p>
            </p:txBody>
          </p:sp>
        </p:grpSp>
        <p:grpSp>
          <p:nvGrpSpPr>
            <p:cNvPr id="28" name="组合 27"/>
            <p:cNvGrpSpPr/>
            <p:nvPr/>
          </p:nvGrpSpPr>
          <p:grpSpPr>
            <a:xfrm>
              <a:off x="9284" y="5483"/>
              <a:ext cx="379" cy="405"/>
              <a:chOff x="2137" y="7707"/>
              <a:chExt cx="492" cy="358"/>
            </a:xfrm>
          </p:grpSpPr>
          <p:cxnSp>
            <p:nvCxnSpPr>
              <p:cNvPr id="33" name="直接连接符 32"/>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37" name="直接箭头连接符 36"/>
            <p:cNvCxnSpPr/>
            <p:nvPr/>
          </p:nvCxnSpPr>
          <p:spPr>
            <a:xfrm>
              <a:off x="10761" y="5929"/>
              <a:ext cx="1572" cy="35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12436" y="5983"/>
              <a:ext cx="921" cy="434"/>
            </a:xfrm>
            <a:prstGeom prst="rect">
              <a:avLst/>
            </a:prstGeom>
            <a:noFill/>
          </p:spPr>
          <p:txBody>
            <a:bodyPr wrap="square" rtlCol="0">
              <a:spAutoFit/>
            </a:bodyPr>
            <a:p>
              <a:r>
                <a:rPr lang="en-US" altLang="zh-CN" sz="1200">
                  <a:latin typeface="Times New Roman" panose="02020603050405020304" charset="0"/>
                  <a:cs typeface="Times New Roman" panose="02020603050405020304" charset="0"/>
                </a:rPr>
                <a:t>Yes</a:t>
              </a:r>
              <a:endParaRPr lang="en-US" altLang="zh-CN" sz="1200">
                <a:latin typeface="Times New Roman" panose="02020603050405020304" charset="0"/>
                <a:cs typeface="Times New Roman" panose="02020603050405020304" charset="0"/>
              </a:endParaRPr>
            </a:p>
          </p:txBody>
        </p:sp>
        <p:cxnSp>
          <p:nvCxnSpPr>
            <p:cNvPr id="39" name="直接箭头连接符 38"/>
            <p:cNvCxnSpPr/>
            <p:nvPr/>
          </p:nvCxnSpPr>
          <p:spPr>
            <a:xfrm flipH="1">
              <a:off x="9054" y="5918"/>
              <a:ext cx="1635" cy="504"/>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0" name="文本框 39"/>
            <p:cNvSpPr txBox="1"/>
            <p:nvPr/>
          </p:nvSpPr>
          <p:spPr>
            <a:xfrm>
              <a:off x="8508" y="5983"/>
              <a:ext cx="921" cy="434"/>
            </a:xfrm>
            <a:prstGeom prst="rect">
              <a:avLst/>
            </a:prstGeom>
            <a:noFill/>
          </p:spPr>
          <p:txBody>
            <a:bodyPr wrap="square" rtlCol="0">
              <a:spAutoFit/>
            </a:bodyPr>
            <a:p>
              <a:r>
                <a:rPr lang="en-US" altLang="zh-CN" sz="1200">
                  <a:latin typeface="Times New Roman" panose="02020603050405020304" charset="0"/>
                  <a:cs typeface="Times New Roman" panose="02020603050405020304" charset="0"/>
                </a:rPr>
                <a:t>No</a:t>
              </a:r>
              <a:endParaRPr lang="en-US" altLang="zh-CN" sz="1200">
                <a:latin typeface="Times New Roman" panose="02020603050405020304" charset="0"/>
                <a:cs typeface="Times New Roman" panose="02020603050405020304" charset="0"/>
              </a:endParaRPr>
            </a:p>
          </p:txBody>
        </p:sp>
        <p:sp>
          <p:nvSpPr>
            <p:cNvPr id="42" name="文本框 41"/>
            <p:cNvSpPr txBox="1"/>
            <p:nvPr/>
          </p:nvSpPr>
          <p:spPr>
            <a:xfrm>
              <a:off x="9347" y="7666"/>
              <a:ext cx="5815"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3.2. use the evolution of SFC to achieve the </a:t>
              </a:r>
              <a:r>
                <a:rPr lang="en-US" altLang="zh-CN" sz="1400">
                  <a:solidFill>
                    <a:srgbClr val="000000"/>
                  </a:solidFill>
                  <a:latin typeface="Times New Roman" panose="02020603050405020304"/>
                  <a:ea typeface="宋体" panose="02010600030101010101" pitchFamily="2" charset="-122"/>
                  <a:sym typeface="+mn-ea"/>
                </a:rPr>
                <a:t>agent‘s </a:t>
              </a:r>
              <a:r>
                <a:rPr lang="en-US" altLang="zh-CN" sz="1400">
                  <a:solidFill>
                    <a:srgbClr val="000000"/>
                  </a:solidFill>
                  <a:latin typeface="Times New Roman" panose="02020603050405020304"/>
                  <a:ea typeface="宋体" panose="02010600030101010101" pitchFamily="2" charset="-122"/>
                </a:rPr>
                <a:t>ordered </a:t>
              </a:r>
              <a:r>
                <a:rPr lang="en-US" altLang="zh-CN"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宋体" panose="02010600030101010101" pitchFamily="2" charset="-122"/>
                </a:rPr>
                <a:t>service</a:t>
              </a:r>
              <a:endParaRPr lang="en-US" altLang="zh-CN" sz="1400">
                <a:solidFill>
                  <a:srgbClr val="000000"/>
                </a:solidFill>
                <a:latin typeface="Times New Roman" panose="02020603050405020304"/>
                <a:ea typeface="宋体" panose="02010600030101010101" pitchFamily="2"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2425" y="298450"/>
            <a:ext cx="8002270" cy="460375"/>
          </a:xfrm>
          <a:prstGeom prst="rect">
            <a:avLst/>
          </a:prstGeom>
          <a:noFill/>
        </p:spPr>
        <p:txBody>
          <a:bodyPr wrap="square" rtlCol="0" anchor="t">
            <a:spAutoFit/>
          </a:bodyPr>
          <a:p>
            <a:pPr marL="0" algn="l" defTabSz="914400">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sym typeface="+mn-ea"/>
              </a:rPr>
              <a:t>Use case 4: Agent Policy-aware  Security </a:t>
            </a:r>
            <a:endParaRPr lang="en-US" altLang="zh-CN" sz="2400" b="1" dirty="0">
              <a:solidFill>
                <a:srgbClr val="002B60"/>
              </a:solidFill>
              <a:latin typeface="+mj-lt"/>
              <a:ea typeface="Verdana" panose="020B0604030504040204" pitchFamily="34" charset="0"/>
              <a:cs typeface="Calibri Light" panose="020F0302020204030204" pitchFamily="34" charset="0"/>
              <a:sym typeface="+mn-ea"/>
            </a:endParaRPr>
          </a:p>
        </p:txBody>
      </p:sp>
      <p:sp>
        <p:nvSpPr>
          <p:cNvPr id="5" name="文本框 4"/>
          <p:cNvSpPr txBox="1"/>
          <p:nvPr/>
        </p:nvSpPr>
        <p:spPr>
          <a:xfrm>
            <a:off x="396240" y="911225"/>
            <a:ext cx="11377930" cy="1198880"/>
          </a:xfrm>
          <a:prstGeom prst="rect">
            <a:avLst/>
          </a:prstGeom>
        </p:spPr>
        <p:txBody>
          <a:bodyPr wrap="square">
            <a:spAutoFit/>
          </a:bodyPr>
          <a:p>
            <a:pPr marL="0" algn="l" defTabSz="266700">
              <a:lnSpc>
                <a:spcPct val="150000"/>
              </a:lnSpc>
              <a:buClrTx/>
              <a:buSzTx/>
              <a:buFontTx/>
              <a:tabLst>
                <a:tab pos="127000" algn="l"/>
              </a:tabLst>
            </a:pPr>
            <a:r>
              <a:rPr lang="en-US" altLang="zh-CN" sz="1600">
                <a:solidFill>
                  <a:srgbClr val="000000"/>
                </a:solidFill>
                <a:latin typeface="Times New Roman" panose="02020603050405020304"/>
                <a:ea typeface="宋体" panose="02010600030101010101" pitchFamily="2" charset="-122"/>
              </a:rPr>
              <a:t>For the sensitive data transmission in govenment, medical and financial scenarios, when Agents in different trust domains conduct data interaction, the network needs to dynamically match the corresponding security levels and encryption mechanisms to realize identity and context-based dynamic zero-trust security, ensuring that data only flows within authorized scopes.</a:t>
            </a:r>
            <a:endParaRPr lang="en-US" altLang="zh-CN" sz="1600">
              <a:solidFill>
                <a:srgbClr val="000000"/>
              </a:solidFill>
              <a:latin typeface="Times New Roman" panose="02020603050405020304"/>
              <a:ea typeface="宋体" panose="02010600030101010101" pitchFamily="2" charset="-122"/>
            </a:endParaRPr>
          </a:p>
        </p:txBody>
      </p:sp>
      <p:grpSp>
        <p:nvGrpSpPr>
          <p:cNvPr id="43" name="组合 42"/>
          <p:cNvGrpSpPr/>
          <p:nvPr/>
        </p:nvGrpSpPr>
        <p:grpSpPr>
          <a:xfrm>
            <a:off x="775335" y="2440305"/>
            <a:ext cx="9627870" cy="3341370"/>
            <a:chOff x="1221" y="3563"/>
            <a:chExt cx="15162" cy="5262"/>
          </a:xfrm>
        </p:grpSpPr>
        <p:grpSp>
          <p:nvGrpSpPr>
            <p:cNvPr id="16" name="组合 15"/>
            <p:cNvGrpSpPr/>
            <p:nvPr/>
          </p:nvGrpSpPr>
          <p:grpSpPr>
            <a:xfrm>
              <a:off x="1221" y="3563"/>
              <a:ext cx="15162" cy="5262"/>
              <a:chOff x="1221" y="3173"/>
              <a:chExt cx="15162" cy="5262"/>
            </a:xfrm>
          </p:grpSpPr>
          <p:sp>
            <p:nvSpPr>
              <p:cNvPr id="6" name="矩形 5"/>
              <p:cNvSpPr/>
              <p:nvPr/>
            </p:nvSpPr>
            <p:spPr>
              <a:xfrm>
                <a:off x="1221" y="3219"/>
                <a:ext cx="2570"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Agent1</a:t>
                </a:r>
                <a:endParaRPr lang="en-US" altLang="zh-CN">
                  <a:solidFill>
                    <a:schemeClr val="tx1"/>
                  </a:solidFill>
                </a:endParaRPr>
              </a:p>
            </p:txBody>
          </p:sp>
          <p:sp>
            <p:nvSpPr>
              <p:cNvPr id="7" name="矩形 6"/>
              <p:cNvSpPr/>
              <p:nvPr/>
            </p:nvSpPr>
            <p:spPr>
              <a:xfrm>
                <a:off x="8170" y="3191"/>
                <a:ext cx="3019"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00000"/>
                  </a:lnSpc>
                  <a:spcBef>
                    <a:spcPts val="0"/>
                  </a:spcBef>
                  <a:buClrTx/>
                  <a:buSzTx/>
                  <a:buFontTx/>
                </a:pPr>
                <a:r>
                  <a:rPr lang="en-US" altLang="zh-CN" sz="1800">
                    <a:solidFill>
                      <a:schemeClr val="tx1"/>
                    </a:solidFill>
                  </a:rPr>
                  <a:t>Security Agent</a:t>
                </a:r>
                <a:endParaRPr lang="en-US" altLang="zh-CN" sz="1800">
                  <a:solidFill>
                    <a:schemeClr val="tx1"/>
                  </a:solidFill>
                </a:endParaRPr>
              </a:p>
            </p:txBody>
          </p:sp>
          <p:sp>
            <p:nvSpPr>
              <p:cNvPr id="12" name="矩形 11"/>
              <p:cNvSpPr/>
              <p:nvPr/>
            </p:nvSpPr>
            <p:spPr>
              <a:xfrm>
                <a:off x="13357" y="3173"/>
                <a:ext cx="3026" cy="681"/>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APA Device/</a:t>
                </a:r>
                <a:r>
                  <a:rPr lang="en-US" altLang="zh-CN">
                    <a:solidFill>
                      <a:schemeClr val="tx1"/>
                    </a:solidFill>
                  </a:rPr>
                  <a:t>Path</a:t>
                </a:r>
                <a:endParaRPr lang="en-US" altLang="zh-CN">
                  <a:solidFill>
                    <a:schemeClr val="tx1"/>
                  </a:solidFill>
                </a:endParaRPr>
              </a:p>
            </p:txBody>
          </p:sp>
          <p:cxnSp>
            <p:nvCxnSpPr>
              <p:cNvPr id="8" name="直接连接符 7"/>
              <p:cNvCxnSpPr>
                <a:stCxn id="6" idx="2"/>
              </p:cNvCxnSpPr>
              <p:nvPr/>
            </p:nvCxnSpPr>
            <p:spPr>
              <a:xfrm>
                <a:off x="2506" y="3900"/>
                <a:ext cx="11"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flipH="1">
                <a:off x="9270" y="3900"/>
                <a:ext cx="4"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14874" y="3854"/>
                <a:ext cx="19" cy="45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2487" y="5513"/>
                <a:ext cx="6773" cy="3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2464" y="5050"/>
                <a:ext cx="6747" cy="535"/>
              </a:xfrm>
              <a:prstGeom prst="rect">
                <a:avLst/>
              </a:prstGeom>
            </p:spPr>
            <p:txBody>
              <a:bodyPr wrap="square">
                <a:noAutofit/>
              </a:bodyPr>
              <a:p>
                <a:pPr marL="0" algn="l" defTabSz="266700">
                  <a:buClrTx/>
                  <a:buSzTx/>
                  <a:buFontTx/>
                </a:pPr>
                <a:r>
                  <a:rPr lang="en-US" altLang="zh-CN" sz="1400">
                    <a:solidFill>
                      <a:srgbClr val="000000"/>
                    </a:solidFill>
                    <a:latin typeface="Times New Roman" panose="02020603050405020304"/>
                    <a:ea typeface="宋体" panose="02010600030101010101" pitchFamily="2" charset="-122"/>
                  </a:rPr>
                  <a:t>2.  send "the required </a:t>
                </a:r>
                <a:r>
                  <a:rPr lang="en-US" altLang="zh-CN" sz="1400">
                    <a:solidFill>
                      <a:srgbClr val="000000"/>
                    </a:solidFill>
                    <a:latin typeface="Times New Roman" panose="02020603050405020304"/>
                    <a:ea typeface="宋体" panose="02010600030101010101" pitchFamily="2" charset="-122"/>
                  </a:rPr>
                  <a:t>security intents" </a:t>
                </a:r>
                <a:endParaRPr lang="en-US" altLang="zh-CN" sz="1400">
                  <a:solidFill>
                    <a:srgbClr val="000000"/>
                  </a:solidFill>
                  <a:latin typeface="Times New Roman" panose="02020603050405020304"/>
                  <a:ea typeface="宋体" panose="02010600030101010101" pitchFamily="2" charset="-122"/>
                </a:endParaRPr>
              </a:p>
            </p:txBody>
          </p:sp>
          <p:sp>
            <p:nvSpPr>
              <p:cNvPr id="27" name="文本框 26"/>
              <p:cNvSpPr txBox="1"/>
              <p:nvPr/>
            </p:nvSpPr>
            <p:spPr>
              <a:xfrm>
                <a:off x="9680" y="4889"/>
                <a:ext cx="5162"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2. parse, retrieve and match preconfigured cross-domain mutual trust policies</a:t>
                </a:r>
                <a:endParaRPr lang="en-US" altLang="zh-CN" sz="1400">
                  <a:solidFill>
                    <a:srgbClr val="000000"/>
                  </a:solidFill>
                  <a:latin typeface="Times New Roman" panose="02020603050405020304"/>
                  <a:ea typeface="宋体" panose="02010600030101010101" pitchFamily="2" charset="-122"/>
                </a:endParaRPr>
              </a:p>
            </p:txBody>
          </p:sp>
          <p:cxnSp>
            <p:nvCxnSpPr>
              <p:cNvPr id="31" name="直接箭头连接符 30"/>
              <p:cNvCxnSpPr/>
              <p:nvPr/>
            </p:nvCxnSpPr>
            <p:spPr>
              <a:xfrm flipV="1">
                <a:off x="9325" y="7212"/>
                <a:ext cx="5597" cy="2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9284" y="5963"/>
                <a:ext cx="5815" cy="1161"/>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3. provides hierarchical security technologies on demand, including IPSec, QKD key distribution, and group secure transmission</a:t>
                </a:r>
                <a:endParaRPr lang="en-US" altLang="zh-CN" sz="1400">
                  <a:solidFill>
                    <a:srgbClr val="000000"/>
                  </a:solidFill>
                  <a:latin typeface="Times New Roman" panose="02020603050405020304"/>
                  <a:ea typeface="宋体" panose="02010600030101010101" pitchFamily="2" charset="-122"/>
                </a:endParaRPr>
              </a:p>
            </p:txBody>
          </p:sp>
        </p:grpSp>
        <p:grpSp>
          <p:nvGrpSpPr>
            <p:cNvPr id="28" name="组合 27"/>
            <p:cNvGrpSpPr/>
            <p:nvPr/>
          </p:nvGrpSpPr>
          <p:grpSpPr>
            <a:xfrm>
              <a:off x="9284" y="5483"/>
              <a:ext cx="379" cy="405"/>
              <a:chOff x="2137" y="7707"/>
              <a:chExt cx="492" cy="358"/>
            </a:xfrm>
          </p:grpSpPr>
          <p:cxnSp>
            <p:nvCxnSpPr>
              <p:cNvPr id="33" name="直接连接符 32"/>
              <p:cNvCxnSpPr/>
              <p:nvPr/>
            </p:nvCxnSpPr>
            <p:spPr>
              <a:xfrm flipV="1">
                <a:off x="2147" y="7707"/>
                <a:ext cx="483" cy="10"/>
              </a:xfrm>
              <a:prstGeom prst="line">
                <a:avLst/>
              </a:prstGeom>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flipH="1">
                <a:off x="2600" y="7707"/>
                <a:ext cx="10" cy="359"/>
              </a:xfrm>
              <a:prstGeom prst="line">
                <a:avLst/>
              </a:prstGeom>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flipH="1">
                <a:off x="2137" y="8035"/>
                <a:ext cx="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42" name="文本框 41"/>
            <p:cNvSpPr txBox="1"/>
            <p:nvPr/>
          </p:nvSpPr>
          <p:spPr>
            <a:xfrm>
              <a:off x="9284" y="7766"/>
              <a:ext cx="5815" cy="822"/>
            </a:xfrm>
            <a:prstGeom prst="rect">
              <a:avLst/>
            </a:prstGeom>
            <a:noFill/>
          </p:spPr>
          <p:txBody>
            <a:bodyPr wrap="square" rtlCol="0">
              <a:spAutoFit/>
            </a:bodyPr>
            <a:p>
              <a:pPr algn="l" defTabSz="266700">
                <a:buClrTx/>
                <a:buSzTx/>
                <a:buFontTx/>
              </a:pPr>
              <a:r>
                <a:rPr lang="en-US" altLang="zh-CN" sz="1400">
                  <a:solidFill>
                    <a:srgbClr val="000000"/>
                  </a:solidFill>
                  <a:latin typeface="Times New Roman" panose="02020603050405020304"/>
                  <a:ea typeface="宋体" panose="02010600030101010101" pitchFamily="2" charset="-122"/>
                </a:rPr>
                <a:t>4. The policies are automatically revoked after the session ends.</a:t>
              </a:r>
              <a:endParaRPr lang="en-US" altLang="zh-CN" sz="1400">
                <a:solidFill>
                  <a:srgbClr val="000000"/>
                </a:solidFill>
                <a:latin typeface="Times New Roman" panose="02020603050405020304"/>
                <a:ea typeface="宋体" panose="02010600030101010101" pitchFamily="2" charset="-122"/>
              </a:endParaRPr>
            </a:p>
          </p:txBody>
        </p:sp>
      </p:grpSp>
      <p:sp>
        <p:nvSpPr>
          <p:cNvPr id="11" name="矩形 10"/>
          <p:cNvSpPr/>
          <p:nvPr/>
        </p:nvSpPr>
        <p:spPr>
          <a:xfrm>
            <a:off x="3063875" y="2469515"/>
            <a:ext cx="1671320" cy="432435"/>
          </a:xfrm>
          <a:prstGeom prst="rect">
            <a:avLst/>
          </a:prstGeom>
          <a:no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Service </a:t>
            </a:r>
            <a:r>
              <a:rPr lang="en-US" altLang="zh-CN">
                <a:solidFill>
                  <a:schemeClr val="tx1"/>
                </a:solidFill>
              </a:rPr>
              <a:t>Agent2</a:t>
            </a:r>
            <a:endParaRPr lang="en-US" altLang="zh-CN">
              <a:solidFill>
                <a:schemeClr val="tx1"/>
              </a:solidFill>
            </a:endParaRPr>
          </a:p>
        </p:txBody>
      </p:sp>
      <p:cxnSp>
        <p:nvCxnSpPr>
          <p:cNvPr id="13" name="直接连接符 12"/>
          <p:cNvCxnSpPr/>
          <p:nvPr/>
        </p:nvCxnSpPr>
        <p:spPr>
          <a:xfrm>
            <a:off x="4030980" y="2884170"/>
            <a:ext cx="8255" cy="69786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a:off x="1573530" y="3529965"/>
            <a:ext cx="2446655" cy="6350"/>
          </a:xfrm>
          <a:prstGeom prst="straightConnector1">
            <a:avLst/>
          </a:prstGeom>
          <a:ln>
            <a:headEnd type="triangle"/>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1573530" y="3007995"/>
            <a:ext cx="2459990" cy="339725"/>
          </a:xfrm>
          <a:prstGeom prst="rect">
            <a:avLst/>
          </a:prstGeom>
        </p:spPr>
        <p:txBody>
          <a:bodyPr wrap="square">
            <a:noAutofit/>
          </a:bodyPr>
          <a:p>
            <a:pPr marL="0" algn="l" defTabSz="266700">
              <a:buClrTx/>
              <a:buSzTx/>
              <a:buFontTx/>
            </a:pPr>
            <a:r>
              <a:rPr lang="en-US" altLang="zh-CN" sz="1400">
                <a:solidFill>
                  <a:srgbClr val="000000"/>
                </a:solidFill>
                <a:latin typeface="Times New Roman" panose="02020603050405020304"/>
                <a:ea typeface="宋体" panose="02010600030101010101" pitchFamily="2" charset="-122"/>
              </a:rPr>
              <a:t>1. </a:t>
            </a:r>
            <a:r>
              <a:rPr lang="en-US" altLang="zh-CN" sz="1400">
                <a:solidFill>
                  <a:srgbClr val="000000"/>
                </a:solidFill>
                <a:latin typeface="Times New Roman" panose="02020603050405020304"/>
                <a:ea typeface="宋体" panose="02010600030101010101" pitchFamily="2" charset="-122"/>
              </a:rPr>
              <a:t>exchange identity credentials and trust domain attributes </a:t>
            </a:r>
            <a:endParaRPr lang="en-US" altLang="zh-CN" sz="1400">
              <a:solidFill>
                <a:srgbClr val="000000"/>
              </a:solidFill>
              <a:latin typeface="Times New Roman" panose="02020603050405020304"/>
              <a:ea typeface="宋体" panose="02010600030101010101" pitchFamily="2" charset="-122"/>
            </a:endParaRPr>
          </a:p>
        </p:txBody>
      </p:sp>
      <p:sp>
        <p:nvSpPr>
          <p:cNvPr id="2" name="文本框 1"/>
          <p:cNvSpPr txBox="1"/>
          <p:nvPr/>
        </p:nvSpPr>
        <p:spPr>
          <a:xfrm>
            <a:off x="1640840" y="3971608"/>
            <a:ext cx="5080000" cy="306705"/>
          </a:xfrm>
          <a:prstGeom prst="rect">
            <a:avLst/>
          </a:prstGeom>
        </p:spPr>
        <p:txBody>
          <a:bodyPr>
            <a:spAutoFit/>
          </a:bodyPr>
          <a:p>
            <a:pPr marL="0" indent="0" algn="just" defTabSz="266700">
              <a:spcBef>
                <a:spcPct val="0"/>
              </a:spcBef>
              <a:spcAft>
                <a:spcPct val="0"/>
              </a:spcAft>
            </a:pPr>
            <a:r>
              <a:rPr lang="en-US" altLang="zh-CN" sz="1400">
                <a:solidFill>
                  <a:srgbClr val="1F2329"/>
                </a:solidFill>
                <a:latin typeface="Times New Roman" panose="02020603050405020304"/>
                <a:ea typeface="宋体" panose="02010600030101010101" pitchFamily="2" charset="-122"/>
              </a:rPr>
              <a:t>(e.g. national cryptographic algorithm encryption)</a:t>
            </a:r>
            <a:endParaRPr lang="en-US" altLang="zh-CN" sz="1400">
              <a:solidFill>
                <a:srgbClr val="1F2329"/>
              </a:solidFill>
              <a:latin typeface="Times New Roman" panose="02020603050405020304"/>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0520" y="388620"/>
            <a:ext cx="8080375" cy="460375"/>
          </a:xfrm>
          <a:prstGeom prst="rect">
            <a:avLst/>
          </a:prstGeom>
        </p:spPr>
        <p:txBody>
          <a:bodyPr wrap="square">
            <a:spAutoFit/>
          </a:bodyPr>
          <a:p>
            <a:pPr algn="l">
              <a:buClrTx/>
              <a:buSzTx/>
              <a:buFontTx/>
            </a:pPr>
            <a:r>
              <a:rPr lang="en-US" altLang="zh-CN" sz="2400" b="1" dirty="0">
                <a:solidFill>
                  <a:srgbClr val="002B60"/>
                </a:solidFill>
                <a:latin typeface="+mj-lt"/>
                <a:ea typeface="Verdana" panose="020B0604030504040204" pitchFamily="34" charset="0"/>
                <a:cs typeface="Calibri Light" panose="020F0302020204030204" pitchFamily="34" charset="0"/>
              </a:rPr>
              <a:t>Agent Policy-aware Network Solution Based on OpenClaw</a:t>
            </a:r>
            <a:endParaRPr lang="en-US" altLang="zh-CN" sz="2400" b="1" dirty="0">
              <a:solidFill>
                <a:srgbClr val="002B60"/>
              </a:solidFill>
              <a:latin typeface="+mj-lt"/>
              <a:ea typeface="Verdana" panose="020B0604030504040204" pitchFamily="34" charset="0"/>
              <a:cs typeface="Calibri Light" panose="020F0302020204030204" pitchFamily="34" charset="0"/>
            </a:endParaRPr>
          </a:p>
        </p:txBody>
      </p:sp>
      <p:sp>
        <p:nvSpPr>
          <p:cNvPr id="14" name="AutoShape 14"/>
          <p:cNvSpPr/>
          <p:nvPr/>
        </p:nvSpPr>
        <p:spPr>
          <a:xfrm>
            <a:off x="350520" y="1192530"/>
            <a:ext cx="5334000" cy="527050"/>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altLang="zh-CN" sz="18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System Architecture Design</a:t>
            </a:r>
            <a:r>
              <a:rPr lang="en-US" sz="18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 (Gateway-Node-Canvas)</a:t>
            </a:r>
            <a:endParaRPr lang="en-US" sz="1800" b="1">
              <a:solidFill>
                <a:srgbClr val="0D1B2A"/>
              </a:solidFill>
              <a:latin typeface="Times New Roman" panose="02020603050405020304" charset="0"/>
              <a:ea typeface="Noto Sans SC" panose="020B0200000000000000" charset="-122"/>
              <a:cs typeface="Times New Roman" panose="02020603050405020304" charset="0"/>
            </a:endParaRPr>
          </a:p>
        </p:txBody>
      </p:sp>
      <p:sp>
        <p:nvSpPr>
          <p:cNvPr id="15" name="AutoShape 15"/>
          <p:cNvSpPr/>
          <p:nvPr/>
        </p:nvSpPr>
        <p:spPr>
          <a:xfrm>
            <a:off x="350520" y="1894205"/>
            <a:ext cx="5334000" cy="1229360"/>
          </a:xfrm>
          <a:prstGeom prst="roundRect">
            <a:avLst>
              <a:gd name="adj" fmla="val 14285"/>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p>
            <a:pPr algn="ctr">
              <a:defRPr/>
            </a:pPr>
            <a:endParaRPr sz="1400"/>
          </a:p>
        </p:txBody>
      </p:sp>
      <p:pic>
        <p:nvPicPr>
          <p:cNvPr id="16" name="Picture 1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61010" y="1946910"/>
            <a:ext cx="304800" cy="421640"/>
          </a:xfrm>
          <a:prstGeom prst="rect">
            <a:avLst/>
          </a:prstGeom>
        </p:spPr>
      </p:pic>
      <p:sp>
        <p:nvSpPr>
          <p:cNvPr id="17" name="AutoShape 17"/>
          <p:cNvSpPr/>
          <p:nvPr/>
        </p:nvSpPr>
        <p:spPr>
          <a:xfrm>
            <a:off x="883920" y="1915160"/>
            <a:ext cx="4572000" cy="42164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altLang="zh-CN" sz="16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Sensing Layer</a:t>
            </a:r>
            <a:r>
              <a:rPr lang="en-US" sz="16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 ——OpenClaw Nodes</a:t>
            </a:r>
            <a:endParaRPr lang="en-US" sz="16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18" name="AutoShape 18"/>
          <p:cNvSpPr/>
          <p:nvPr/>
        </p:nvSpPr>
        <p:spPr>
          <a:xfrm>
            <a:off x="546100" y="2419985"/>
            <a:ext cx="5234305" cy="52705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altLang="zh-CN" sz="1400">
                <a:latin typeface="微软雅黑" panose="020B0503020204020204" charset="-122"/>
                <a:ea typeface="微软雅黑" panose="020B0503020204020204" charset="-122"/>
              </a:rPr>
              <a:t>Equipped with Network Sensor Skills to collect and upload real-time metrics such as latency, jitter, and packet loss</a:t>
            </a:r>
            <a:endParaRPr lang="en-US" altLang="zh-CN" sz="1400">
              <a:latin typeface="微软雅黑" panose="020B0503020204020204" charset="-122"/>
              <a:ea typeface="微软雅黑" panose="020B0503020204020204" charset="-122"/>
            </a:endParaRPr>
          </a:p>
        </p:txBody>
      </p:sp>
      <p:sp>
        <p:nvSpPr>
          <p:cNvPr id="19" name="AutoShape 19"/>
          <p:cNvSpPr/>
          <p:nvPr/>
        </p:nvSpPr>
        <p:spPr>
          <a:xfrm>
            <a:off x="350520" y="3298825"/>
            <a:ext cx="5334000" cy="1362710"/>
          </a:xfrm>
          <a:prstGeom prst="roundRect">
            <a:avLst>
              <a:gd name="adj" fmla="val 14285"/>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p>
            <a:pPr algn="ctr">
              <a:defRPr/>
            </a:pPr>
            <a:endParaRPr sz="1400"/>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040" y="3326765"/>
            <a:ext cx="304800" cy="421640"/>
          </a:xfrm>
          <a:prstGeom prst="rect">
            <a:avLst/>
          </a:prstGeom>
        </p:spPr>
      </p:pic>
      <p:sp>
        <p:nvSpPr>
          <p:cNvPr id="21" name="AutoShape 21"/>
          <p:cNvSpPr/>
          <p:nvPr/>
        </p:nvSpPr>
        <p:spPr>
          <a:xfrm>
            <a:off x="883920" y="3281045"/>
            <a:ext cx="4572000" cy="421640"/>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altLang="zh-CN" sz="16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Decision Layer</a:t>
            </a:r>
            <a:r>
              <a:rPr lang="en-US" altLang="zh-CN" sz="1600" b="1">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a:t>
            </a:r>
            <a:r>
              <a:rPr lang="en-US" altLang="zh-CN" sz="16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OpenClaw Gateway</a:t>
            </a:r>
            <a:endParaRPr lang="en-US" altLang="zh-CN" sz="1600" b="1">
              <a:solidFill>
                <a:srgbClr val="0D1B2A"/>
              </a:solidFill>
              <a:latin typeface="Times New Roman" panose="02020603050405020304" charset="0"/>
              <a:ea typeface="Noto Sans SC" panose="020B0200000000000000" charset="-122"/>
              <a:cs typeface="Times New Roman" panose="02020603050405020304" charset="0"/>
            </a:endParaRPr>
          </a:p>
        </p:txBody>
      </p:sp>
      <p:sp>
        <p:nvSpPr>
          <p:cNvPr id="22" name="AutoShape 22"/>
          <p:cNvSpPr/>
          <p:nvPr/>
        </p:nvSpPr>
        <p:spPr>
          <a:xfrm>
            <a:off x="558165" y="3791585"/>
            <a:ext cx="5059045" cy="747395"/>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altLang="zh-CN" sz="1400">
                <a:latin typeface="微软雅黑" panose="020B0503020204020204" charset="-122"/>
                <a:ea typeface="微软雅黑" panose="020B0503020204020204" charset="-122"/>
              </a:rPr>
              <a:t>Aggregates data, Package network capabilities as standard OpenClaw Skills to be invoked by the strategy engine, </a:t>
            </a:r>
            <a:r>
              <a:rPr lang="en-US" altLang="zh-CN" sz="1400">
                <a:latin typeface="微软雅黑" panose="020B0503020204020204" charset="-122"/>
                <a:ea typeface="微软雅黑" panose="020B0503020204020204" charset="-122"/>
                <a:sym typeface="+mn-ea"/>
              </a:rPr>
              <a:t> and makes decisions via policy engines</a:t>
            </a:r>
            <a:endParaRPr lang="en-US" altLang="zh-CN" sz="1400">
              <a:latin typeface="微软雅黑" panose="020B0503020204020204" charset="-122"/>
              <a:ea typeface="微软雅黑" panose="020B0503020204020204" charset="-122"/>
            </a:endParaRPr>
          </a:p>
        </p:txBody>
      </p:sp>
      <p:sp>
        <p:nvSpPr>
          <p:cNvPr id="23" name="AutoShape 23"/>
          <p:cNvSpPr/>
          <p:nvPr/>
        </p:nvSpPr>
        <p:spPr>
          <a:xfrm>
            <a:off x="361950" y="4874895"/>
            <a:ext cx="5334000" cy="1229360"/>
          </a:xfrm>
          <a:prstGeom prst="roundRect">
            <a:avLst>
              <a:gd name="adj" fmla="val 14285"/>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p>
            <a:pPr algn="ctr">
              <a:defRPr/>
            </a:pPr>
            <a:endParaRPr sz="1400"/>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2440" y="5016500"/>
            <a:ext cx="304800" cy="421640"/>
          </a:xfrm>
          <a:prstGeom prst="rect">
            <a:avLst/>
          </a:prstGeom>
        </p:spPr>
      </p:pic>
      <p:sp>
        <p:nvSpPr>
          <p:cNvPr id="25" name="AutoShape 25"/>
          <p:cNvSpPr/>
          <p:nvPr/>
        </p:nvSpPr>
        <p:spPr>
          <a:xfrm>
            <a:off x="883920" y="4967605"/>
            <a:ext cx="4800600" cy="421640"/>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altLang="zh-CN" sz="1600" b="1" i="0" u="none" strike="noStrike">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Execution Layer</a:t>
            </a:r>
            <a:r>
              <a:rPr lang="en-US" altLang="zh-CN" sz="1600" b="1">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a:t>
            </a:r>
            <a:r>
              <a:rPr lang="en-US" altLang="zh-CN" sz="1600" b="1">
                <a:solidFill>
                  <a:srgbClr val="0D1B2A"/>
                </a:solidFill>
                <a:latin typeface="Times New Roman" panose="02020603050405020304" charset="0"/>
                <a:ea typeface="Noto Sans SC" panose="020B0200000000000000" charset="-122"/>
                <a:cs typeface="Times New Roman" panose="02020603050405020304" charset="0"/>
                <a:sym typeface="Noto Sans SC" panose="020B0200000000000000" charset="-122"/>
              </a:rPr>
              <a:t>Invoking Network APIs </a:t>
            </a:r>
            <a:endParaRPr lang="en-US" altLang="zh-CN" sz="1600" b="1">
              <a:solidFill>
                <a:srgbClr val="0D1B2A"/>
              </a:solidFill>
              <a:latin typeface="Times New Roman" panose="02020603050405020304" charset="0"/>
              <a:ea typeface="Noto Sans SC" panose="020B0200000000000000" charset="-122"/>
              <a:cs typeface="Times New Roman" panose="02020603050405020304" charset="0"/>
            </a:endParaRPr>
          </a:p>
        </p:txBody>
      </p:sp>
      <p:sp>
        <p:nvSpPr>
          <p:cNvPr id="26" name="AutoShape 26"/>
          <p:cNvSpPr/>
          <p:nvPr/>
        </p:nvSpPr>
        <p:spPr>
          <a:xfrm>
            <a:off x="571500" y="5483225"/>
            <a:ext cx="5396230" cy="527050"/>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altLang="zh-CN" sz="1400" b="0" i="0" u="none" strike="noStrike">
                <a:latin typeface="微软雅黑" panose="020B0503020204020204" charset="-122"/>
                <a:ea typeface="微软雅黑" panose="020B0503020204020204" charset="-122"/>
                <a:sym typeface="Noto Sans SC" panose="020B0200000000000000" charset="-122"/>
              </a:rPr>
              <a:t>Invoke standardized network capability APIs to act on the </a:t>
            </a:r>
            <a:r>
              <a:rPr lang="en-US" altLang="zh-CN" sz="1400" b="0" i="0" u="none" strike="noStrike">
                <a:latin typeface="微软雅黑" panose="020B0503020204020204" charset="-122"/>
                <a:ea typeface="微软雅黑" panose="020B0503020204020204" charset="-122"/>
                <a:sym typeface="Noto Sans SC" panose="020B0200000000000000" charset="-122"/>
              </a:rPr>
              <a:t>actual environment and complete closed-loop optimization</a:t>
            </a:r>
            <a:endParaRPr lang="en-US" altLang="zh-CN" sz="1400">
              <a:latin typeface="微软雅黑" panose="020B0503020204020204" charset="-122"/>
              <a:ea typeface="微软雅黑" panose="020B0503020204020204" charset="-122"/>
            </a:endParaRPr>
          </a:p>
        </p:txBody>
      </p:sp>
      <p:sp>
        <p:nvSpPr>
          <p:cNvPr id="27" name="AutoShape 27"/>
          <p:cNvSpPr/>
          <p:nvPr/>
        </p:nvSpPr>
        <p:spPr>
          <a:xfrm>
            <a:off x="6046470" y="1214755"/>
            <a:ext cx="5334000" cy="565785"/>
          </a:xfrm>
          <a:prstGeom prst="rect">
            <a:avLst/>
          </a:prstGeom>
          <a:noFill/>
          <a:ln w="12700" cap="flat" cmpd="sng">
            <a:noFill/>
            <a:prstDash val="solid"/>
            <a:round/>
          </a:ln>
        </p:spPr>
        <p:txBody>
          <a:bodyPr vert="horz" wrap="square" lIns="0" tIns="0" rIns="0" bIns="0" rtlCol="0" anchor="ctr" anchorCtr="0"/>
          <a:p>
            <a:pPr indent="0" algn="l">
              <a:lnSpc>
                <a:spcPct val="125000"/>
              </a:lnSpc>
              <a:defRPr/>
            </a:pPr>
            <a:endParaRPr lang="en-US" sz="1100"/>
          </a:p>
        </p:txBody>
      </p:sp>
      <p:grpSp>
        <p:nvGrpSpPr>
          <p:cNvPr id="9" name="组合 8"/>
          <p:cNvGrpSpPr/>
          <p:nvPr/>
        </p:nvGrpSpPr>
        <p:grpSpPr>
          <a:xfrm>
            <a:off x="5956300" y="1875155"/>
            <a:ext cx="5774055" cy="4229100"/>
            <a:chOff x="9380" y="2953"/>
            <a:chExt cx="9093" cy="6455"/>
          </a:xfrm>
        </p:grpSpPr>
        <p:sp>
          <p:nvSpPr>
            <p:cNvPr id="28" name="AutoShape 28"/>
            <p:cNvSpPr/>
            <p:nvPr/>
          </p:nvSpPr>
          <p:spPr>
            <a:xfrm>
              <a:off x="9380" y="2953"/>
              <a:ext cx="9093" cy="1486"/>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p>
              <a:pPr algn="ctr">
                <a:defRPr/>
              </a:pPr>
              <a:endParaRPr sz="1400"/>
            </a:p>
          </p:txBody>
        </p:sp>
        <p:pic>
          <p:nvPicPr>
            <p:cNvPr id="29" name="Picture 2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42" y="3387"/>
              <a:ext cx="480" cy="606"/>
            </a:xfrm>
            <a:prstGeom prst="rect">
              <a:avLst/>
            </a:prstGeom>
          </p:spPr>
        </p:pic>
        <p:sp>
          <p:nvSpPr>
            <p:cNvPr id="30" name="AutoShape 30"/>
            <p:cNvSpPr/>
            <p:nvPr/>
          </p:nvSpPr>
          <p:spPr>
            <a:xfrm>
              <a:off x="10241" y="3250"/>
              <a:ext cx="8232" cy="891"/>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altLang="zh-CN" sz="1600" b="1">
                  <a:latin typeface="Times New Roman" panose="02020603050405020304" charset="0"/>
                  <a:ea typeface="微软雅黑" panose="020B0503020204020204" charset="-122"/>
                  <a:cs typeface="Times New Roman" panose="02020603050405020304" charset="0"/>
                </a:rPr>
                <a:t>Data Collection and Standardization</a:t>
              </a:r>
              <a:r>
                <a:rPr lang="zh-CN" altLang="en-US" sz="1600" b="1">
                  <a:latin typeface="Times New Roman" panose="02020603050405020304" charset="0"/>
                  <a:ea typeface="微软雅黑" panose="020B0503020204020204" charset="-122"/>
                  <a:cs typeface="Times New Roman" panose="02020603050405020304" charset="0"/>
                </a:rPr>
                <a:t>：</a:t>
              </a:r>
              <a:endParaRPr lang="zh-CN" altLang="en-US" sz="1600">
                <a:latin typeface="Times New Roman" panose="02020603050405020304" charset="0"/>
                <a:ea typeface="微软雅黑" panose="020B0503020204020204" charset="-122"/>
                <a:cs typeface="Times New Roman" panose="02020603050405020304" charset="0"/>
              </a:endParaRPr>
            </a:p>
            <a:p>
              <a:pPr algn="l" fontAlgn="auto">
                <a:lnSpc>
                  <a:spcPct val="125000"/>
                </a:lnSpc>
                <a:spcBef>
                  <a:spcPts val="600"/>
                </a:spcBef>
                <a:buClrTx/>
                <a:buSzTx/>
                <a:buFontTx/>
                <a:defRPr/>
              </a:pPr>
              <a:r>
                <a:rPr lang="en-US" altLang="zh-CN" sz="1400">
                  <a:latin typeface="微软雅黑" panose="020B0503020204020204" charset="-122"/>
                  <a:ea typeface="微软雅黑" panose="020B0503020204020204" charset="-122"/>
                </a:rPr>
                <a:t>Develop acquisition metrics and define a unified data format</a:t>
              </a:r>
              <a:endParaRPr lang="en-US" altLang="zh-CN" sz="1400">
                <a:latin typeface="微软雅黑" panose="020B0503020204020204" charset="-122"/>
                <a:ea typeface="微软雅黑" panose="020B0503020204020204" charset="-122"/>
              </a:endParaRPr>
            </a:p>
          </p:txBody>
        </p:sp>
        <p:sp>
          <p:nvSpPr>
            <p:cNvPr id="31" name="AutoShape 31"/>
            <p:cNvSpPr/>
            <p:nvPr/>
          </p:nvSpPr>
          <p:spPr>
            <a:xfrm>
              <a:off x="9380" y="4587"/>
              <a:ext cx="9093" cy="1486"/>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p>
              <a:pPr algn="ctr">
                <a:defRPr/>
              </a:pPr>
              <a:endParaRPr sz="1400"/>
            </a:p>
          </p:txBody>
        </p:sp>
        <p:pic>
          <p:nvPicPr>
            <p:cNvPr id="32" name="Picture 3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42" y="4914"/>
              <a:ext cx="480" cy="713"/>
            </a:xfrm>
            <a:prstGeom prst="rect">
              <a:avLst/>
            </a:prstGeom>
          </p:spPr>
        </p:pic>
        <p:sp>
          <p:nvSpPr>
            <p:cNvPr id="33" name="AutoShape 33"/>
            <p:cNvSpPr/>
            <p:nvPr/>
          </p:nvSpPr>
          <p:spPr>
            <a:xfrm>
              <a:off x="10242" y="4904"/>
              <a:ext cx="8230" cy="891"/>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altLang="zh-CN" sz="1600" b="1" i="0" u="none" strike="noStrike">
                  <a:latin typeface="Times New Roman" panose="02020603050405020304" charset="0"/>
                  <a:ea typeface="微软雅黑" panose="020B0503020204020204" charset="-122"/>
                  <a:cs typeface="Times New Roman" panose="02020603050405020304" charset="0"/>
                  <a:sym typeface="Noto Sans SC" panose="020B0200000000000000" charset="-122"/>
                </a:rPr>
                <a:t>Establish Basic Sensing and Feedback：</a:t>
              </a:r>
              <a:endParaRPr lang="en-US" altLang="zh-CN" sz="1600" b="1" i="0" u="none" strike="noStrike">
                <a:latin typeface="Times New Roman" panose="02020603050405020304" charset="0"/>
                <a:ea typeface="微软雅黑" panose="020B0503020204020204" charset="-122"/>
                <a:cs typeface="Times New Roman" panose="02020603050405020304" charset="0"/>
                <a:sym typeface="Noto Sans SC" panose="020B0200000000000000" charset="-122"/>
              </a:endParaRPr>
            </a:p>
            <a:p>
              <a:pPr algn="l">
                <a:lnSpc>
                  <a:spcPct val="125000"/>
                </a:lnSpc>
                <a:spcBef>
                  <a:spcPts val="600"/>
                </a:spcBef>
                <a:buClrTx/>
                <a:buSzTx/>
                <a:buFontTx/>
                <a:defRPr/>
              </a:pPr>
              <a:r>
                <a:rPr lang="en-US" altLang="zh-CN" sz="1400">
                  <a:latin typeface="微软雅黑" panose="020B0503020204020204" charset="-122"/>
                  <a:ea typeface="微软雅黑" panose="020B0503020204020204" charset="-122"/>
                </a:rPr>
                <a:t>Enable the Agent to perceive network status and realize real-time reporting.</a:t>
              </a:r>
              <a:endParaRPr lang="en-US" altLang="zh-CN" sz="1400">
                <a:latin typeface="微软雅黑" panose="020B0503020204020204" charset="-122"/>
                <a:ea typeface="微软雅黑" panose="020B0503020204020204" charset="-122"/>
              </a:endParaRPr>
            </a:p>
          </p:txBody>
        </p:sp>
        <p:sp>
          <p:nvSpPr>
            <p:cNvPr id="34" name="AutoShape 34"/>
            <p:cNvSpPr/>
            <p:nvPr/>
          </p:nvSpPr>
          <p:spPr>
            <a:xfrm>
              <a:off x="9380" y="6222"/>
              <a:ext cx="9093" cy="1486"/>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p>
              <a:pPr algn="ctr">
                <a:defRPr/>
              </a:pPr>
              <a:endParaRPr sz="1400"/>
            </a:p>
          </p:txBody>
        </p:sp>
        <p:pic>
          <p:nvPicPr>
            <p:cNvPr id="35" name="Picture 3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542" y="6725"/>
              <a:ext cx="480" cy="537"/>
            </a:xfrm>
            <a:prstGeom prst="rect">
              <a:avLst/>
            </a:prstGeom>
          </p:spPr>
        </p:pic>
        <p:sp>
          <p:nvSpPr>
            <p:cNvPr id="36" name="AutoShape 36"/>
            <p:cNvSpPr/>
            <p:nvPr/>
          </p:nvSpPr>
          <p:spPr>
            <a:xfrm>
              <a:off x="10316" y="6519"/>
              <a:ext cx="7926" cy="891"/>
            </a:xfrm>
            <a:prstGeom prst="rect">
              <a:avLst/>
            </a:prstGeom>
            <a:noFill/>
            <a:ln w="12700" cap="flat" cmpd="sng">
              <a:noFill/>
              <a:prstDash val="solid"/>
              <a:round/>
            </a:ln>
          </p:spPr>
          <p:txBody>
            <a:bodyPr vert="horz" wrap="square" lIns="0" tIns="0" rIns="0" bIns="0" rtlCol="0" anchor="ctr" anchorCtr="0"/>
            <a:p>
              <a:pPr algn="l">
                <a:lnSpc>
                  <a:spcPct val="125000"/>
                </a:lnSpc>
                <a:buClrTx/>
                <a:buSzTx/>
                <a:buFontTx/>
                <a:defRPr/>
              </a:pPr>
              <a:r>
                <a:rPr lang="en-US" altLang="zh-CN" sz="1600" b="1" i="0" u="none" strike="noStrike">
                  <a:latin typeface="Times New Roman" panose="02020603050405020304" charset="0"/>
                  <a:ea typeface="微软雅黑" panose="020B0503020204020204" charset="-122"/>
                  <a:cs typeface="Times New Roman" panose="02020603050405020304" charset="0"/>
                  <a:sym typeface="Noto Sans SC" panose="020B0200000000000000" charset="-122"/>
                </a:rPr>
                <a:t>Achieve Closed-Loop Automation</a:t>
              </a:r>
              <a:r>
                <a:rPr lang="zh-CN" altLang="en-US" sz="1600" b="1" i="0" u="none" strike="noStrike">
                  <a:latin typeface="Times New Roman" panose="02020603050405020304" charset="0"/>
                  <a:ea typeface="微软雅黑" panose="020B0503020204020204" charset="-122"/>
                  <a:cs typeface="Times New Roman" panose="02020603050405020304" charset="0"/>
                  <a:sym typeface="Noto Sans SC" panose="020B0200000000000000" charset="-122"/>
                </a:rPr>
                <a:t>：</a:t>
              </a:r>
              <a:endParaRPr lang="en-US" altLang="zh-CN" sz="1600" b="1" i="0" u="none" strike="noStrike">
                <a:latin typeface="Times New Roman" panose="02020603050405020304" charset="0"/>
                <a:ea typeface="微软雅黑" panose="020B0503020204020204" charset="-122"/>
                <a:cs typeface="Times New Roman" panose="02020603050405020304" charset="0"/>
                <a:sym typeface="Noto Sans SC" panose="020B0200000000000000" charset="-122"/>
              </a:endParaRPr>
            </a:p>
            <a:p>
              <a:pPr algn="l">
                <a:lnSpc>
                  <a:spcPct val="125000"/>
                </a:lnSpc>
                <a:spcBef>
                  <a:spcPts val="600"/>
                </a:spcBef>
                <a:buClrTx/>
                <a:buSzTx/>
                <a:buFontTx/>
                <a:defRPr/>
              </a:pPr>
              <a:r>
                <a:rPr lang="en-US" altLang="zh-CN" sz="1400">
                  <a:latin typeface="微软雅黑" panose="020B0503020204020204" charset="-122"/>
                  <a:ea typeface="微软雅黑" panose="020B0503020204020204" charset="-122"/>
                </a:rPr>
                <a:t>Complete the automation loop from sensing to execu</a:t>
              </a:r>
              <a:r>
                <a:rPr lang="en-US" altLang="zh-CN" sz="1400">
                  <a:latin typeface="微软雅黑" panose="020B0503020204020204" charset="-122"/>
                  <a:ea typeface="微软雅黑" panose="020B0503020204020204" charset="-122"/>
                </a:rPr>
                <a:t>te for typical scenarios</a:t>
              </a:r>
              <a:endParaRPr lang="en-US" altLang="zh-CN" sz="1400">
                <a:latin typeface="微软雅黑" panose="020B0503020204020204" charset="-122"/>
                <a:ea typeface="微软雅黑" panose="020B0503020204020204" charset="-122"/>
              </a:endParaRPr>
            </a:p>
          </p:txBody>
        </p:sp>
        <p:sp>
          <p:nvSpPr>
            <p:cNvPr id="37" name="AutoShape 37"/>
            <p:cNvSpPr/>
            <p:nvPr/>
          </p:nvSpPr>
          <p:spPr>
            <a:xfrm>
              <a:off x="9380" y="7922"/>
              <a:ext cx="9093" cy="1486"/>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p>
              <a:pPr algn="ctr">
                <a:defRPr/>
              </a:pPr>
              <a:endParaRPr sz="1400"/>
            </a:p>
          </p:txBody>
        </p:sp>
        <p:pic>
          <p:nvPicPr>
            <p:cNvPr id="38" name="Picture 3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542" y="8397"/>
              <a:ext cx="480" cy="507"/>
            </a:xfrm>
            <a:prstGeom prst="rect">
              <a:avLst/>
            </a:prstGeom>
          </p:spPr>
        </p:pic>
        <p:sp>
          <p:nvSpPr>
            <p:cNvPr id="39" name="AutoShape 39"/>
            <p:cNvSpPr/>
            <p:nvPr/>
          </p:nvSpPr>
          <p:spPr>
            <a:xfrm>
              <a:off x="10382" y="8196"/>
              <a:ext cx="7579" cy="891"/>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altLang="zh-CN"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Move To Predictive Collaboration</a:t>
              </a: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l">
                <a:lnSpc>
                  <a:spcPct val="125000"/>
                </a:lnSpc>
                <a:spcBef>
                  <a:spcPts val="600"/>
                </a:spcBef>
                <a:buClrTx/>
                <a:buSzTx/>
                <a:buFontTx/>
                <a:defRPr/>
              </a:pPr>
              <a:r>
                <a:rPr lang="en-US" altLang="zh-CN" sz="1400">
                  <a:latin typeface="微软雅黑" panose="020B0503020204020204" charset="-122"/>
                  <a:ea typeface="微软雅黑" panose="020B0503020204020204" charset="-122"/>
                </a:rPr>
                <a:t>Introduce </a:t>
              </a:r>
              <a:r>
                <a:rPr lang="en-US" altLang="zh-CN" sz="1400">
                  <a:latin typeface="微软雅黑" panose="020B0503020204020204" charset="-122"/>
                  <a:ea typeface="微软雅黑" panose="020B0503020204020204" charset="-122"/>
                </a:rPr>
                <a:t>ML/RL to evolve from reactive response to proactive prediction.</a:t>
              </a:r>
              <a:endParaRPr lang="en-US" altLang="zh-CN" sz="1400">
                <a:latin typeface="微软雅黑" panose="020B0503020204020204" charset="-122"/>
                <a:ea typeface="微软雅黑" panose="020B0503020204020204" charset="-122"/>
              </a:endParaRPr>
            </a:p>
          </p:txBody>
        </p:sp>
      </p:grpSp>
      <p:sp>
        <p:nvSpPr>
          <p:cNvPr id="8" name="文本框 7"/>
          <p:cNvSpPr txBox="1"/>
          <p:nvPr/>
        </p:nvSpPr>
        <p:spPr>
          <a:xfrm>
            <a:off x="6158230" y="1268730"/>
            <a:ext cx="5246370" cy="375285"/>
          </a:xfrm>
          <a:prstGeom prst="rect">
            <a:avLst/>
          </a:prstGeom>
          <a:noFill/>
        </p:spPr>
        <p:txBody>
          <a:bodyPr wrap="square" rtlCol="0" anchor="t">
            <a:noAutofit/>
          </a:bodyPr>
          <a:p>
            <a:r>
              <a:rPr lang="en-US" altLang="zh-CN" sz="2000" b="1">
                <a:latin typeface="Times New Roman" panose="02020603050405020304" charset="0"/>
                <a:cs typeface="Times New Roman" panose="02020603050405020304" charset="0"/>
              </a:rPr>
              <a:t>Key Implementation Paths</a:t>
            </a:r>
            <a:endParaRPr lang="en-US" altLang="zh-CN" sz="2000" b="1">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595847" y="3791666"/>
            <a:ext cx="3626795" cy="830997"/>
          </a:xfrm>
          <a:prstGeom prst="rect">
            <a:avLst/>
          </a:prstGeom>
          <a:noFill/>
        </p:spPr>
        <p:txBody>
          <a:bodyPr wrap="square" rtlCol="0">
            <a:spAutoFit/>
          </a:bodyPr>
          <a:p>
            <a:r>
              <a:rPr lang="en-US" altLang="zh-CN" sz="4800" b="1" i="1" dirty="0">
                <a:latin typeface="Arial" panose="020B0604020202020204" pitchFamily="34" charset="0"/>
                <a:cs typeface="Arial" panose="020B0604020202020204" pitchFamily="34" charset="0"/>
              </a:rPr>
              <a:t>Thank You!</a:t>
            </a:r>
            <a:endParaRPr lang="zh-CN" altLang="en-US" sz="4800" b="1" i="1" dirty="0">
              <a:latin typeface="Arial" panose="020B0604020202020204" pitchFamily="34" charset="0"/>
              <a:cs typeface="Arial" panose="020B0604020202020204" pitchFamily="34" charset="0"/>
            </a:endParaRPr>
          </a:p>
        </p:txBody>
      </p:sp>
      <p:sp>
        <p:nvSpPr>
          <p:cNvPr id="5" name="Rectangle 1"/>
          <p:cNvSpPr>
            <a:spLocks noGrp="1" noChangeArrowheads="1"/>
          </p:cNvSpPr>
          <p:nvPr>
            <p:ph type="title"/>
          </p:nvPr>
        </p:nvSpPr>
        <p:spPr bwMode="auto">
          <a:xfrm>
            <a:off x="412315" y="474438"/>
            <a:ext cx="1754505" cy="4305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p>
            <a:pPr algn="l">
              <a:lnSpc>
                <a:spcPct val="100000"/>
              </a:lnSpc>
              <a:buClrTx/>
              <a:buSzTx/>
              <a:buFontTx/>
            </a:pPr>
            <a:r>
              <a:rPr lang="en-US" altLang="zh-CN" sz="2800" b="1" dirty="0">
                <a:solidFill>
                  <a:srgbClr val="002B60"/>
                </a:solidFill>
                <a:ea typeface="Verdana" panose="020B0604030504040204" pitchFamily="34" charset="0"/>
                <a:cs typeface="Calibri Light" panose="020F0302020204030204" pitchFamily="34" charset="0"/>
              </a:rPr>
              <a:t>Next Steps</a:t>
            </a:r>
            <a:endParaRPr lang="en-US" altLang="zh-CN" sz="2800" b="1" dirty="0">
              <a:solidFill>
                <a:srgbClr val="002B60"/>
              </a:solidFill>
              <a:ea typeface="Verdana" panose="020B0604030504040204" pitchFamily="34" charset="0"/>
              <a:cs typeface="Calibri Light" panose="020F0302020204030204" pitchFamily="34" charset="0"/>
            </a:endParaRPr>
          </a:p>
        </p:txBody>
      </p:sp>
      <p:sp>
        <p:nvSpPr>
          <p:cNvPr id="6" name="内容占位符 2"/>
          <p:cNvSpPr>
            <a:spLocks noGrp="1"/>
          </p:cNvSpPr>
          <p:nvPr>
            <p:ph idx="1"/>
          </p:nvPr>
        </p:nvSpPr>
        <p:spPr>
          <a:xfrm>
            <a:off x="900829" y="1337110"/>
            <a:ext cx="10347543" cy="4412337"/>
          </a:xfrm>
          <a:ln>
            <a:noFill/>
          </a:ln>
        </p:spPr>
        <p:txBody>
          <a:bodyPr>
            <a:noAutofit/>
          </a:bodyPr>
          <a:p>
            <a:pPr marL="457200" indent="-457200">
              <a:spcBef>
                <a:spcPts val="1200"/>
              </a:spcBef>
              <a:buFont typeface="Wingdings" panose="05000000000000000000" pitchFamily="2" charset="2"/>
              <a:buChar char="u"/>
            </a:pPr>
            <a:endParaRPr lang="en-US" altLang="zh-CN" sz="2000" dirty="0">
              <a:latin typeface="Arial Unicode MS" panose="020B0604020202020204" charset="-122"/>
              <a:ea typeface="Arial Unicode MS" panose="020B0604020202020204" charset="-122"/>
              <a:cs typeface="Arial Unicode MS" panose="020B0604020202020204" charset="-122"/>
            </a:endParaRPr>
          </a:p>
          <a:p>
            <a:pPr>
              <a:lnSpc>
                <a:spcPct val="130000"/>
              </a:lnSpc>
              <a:spcBef>
                <a:spcPts val="1400"/>
              </a:spcBef>
              <a:spcAft>
                <a:spcPts val="1400"/>
              </a:spcAft>
            </a:pPr>
            <a:r>
              <a:rPr lang="en-US" altLang="zh-CN" sz="2000" b="1" dirty="0">
                <a:solidFill>
                  <a:srgbClr val="000000"/>
                </a:solidFill>
                <a:latin typeface="Times New Roman" panose="02020603050405020304" charset="0"/>
                <a:cs typeface="Times New Roman" panose="02020603050405020304" charset="0"/>
              </a:rPr>
              <a:t>Request more review and feedback to improve the draft</a:t>
            </a:r>
            <a:r>
              <a:rPr lang="en-US" altLang="zh-CN" sz="2000" dirty="0">
                <a:latin typeface="Arial" panose="020B0604020202020204" pitchFamily="34" charset="0"/>
                <a:cs typeface="Arial" panose="020B0604020202020204" pitchFamily="34" charset="0"/>
              </a:rPr>
              <a:t>.</a:t>
            </a:r>
            <a:endParaRPr lang="en-US" altLang="zh-CN" sz="2000" dirty="0">
              <a:latin typeface="Arial" panose="020B0604020202020204" pitchFamily="34" charset="0"/>
              <a:cs typeface="Arial" panose="020B0604020202020204" pitchFamily="34" charset="0"/>
            </a:endParaRPr>
          </a:p>
          <a:p>
            <a:pPr>
              <a:lnSpc>
                <a:spcPct val="130000"/>
              </a:lnSpc>
              <a:spcBef>
                <a:spcPts val="1400"/>
              </a:spcBef>
              <a:spcAft>
                <a:spcPts val="1400"/>
              </a:spcAft>
            </a:pPr>
            <a:r>
              <a:rPr lang="en-US" altLang="zh-CN" sz="2000" b="1" dirty="0">
                <a:solidFill>
                  <a:srgbClr val="000000"/>
                </a:solidFill>
                <a:latin typeface="Times New Roman" panose="02020603050405020304" charset="0"/>
                <a:cs typeface="Times New Roman" panose="02020603050405020304" charset="0"/>
              </a:rPr>
              <a:t>Any comments </a:t>
            </a:r>
            <a:r>
              <a:rPr lang="en-US" altLang="zh-CN" sz="2000" b="1" dirty="0">
                <a:solidFill>
                  <a:srgbClr val="000000"/>
                </a:solidFill>
                <a:latin typeface="Times New Roman" panose="02020603050405020304" charset="0"/>
                <a:cs typeface="Times New Roman" panose="02020603050405020304" charset="0"/>
              </a:rPr>
              <a:t>are welcome.</a:t>
            </a:r>
            <a:endParaRPr lang="en-US" altLang="zh-CN" sz="2000" b="1" dirty="0">
              <a:solidFill>
                <a:srgbClr val="000000"/>
              </a:solidFill>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508000"/>
            <a:ext cx="109728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基于OpenClaw的智能体感知网络解决方案</a:t>
            </a:r>
            <a:endParaRPr lang="en-US" sz="1100"/>
          </a:p>
        </p:txBody>
      </p:sp>
      <p:sp>
        <p:nvSpPr>
          <p:cNvPr id="3" name="AutoShape 3"/>
          <p:cNvSpPr/>
          <p:nvPr/>
        </p:nvSpPr>
        <p:spPr>
          <a:xfrm>
            <a:off x="609600" y="1397000"/>
            <a:ext cx="10972800" cy="1270000"/>
          </a:xfrm>
          <a:prstGeom prst="roundRect">
            <a:avLst>
              <a:gd name="adj" fmla="val 10000"/>
            </a:avLst>
          </a:prstGeom>
          <a:solidFill>
            <a:srgbClr val="415A77">
              <a:alpha val="10000"/>
            </a:srgbClr>
          </a:solidFill>
          <a:ln cap="flat" cmpd="sng">
            <a:solidFill>
              <a:srgbClr val="2A425E">
                <a:alpha val="10000"/>
              </a:srgbClr>
            </a:solidFill>
            <a:prstDash val="solid"/>
            <a:round/>
          </a:ln>
        </p:spPr>
        <p:txBody>
          <a:bodyPr vert="horz" wrap="square" lIns="63500" tIns="63500" rIns="63500" bIns="63500" rtlCol="0" anchor="ctr"/>
          <a:lstStyle/>
          <a:p>
            <a:pPr algn="ctr">
              <a:defRPr/>
            </a:pPr>
            <a:endParaRPr sz="1400"/>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1587500"/>
            <a:ext cx="406400" cy="406400"/>
          </a:xfrm>
          <a:prstGeom prst="rect">
            <a:avLst/>
          </a:prstGeom>
        </p:spPr>
      </p:pic>
      <p:sp>
        <p:nvSpPr>
          <p:cNvPr id="5" name="AutoShape 5"/>
          <p:cNvSpPr/>
          <p:nvPr/>
        </p:nvSpPr>
        <p:spPr>
          <a:xfrm>
            <a:off x="1397000" y="1587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感知-决策-执行闭环</a:t>
            </a:r>
            <a:endParaRPr lang="en-US" sz="1100"/>
          </a:p>
        </p:txBody>
      </p:sp>
      <p:sp>
        <p:nvSpPr>
          <p:cNvPr id="6" name="AutoShape 6"/>
          <p:cNvSpPr/>
          <p:nvPr/>
        </p:nvSpPr>
        <p:spPr>
          <a:xfrm>
            <a:off x="1397000" y="1905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持续感知网络状态，实时分析并执行最优调整策略。</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587500"/>
            <a:ext cx="406400" cy="406400"/>
          </a:xfrm>
          <a:prstGeom prst="rect">
            <a:avLst/>
          </a:prstGeom>
        </p:spPr>
      </p:pic>
      <p:sp>
        <p:nvSpPr>
          <p:cNvPr id="8" name="AutoShape 8"/>
          <p:cNvSpPr/>
          <p:nvPr/>
        </p:nvSpPr>
        <p:spPr>
          <a:xfrm>
            <a:off x="4826000" y="1587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端-边-云协同架构</a:t>
            </a:r>
            <a:endParaRPr lang="en-US" sz="1100"/>
          </a:p>
        </p:txBody>
      </p:sp>
      <p:sp>
        <p:nvSpPr>
          <p:cNvPr id="9" name="AutoShape 9"/>
          <p:cNvSpPr/>
          <p:nvPr/>
        </p:nvSpPr>
        <p:spPr>
          <a:xfrm>
            <a:off x="4826000" y="1905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边缘侧处理低延迟决策，云端负责复杂策略模型训练。</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47000" y="1587500"/>
            <a:ext cx="406400" cy="406400"/>
          </a:xfrm>
          <a:prstGeom prst="rect">
            <a:avLst/>
          </a:prstGeom>
        </p:spPr>
      </p:pic>
      <p:sp>
        <p:nvSpPr>
          <p:cNvPr id="11" name="AutoShape 11"/>
          <p:cNvSpPr/>
          <p:nvPr/>
        </p:nvSpPr>
        <p:spPr>
          <a:xfrm>
            <a:off x="8255000" y="1587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策略与通道解耦</a:t>
            </a:r>
            <a:endParaRPr lang="en-US" sz="1100"/>
          </a:p>
        </p:txBody>
      </p:sp>
      <p:sp>
        <p:nvSpPr>
          <p:cNvPr id="12" name="AutoShape 12"/>
          <p:cNvSpPr/>
          <p:nvPr/>
        </p:nvSpPr>
        <p:spPr>
          <a:xfrm>
            <a:off x="8255000" y="1905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网络调整策略与通信通道分离，支持灵活配置与扩展。</a:t>
            </a:r>
            <a:endParaRPr lang="en-US" sz="1100"/>
          </a:p>
        </p:txBody>
      </p:sp>
      <p:cxnSp>
        <p:nvCxnSpPr>
          <p:cNvPr id="13" name="Connector 13"/>
          <p:cNvCxnSpPr/>
          <p:nvPr/>
        </p:nvCxnSpPr>
        <p:spPr>
          <a:xfrm rot="-3978">
            <a:off x="609604" y="2914650"/>
            <a:ext cx="109728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609600" y="31115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系统架构设计 (Gateway-Node-Canvas)</a:t>
            </a:r>
            <a:endParaRPr lang="en-US" sz="1100"/>
          </a:p>
        </p:txBody>
      </p:sp>
      <p:sp>
        <p:nvSpPr>
          <p:cNvPr id="15" name="AutoShape 15"/>
          <p:cNvSpPr/>
          <p:nvPr/>
        </p:nvSpPr>
        <p:spPr>
          <a:xfrm>
            <a:off x="609600" y="3556000"/>
            <a:ext cx="5334000" cy="889000"/>
          </a:xfrm>
          <a:prstGeom prst="roundRect">
            <a:avLst>
              <a:gd name="adj" fmla="val 14285"/>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1400"/>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3746500"/>
            <a:ext cx="304800" cy="304800"/>
          </a:xfrm>
          <a:prstGeom prst="rect">
            <a:avLst/>
          </a:prstGeom>
        </p:spPr>
      </p:pic>
      <p:sp>
        <p:nvSpPr>
          <p:cNvPr id="17" name="AutoShape 17"/>
          <p:cNvSpPr/>
          <p:nvPr/>
        </p:nvSpPr>
        <p:spPr>
          <a:xfrm>
            <a:off x="1143000" y="3683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感知层 (OpenClaw Nodes) - 神经末梢</a:t>
            </a:r>
            <a:endParaRPr lang="en-US" sz="1100"/>
          </a:p>
        </p:txBody>
      </p:sp>
      <p:sp>
        <p:nvSpPr>
          <p:cNvPr id="18" name="AutoShape 18"/>
          <p:cNvSpPr/>
          <p:nvPr/>
        </p:nvSpPr>
        <p:spPr>
          <a:xfrm>
            <a:off x="1143000" y="4000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内置Network Sensor Skill，实时采集延迟、抖动、丢包等指标并上报。</a:t>
            </a:r>
            <a:endParaRPr lang="en-US" sz="1100"/>
          </a:p>
        </p:txBody>
      </p:sp>
      <p:sp>
        <p:nvSpPr>
          <p:cNvPr id="19" name="AutoShape 19"/>
          <p:cNvSpPr/>
          <p:nvPr/>
        </p:nvSpPr>
        <p:spPr>
          <a:xfrm>
            <a:off x="609600" y="4572000"/>
            <a:ext cx="5334000" cy="889000"/>
          </a:xfrm>
          <a:prstGeom prst="roundRect">
            <a:avLst>
              <a:gd name="adj" fmla="val 14285"/>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1400"/>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 y="4762500"/>
            <a:ext cx="304800" cy="304800"/>
          </a:xfrm>
          <a:prstGeom prst="rect">
            <a:avLst/>
          </a:prstGeom>
        </p:spPr>
      </p:pic>
      <p:sp>
        <p:nvSpPr>
          <p:cNvPr id="21" name="AutoShape 21"/>
          <p:cNvSpPr/>
          <p:nvPr/>
        </p:nvSpPr>
        <p:spPr>
          <a:xfrm>
            <a:off x="1143000" y="4699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决策层 (OpenClaw Gateway) - 智能大脑</a:t>
            </a:r>
            <a:endParaRPr lang="en-US" sz="1100"/>
          </a:p>
        </p:txBody>
      </p:sp>
      <p:sp>
        <p:nvSpPr>
          <p:cNvPr id="22" name="AutoShape 22"/>
          <p:cNvSpPr/>
          <p:nvPr/>
        </p:nvSpPr>
        <p:spPr>
          <a:xfrm>
            <a:off x="1143000" y="5016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聚合数据，通过策略引擎作出决策，调用工具库执行调整。</a:t>
            </a:r>
            <a:endParaRPr lang="en-US" sz="1100"/>
          </a:p>
        </p:txBody>
      </p:sp>
      <p:sp>
        <p:nvSpPr>
          <p:cNvPr id="23" name="AutoShape 23"/>
          <p:cNvSpPr/>
          <p:nvPr/>
        </p:nvSpPr>
        <p:spPr>
          <a:xfrm>
            <a:off x="609600" y="5588000"/>
            <a:ext cx="5334000" cy="889000"/>
          </a:xfrm>
          <a:prstGeom prst="roundRect">
            <a:avLst>
              <a:gd name="adj" fmla="val 14285"/>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1400"/>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2000" y="5778500"/>
            <a:ext cx="304800" cy="304800"/>
          </a:xfrm>
          <a:prstGeom prst="rect">
            <a:avLst/>
          </a:prstGeom>
        </p:spPr>
      </p:pic>
      <p:sp>
        <p:nvSpPr>
          <p:cNvPr id="25" name="AutoShape 25"/>
          <p:cNvSpPr/>
          <p:nvPr/>
        </p:nvSpPr>
        <p:spPr>
          <a:xfrm>
            <a:off x="1143000" y="5715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执行层 (外部环境) - 优化闭环</a:t>
            </a:r>
            <a:endParaRPr lang="en-US" sz="1100"/>
          </a:p>
        </p:txBody>
      </p:sp>
      <p:sp>
        <p:nvSpPr>
          <p:cNvPr id="26" name="AutoShape 26"/>
          <p:cNvSpPr/>
          <p:nvPr/>
        </p:nvSpPr>
        <p:spPr>
          <a:xfrm>
            <a:off x="1143000" y="6032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触发5G切片、QUIC协议优化或边缘节点切换，作用于实际网络环境。</a:t>
            </a:r>
            <a:endParaRPr lang="en-US" sz="1100"/>
          </a:p>
        </p:txBody>
      </p:sp>
      <p:sp>
        <p:nvSpPr>
          <p:cNvPr id="27" name="AutoShape 27"/>
          <p:cNvSpPr/>
          <p:nvPr/>
        </p:nvSpPr>
        <p:spPr>
          <a:xfrm>
            <a:off x="6248400" y="31115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关键实现路径</a:t>
            </a:r>
            <a:endParaRPr lang="en-US" sz="1100"/>
          </a:p>
        </p:txBody>
      </p:sp>
      <p:sp>
        <p:nvSpPr>
          <p:cNvPr id="28" name="AutoShape 28"/>
          <p:cNvSpPr/>
          <p:nvPr/>
        </p:nvSpPr>
        <p:spPr>
          <a:xfrm>
            <a:off x="6248400" y="3556000"/>
            <a:ext cx="5334000" cy="635000"/>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lstStyle/>
          <a:p>
            <a:pPr algn="ctr">
              <a:defRPr/>
            </a:pPr>
            <a:endParaRPr sz="1400"/>
          </a:p>
        </p:txBody>
      </p:sp>
      <p:pic>
        <p:nvPicPr>
          <p:cNvPr id="29" name="Picture 2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00800" y="3695700"/>
            <a:ext cx="304800" cy="304800"/>
          </a:xfrm>
          <a:prstGeom prst="rect">
            <a:avLst/>
          </a:prstGeom>
        </p:spPr>
      </p:pic>
      <p:sp>
        <p:nvSpPr>
          <p:cNvPr id="30" name="AutoShape 30"/>
          <p:cNvSpPr/>
          <p:nvPr/>
        </p:nvSpPr>
        <p:spPr>
          <a:xfrm>
            <a:off x="6794500" y="3683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数据采集与标准化：</a:t>
            </a: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开发插件采集指标，定义统一数据格式。</a:t>
            </a:r>
            <a:endParaRPr lang="en-US" sz="1100"/>
          </a:p>
        </p:txBody>
      </p:sp>
      <p:sp>
        <p:nvSpPr>
          <p:cNvPr id="31" name="AutoShape 31"/>
          <p:cNvSpPr/>
          <p:nvPr/>
        </p:nvSpPr>
        <p:spPr>
          <a:xfrm>
            <a:off x="6248400" y="4254500"/>
            <a:ext cx="5334000" cy="635000"/>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lstStyle/>
          <a:p>
            <a:pPr algn="ctr">
              <a:defRPr/>
            </a:pPr>
            <a:endParaRPr sz="1400"/>
          </a:p>
        </p:txBody>
      </p:sp>
      <p:pic>
        <p:nvPicPr>
          <p:cNvPr id="32" name="Picture 32"/>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00800" y="4394200"/>
            <a:ext cx="304800" cy="304800"/>
          </a:xfrm>
          <a:prstGeom prst="rect">
            <a:avLst/>
          </a:prstGeom>
        </p:spPr>
      </p:pic>
      <p:sp>
        <p:nvSpPr>
          <p:cNvPr id="33" name="AutoShape 33"/>
          <p:cNvSpPr/>
          <p:nvPr/>
        </p:nvSpPr>
        <p:spPr>
          <a:xfrm>
            <a:off x="6794500" y="4381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构建基础感知与反馈：</a:t>
            </a: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实现Agent对网络状态的“看见”与实时汇报。</a:t>
            </a:r>
            <a:endParaRPr lang="en-US" sz="1100"/>
          </a:p>
        </p:txBody>
      </p:sp>
      <p:sp>
        <p:nvSpPr>
          <p:cNvPr id="34" name="AutoShape 34"/>
          <p:cNvSpPr/>
          <p:nvPr/>
        </p:nvSpPr>
        <p:spPr>
          <a:xfrm>
            <a:off x="6248400" y="4953000"/>
            <a:ext cx="5334000" cy="635000"/>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lstStyle/>
          <a:p>
            <a:pPr algn="ctr">
              <a:defRPr/>
            </a:pPr>
            <a:endParaRPr sz="1400"/>
          </a:p>
        </p:txBody>
      </p:sp>
      <p:pic>
        <p:nvPicPr>
          <p:cNvPr id="35" name="Picture 3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00800" y="5092700"/>
            <a:ext cx="304800" cy="304800"/>
          </a:xfrm>
          <a:prstGeom prst="rect">
            <a:avLst/>
          </a:prstGeom>
        </p:spPr>
      </p:pic>
      <p:sp>
        <p:nvSpPr>
          <p:cNvPr id="36" name="AutoShape 36"/>
          <p:cNvSpPr/>
          <p:nvPr/>
        </p:nvSpPr>
        <p:spPr>
          <a:xfrm>
            <a:off x="6794500" y="5080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实现闭环自动优化：</a:t>
            </a: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针对典型场景，完成从感知到行动的自动化闭环。</a:t>
            </a:r>
            <a:endParaRPr lang="en-US" sz="1100"/>
          </a:p>
        </p:txBody>
      </p:sp>
      <p:sp>
        <p:nvSpPr>
          <p:cNvPr id="37" name="AutoShape 37"/>
          <p:cNvSpPr/>
          <p:nvPr/>
        </p:nvSpPr>
        <p:spPr>
          <a:xfrm>
            <a:off x="6248400" y="5651500"/>
            <a:ext cx="5334000" cy="635000"/>
          </a:xfrm>
          <a:prstGeom prst="roundRect">
            <a:avLst>
              <a:gd name="adj" fmla="val 20000"/>
            </a:avLst>
          </a:prstGeom>
          <a:solidFill>
            <a:srgbClr val="1B263B">
              <a:alpha val="5000"/>
            </a:srgbClr>
          </a:solidFill>
          <a:ln w="25400" cap="flat" cmpd="sng">
            <a:noFill/>
            <a:prstDash val="solid"/>
            <a:round/>
          </a:ln>
        </p:spPr>
        <p:txBody>
          <a:bodyPr vert="horz" wrap="square" lIns="63500" tIns="63500" rIns="63500" bIns="63500" rtlCol="0" anchor="ctr"/>
          <a:lstStyle/>
          <a:p>
            <a:pPr algn="ctr">
              <a:defRPr/>
            </a:pPr>
            <a:endParaRPr sz="1400"/>
          </a:p>
        </p:txBody>
      </p:sp>
      <p:pic>
        <p:nvPicPr>
          <p:cNvPr id="38" name="Picture 38"/>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400800" y="5791200"/>
            <a:ext cx="304800" cy="304800"/>
          </a:xfrm>
          <a:prstGeom prst="rect">
            <a:avLst/>
          </a:prstGeom>
        </p:spPr>
      </p:pic>
      <p:sp>
        <p:nvSpPr>
          <p:cNvPr id="39" name="AutoShape 39"/>
          <p:cNvSpPr/>
          <p:nvPr/>
        </p:nvSpPr>
        <p:spPr>
          <a:xfrm>
            <a:off x="6794500" y="5778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迈向预测性协同：</a:t>
            </a:r>
            <a:r>
              <a:rPr lang="en-US" sz="1200" b="0" i="0" u="none" strike="noStrike">
                <a:solidFill>
                  <a:srgbClr val="415A77"/>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引入机器学习，实现从被动响应到主动预测的进阶。</a:t>
            </a:r>
            <a:endParaRPr lang="en-US" sz="1100"/>
          </a:p>
        </p:txBody>
      </p:sp>
      <p:pic>
        <p:nvPicPr>
          <p:cNvPr id="40" name="Picture 40"/>
          <p:cNvPicPr>
            <a:picLocks noChangeAspect="1"/>
          </p:cNvPicPr>
          <p:nvPr/>
        </p:nvPicPr>
        <p:blipFill>
          <a:blip r:embed="rId19"/>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7088</Words>
  <Application>WPS 演示</Application>
  <PresentationFormat>宽屏</PresentationFormat>
  <Paragraphs>249</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10</vt:i4>
      </vt:variant>
    </vt:vector>
  </HeadingPairs>
  <TitlesOfParts>
    <vt:vector size="24" baseType="lpstr">
      <vt:lpstr>Arial</vt:lpstr>
      <vt:lpstr>宋体</vt:lpstr>
      <vt:lpstr>Wingdings</vt:lpstr>
      <vt:lpstr>Arial</vt:lpstr>
      <vt:lpstr>Verdana</vt:lpstr>
      <vt:lpstr>Calibri Light</vt:lpstr>
      <vt:lpstr>Times New Roman</vt:lpstr>
      <vt:lpstr>Times New Roman</vt:lpstr>
      <vt:lpstr>微软雅黑</vt:lpstr>
      <vt:lpstr>Noto Sans SC</vt:lpstr>
      <vt:lpstr>Arial Unicode MS</vt:lpstr>
      <vt:lpstr>Calibri</vt:lpstr>
      <vt:lpstr>WPS</vt:lpstr>
      <vt:lpstr>默认主题</vt:lpstr>
      <vt:lpstr>Agent Policy-aware Network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Next Steps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张晓秋</cp:lastModifiedBy>
  <cp:revision>68</cp:revision>
  <dcterms:created xsi:type="dcterms:W3CDTF">2023-08-09T12:44:00Z</dcterms:created>
  <dcterms:modified xsi:type="dcterms:W3CDTF">2026-03-12T07:10:23Z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2052-12.8.2.21177</vt:lpwstr>
  </property>
</Properties>
</file>