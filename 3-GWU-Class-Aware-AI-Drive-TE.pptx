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4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Light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e9fda5c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75" name="Google Shape;375;g3ce9fda5c3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3ce9fda5c3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e9fda5c3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82" name="Google Shape;382;g3ce9fda5c32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3ce9fda5c32_0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e9fda5c3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89" name="Google Shape;389;g3ce9fda5c32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g3ce9fda5c32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ce9fda5c3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6" name="Google Shape;396;g3ce9fda5c32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g3ce9fda5c32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ce9fda5c3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03" name="Google Shape;403;g3ce9fda5c32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3ce9fda5c32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ce9fda5c3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10" name="Google Shape;410;g3ce9fda5c32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3ce9fda5c32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Standard">
  <p:cSld name="Title - Standard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A high angle view of a city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896615" y="843778"/>
            <a:ext cx="5199385" cy="5199385"/>
          </a:xfrm>
          <a:prstGeom prst="rect">
            <a:avLst/>
          </a:prstGeom>
          <a:solidFill>
            <a:schemeClr val="lt1">
              <a:alpha val="7372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215450" y="2254309"/>
            <a:ext cx="451713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215450" y="4031052"/>
            <a:ext cx="4517136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2"/>
          </p:nvPr>
        </p:nvSpPr>
        <p:spPr>
          <a:xfrm>
            <a:off x="1215450" y="1934670"/>
            <a:ext cx="4517136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body" idx="3"/>
          </p:nvPr>
        </p:nvSpPr>
        <p:spPr>
          <a:xfrm>
            <a:off x="1215450" y="4383195"/>
            <a:ext cx="4517136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74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4"/>
          </p:nvPr>
        </p:nvSpPr>
        <p:spPr>
          <a:xfrm>
            <a:off x="1215450" y="4798918"/>
            <a:ext cx="45171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4" name="Google Shape;24;p2"/>
          <p:cNvGrpSpPr/>
          <p:nvPr/>
        </p:nvGrpSpPr>
        <p:grpSpPr>
          <a:xfrm>
            <a:off x="1168862" y="5406470"/>
            <a:ext cx="4834263" cy="369332"/>
            <a:chOff x="1168862" y="5508070"/>
            <a:chExt cx="4834263" cy="369332"/>
          </a:xfrm>
        </p:grpSpPr>
        <p:pic>
          <p:nvPicPr>
            <p:cNvPr id="25" name="Google Shape;25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68862" y="5508070"/>
              <a:ext cx="1311127" cy="316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" name="Google Shape;26;p2"/>
            <p:cNvSpPr txBox="1"/>
            <p:nvPr/>
          </p:nvSpPr>
          <p:spPr>
            <a:xfrm>
              <a:off x="2561071" y="5508070"/>
              <a:ext cx="34420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ORNL IS MANAGED BY UT-BATTELLE LLC </a:t>
              </a:r>
              <a:br>
                <a:rPr lang="en-US" sz="9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9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FOR THE US DEPARTMENT OF ENERGY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8108" y="1141396"/>
            <a:ext cx="1780479" cy="428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Gradient">
  <p:cSld name="Title only - Gradi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/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693" y="6431818"/>
            <a:ext cx="1188988" cy="2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Agenda">
  <p:cSld name="1-Agenda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2874040"/>
            <a:ext cx="12192000" cy="3983959"/>
          </a:xfrm>
          <a:custGeom>
            <a:avLst/>
            <a:gdLst/>
            <a:ahLst/>
            <a:cxnLst/>
            <a:rect l="l" t="t" r="r" b="b"/>
            <a:pathLst>
              <a:path w="12192000" h="3728466" extrusionOk="0">
                <a:moveTo>
                  <a:pt x="0" y="0"/>
                </a:moveTo>
                <a:lnTo>
                  <a:pt x="12192000" y="0"/>
                </a:lnTo>
                <a:lnTo>
                  <a:pt x="12192000" y="3728466"/>
                </a:lnTo>
                <a:lnTo>
                  <a:pt x="0" y="372846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4"/>
          <p:cNvSpPr>
            <a:spLocks noGrp="1"/>
          </p:cNvSpPr>
          <p:nvPr>
            <p:ph type="pic" idx="2"/>
          </p:nvPr>
        </p:nvSpPr>
        <p:spPr>
          <a:xfrm>
            <a:off x="1728968" y="1647919"/>
            <a:ext cx="2393950" cy="23939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4"/>
          <p:cNvSpPr>
            <a:spLocks noGrp="1"/>
          </p:cNvSpPr>
          <p:nvPr>
            <p:ph type="pic" idx="3"/>
          </p:nvPr>
        </p:nvSpPr>
        <p:spPr>
          <a:xfrm>
            <a:off x="4899025" y="1654993"/>
            <a:ext cx="2393950" cy="23939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Google Shape;37;p4"/>
          <p:cNvSpPr>
            <a:spLocks noGrp="1"/>
          </p:cNvSpPr>
          <p:nvPr>
            <p:ph type="pic" idx="4"/>
          </p:nvPr>
        </p:nvSpPr>
        <p:spPr>
          <a:xfrm>
            <a:off x="8058997" y="1677066"/>
            <a:ext cx="2393950" cy="23939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" name="Google Shape;40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693" y="6431818"/>
            <a:ext cx="1188988" cy="2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>
            <a:spLocks noGrp="1"/>
          </p:cNvSpPr>
          <p:nvPr>
            <p:ph type="body" idx="1"/>
          </p:nvPr>
        </p:nvSpPr>
        <p:spPr>
          <a:xfrm>
            <a:off x="1730374" y="4209116"/>
            <a:ext cx="239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5"/>
          </p:nvPr>
        </p:nvSpPr>
        <p:spPr>
          <a:xfrm>
            <a:off x="4906516" y="4209116"/>
            <a:ext cx="239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body" idx="6"/>
          </p:nvPr>
        </p:nvSpPr>
        <p:spPr>
          <a:xfrm>
            <a:off x="8083421" y="4209116"/>
            <a:ext cx="239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column">
  <p:cSld name="1-colum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314692" y="1825625"/>
            <a:ext cx="11315194" cy="4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xagon custom">
  <p:cSld name="Hexagon custom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>
            <a:spLocks noGrp="1"/>
          </p:cNvSpPr>
          <p:nvPr>
            <p:ph type="pic" idx="2"/>
          </p:nvPr>
        </p:nvSpPr>
        <p:spPr>
          <a:xfrm>
            <a:off x="5139371" y="-23484"/>
            <a:ext cx="6737350" cy="686541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314693" y="365125"/>
            <a:ext cx="4412934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314693" y="2514601"/>
            <a:ext cx="4412934" cy="3756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Editable">
  <p:cSld name="Title - Editab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85763" y="6015038"/>
            <a:ext cx="6899620" cy="5759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Google Shape;54;p7"/>
          <p:cNvSpPr txBox="1">
            <a:spLocks noGrp="1"/>
          </p:cNvSpPr>
          <p:nvPr>
            <p:ph type="ctrTitle"/>
          </p:nvPr>
        </p:nvSpPr>
        <p:spPr>
          <a:xfrm>
            <a:off x="1215450" y="2254309"/>
            <a:ext cx="451808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  <a:defRPr sz="36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1215450" y="1934670"/>
            <a:ext cx="4518085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6" name="Google Shape;56;p7"/>
          <p:cNvGrpSpPr/>
          <p:nvPr/>
        </p:nvGrpSpPr>
        <p:grpSpPr>
          <a:xfrm>
            <a:off x="1168862" y="5406470"/>
            <a:ext cx="4834263" cy="369332"/>
            <a:chOff x="1168862" y="5508070"/>
            <a:chExt cx="4834263" cy="369332"/>
          </a:xfrm>
        </p:grpSpPr>
        <p:pic>
          <p:nvPicPr>
            <p:cNvPr id="57" name="Google Shape;57;p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68862" y="5508070"/>
              <a:ext cx="1311127" cy="316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7"/>
            <p:cNvSpPr txBox="1"/>
            <p:nvPr/>
          </p:nvSpPr>
          <p:spPr>
            <a:xfrm>
              <a:off x="2561071" y="5508070"/>
              <a:ext cx="34420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ORNL IS MANAGED BY UT-BATTELLE LLC </a:t>
              </a:r>
              <a:br>
                <a:rPr lang="en-US" sz="9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9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FOR THE US DEPARTMENT OF ENERGY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9" name="Google Shape;5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8108" y="1141396"/>
            <a:ext cx="1780479" cy="42801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>
            <a:spLocks noGrp="1"/>
          </p:cNvSpPr>
          <p:nvPr>
            <p:ph type="body" idx="3"/>
          </p:nvPr>
        </p:nvSpPr>
        <p:spPr>
          <a:xfrm>
            <a:off x="1215450" y="4383195"/>
            <a:ext cx="4517136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4"/>
          </p:nvPr>
        </p:nvSpPr>
        <p:spPr>
          <a:xfrm>
            <a:off x="1215450" y="4798918"/>
            <a:ext cx="45171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ubTitle" idx="5"/>
          </p:nvPr>
        </p:nvSpPr>
        <p:spPr>
          <a:xfrm>
            <a:off x="1215450" y="4031052"/>
            <a:ext cx="4517136" cy="18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1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7474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Portrait">
  <p:cSld name="Title - Portrai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 rotWithShape="1">
          <a:blip r:embed="rId2">
            <a:alphaModFix/>
          </a:blip>
          <a:srcRect l="31566" r="18850"/>
          <a:stretch/>
        </p:blipFill>
        <p:spPr>
          <a:xfrm rot="10800000">
            <a:off x="-1" y="0"/>
            <a:ext cx="6045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>
            <a:spLocks noGrp="1"/>
          </p:cNvSpPr>
          <p:nvPr>
            <p:ph type="ctrTitle"/>
          </p:nvPr>
        </p:nvSpPr>
        <p:spPr>
          <a:xfrm>
            <a:off x="897657" y="2292076"/>
            <a:ext cx="446517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sz="3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897657" y="4019391"/>
            <a:ext cx="4465176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2"/>
          </p:nvPr>
        </p:nvSpPr>
        <p:spPr>
          <a:xfrm>
            <a:off x="897657" y="1880997"/>
            <a:ext cx="4465176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3"/>
          </p:nvPr>
        </p:nvSpPr>
        <p:spPr>
          <a:xfrm>
            <a:off x="897657" y="4371534"/>
            <a:ext cx="4465176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1" name="Google Shape;71;p8"/>
          <p:cNvGrpSpPr/>
          <p:nvPr/>
        </p:nvGrpSpPr>
        <p:grpSpPr>
          <a:xfrm>
            <a:off x="897656" y="6161203"/>
            <a:ext cx="4842685" cy="429764"/>
            <a:chOff x="2384568" y="6419574"/>
            <a:chExt cx="4161723" cy="369332"/>
          </a:xfrm>
        </p:grpSpPr>
        <p:pic>
          <p:nvPicPr>
            <p:cNvPr id="72" name="Google Shape;72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84568" y="6424653"/>
              <a:ext cx="1103769" cy="278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8"/>
            <p:cNvSpPr txBox="1"/>
            <p:nvPr/>
          </p:nvSpPr>
          <p:spPr>
            <a:xfrm>
              <a:off x="3588247" y="6419574"/>
              <a:ext cx="2958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ORNL IS MANAGED BY UT-BATTELLE LLC </a:t>
              </a:r>
              <a:b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FOR THE US DEPARTMENT OF ENERGY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8"/>
          <p:cNvSpPr txBox="1">
            <a:spLocks noGrp="1"/>
          </p:cNvSpPr>
          <p:nvPr>
            <p:ph type="body" idx="4"/>
          </p:nvPr>
        </p:nvSpPr>
        <p:spPr>
          <a:xfrm>
            <a:off x="897657" y="4881013"/>
            <a:ext cx="446517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8"/>
          <p:cNvSpPr>
            <a:spLocks noGrp="1"/>
          </p:cNvSpPr>
          <p:nvPr>
            <p:ph type="pic" idx="5"/>
          </p:nvPr>
        </p:nvSpPr>
        <p:spPr>
          <a:xfrm>
            <a:off x="6045200" y="0"/>
            <a:ext cx="61468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6" name="Google Shape;7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070" y="783630"/>
            <a:ext cx="1780479" cy="428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Landscape">
  <p:cSld name="Title - Landscape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/>
          <p:nvPr/>
        </p:nvSpPr>
        <p:spPr>
          <a:xfrm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5609063" y="1505414"/>
                </a:moveTo>
                <a:lnTo>
                  <a:pt x="5609063" y="5352586"/>
                </a:lnTo>
                <a:lnTo>
                  <a:pt x="11452302" y="5352586"/>
                </a:lnTo>
                <a:lnTo>
                  <a:pt x="11452302" y="1505414"/>
                </a:lnTo>
                <a:lnTo>
                  <a:pt x="5609063" y="1505414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9"/>
          <p:cNvSpPr txBox="1">
            <a:spLocks noGrp="1"/>
          </p:cNvSpPr>
          <p:nvPr>
            <p:ph type="ctrTitle"/>
          </p:nvPr>
        </p:nvSpPr>
        <p:spPr>
          <a:xfrm>
            <a:off x="897657" y="2292076"/>
            <a:ext cx="4465176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sz="3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ubTitle" idx="1"/>
          </p:nvPr>
        </p:nvSpPr>
        <p:spPr>
          <a:xfrm>
            <a:off x="897657" y="4019391"/>
            <a:ext cx="4465176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2"/>
          </p:nvPr>
        </p:nvSpPr>
        <p:spPr>
          <a:xfrm>
            <a:off x="897657" y="1880997"/>
            <a:ext cx="4465176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3"/>
          </p:nvPr>
        </p:nvSpPr>
        <p:spPr>
          <a:xfrm>
            <a:off x="897657" y="4371534"/>
            <a:ext cx="4465176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4" name="Google Shape;84;p9"/>
          <p:cNvGrpSpPr/>
          <p:nvPr/>
        </p:nvGrpSpPr>
        <p:grpSpPr>
          <a:xfrm>
            <a:off x="897656" y="6161203"/>
            <a:ext cx="4842685" cy="429764"/>
            <a:chOff x="2384568" y="6419574"/>
            <a:chExt cx="4161723" cy="369332"/>
          </a:xfrm>
        </p:grpSpPr>
        <p:pic>
          <p:nvPicPr>
            <p:cNvPr id="85" name="Google Shape;85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84568" y="6424653"/>
              <a:ext cx="1103769" cy="278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9"/>
            <p:cNvSpPr txBox="1"/>
            <p:nvPr/>
          </p:nvSpPr>
          <p:spPr>
            <a:xfrm>
              <a:off x="3588247" y="6419574"/>
              <a:ext cx="2958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ORNL IS MANAGED BY UT-BATTELLE LLC </a:t>
              </a:r>
              <a:b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FOR THE US DEPARTMENT OF ENERGY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9"/>
          <p:cNvSpPr txBox="1">
            <a:spLocks noGrp="1"/>
          </p:cNvSpPr>
          <p:nvPr>
            <p:ph type="body" idx="4"/>
          </p:nvPr>
        </p:nvSpPr>
        <p:spPr>
          <a:xfrm>
            <a:off x="897657" y="4881013"/>
            <a:ext cx="446517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9"/>
          <p:cNvSpPr>
            <a:spLocks noGrp="1"/>
          </p:cNvSpPr>
          <p:nvPr>
            <p:ph type="pic" idx="5"/>
          </p:nvPr>
        </p:nvSpPr>
        <p:spPr>
          <a:xfrm>
            <a:off x="5609063" y="1516565"/>
            <a:ext cx="5843239" cy="38360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9" name="Google Shape;8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070" y="783630"/>
            <a:ext cx="1780479" cy="428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ext Only">
  <p:cSld name="Title - Text 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>
            <a:spLocks noGrp="1"/>
          </p:cNvSpPr>
          <p:nvPr>
            <p:ph type="ctrTitle"/>
          </p:nvPr>
        </p:nvSpPr>
        <p:spPr>
          <a:xfrm>
            <a:off x="897656" y="2292076"/>
            <a:ext cx="1039668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sz="36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subTitle" idx="1"/>
          </p:nvPr>
        </p:nvSpPr>
        <p:spPr>
          <a:xfrm>
            <a:off x="897656" y="4019391"/>
            <a:ext cx="10396685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2"/>
          </p:nvPr>
        </p:nvSpPr>
        <p:spPr>
          <a:xfrm>
            <a:off x="897656" y="1880997"/>
            <a:ext cx="10396685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body" idx="3"/>
          </p:nvPr>
        </p:nvSpPr>
        <p:spPr>
          <a:xfrm>
            <a:off x="897656" y="4371534"/>
            <a:ext cx="1039668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7" name="Google Shape;97;p10"/>
          <p:cNvGrpSpPr/>
          <p:nvPr/>
        </p:nvGrpSpPr>
        <p:grpSpPr>
          <a:xfrm>
            <a:off x="897656" y="6161203"/>
            <a:ext cx="4842685" cy="429764"/>
            <a:chOff x="2384568" y="6419574"/>
            <a:chExt cx="4161723" cy="369332"/>
          </a:xfrm>
        </p:grpSpPr>
        <p:pic>
          <p:nvPicPr>
            <p:cNvPr id="98" name="Google Shape;98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84568" y="6424653"/>
              <a:ext cx="1103769" cy="278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10"/>
            <p:cNvSpPr txBox="1"/>
            <p:nvPr/>
          </p:nvSpPr>
          <p:spPr>
            <a:xfrm>
              <a:off x="3588247" y="6419574"/>
              <a:ext cx="295804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ORNL IS MANAGED BY UT-BATTELLE LLC </a:t>
              </a:r>
              <a:b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FOR THE US DEPARTMENT OF ENERGY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10"/>
          <p:cNvSpPr txBox="1">
            <a:spLocks noGrp="1"/>
          </p:cNvSpPr>
          <p:nvPr>
            <p:ph type="body" idx="4"/>
          </p:nvPr>
        </p:nvSpPr>
        <p:spPr>
          <a:xfrm>
            <a:off x="897656" y="4881013"/>
            <a:ext cx="103966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1" name="Google Shape;10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070" y="783630"/>
            <a:ext cx="1780479" cy="428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Agenda">
  <p:cSld name="2-Agenda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1"/>
          <p:cNvSpPr/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693" y="6431818"/>
            <a:ext cx="1188988" cy="2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"/>
          <p:cNvSpPr/>
          <p:nvPr/>
        </p:nvSpPr>
        <p:spPr>
          <a:xfrm>
            <a:off x="1963516" y="1371576"/>
            <a:ext cx="1743982" cy="14854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6457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endParaRPr sz="18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3707492" y="3038912"/>
            <a:ext cx="1743982" cy="14854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6457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1"/>
          <p:cNvSpPr/>
          <p:nvPr/>
        </p:nvSpPr>
        <p:spPr>
          <a:xfrm>
            <a:off x="5452154" y="4708229"/>
            <a:ext cx="1743982" cy="148547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6457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1"/>
          <p:cNvSpPr>
            <a:spLocks noGrp="1"/>
          </p:cNvSpPr>
          <p:nvPr>
            <p:ph type="pic" idx="2"/>
          </p:nvPr>
        </p:nvSpPr>
        <p:spPr>
          <a:xfrm>
            <a:off x="3707498" y="1371575"/>
            <a:ext cx="3075236" cy="148532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Google Shape;111;p11"/>
          <p:cNvSpPr txBox="1">
            <a:spLocks noGrp="1"/>
          </p:cNvSpPr>
          <p:nvPr>
            <p:ph type="body" idx="1"/>
          </p:nvPr>
        </p:nvSpPr>
        <p:spPr>
          <a:xfrm>
            <a:off x="1962830" y="1371005"/>
            <a:ext cx="1744662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body" idx="3"/>
          </p:nvPr>
        </p:nvSpPr>
        <p:spPr>
          <a:xfrm>
            <a:off x="3707492" y="3038912"/>
            <a:ext cx="1744662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body" idx="4"/>
          </p:nvPr>
        </p:nvSpPr>
        <p:spPr>
          <a:xfrm>
            <a:off x="5451474" y="4708229"/>
            <a:ext cx="1744662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1"/>
          <p:cNvSpPr>
            <a:spLocks noGrp="1"/>
          </p:cNvSpPr>
          <p:nvPr>
            <p:ph type="pic" idx="5"/>
          </p:nvPr>
        </p:nvSpPr>
        <p:spPr>
          <a:xfrm>
            <a:off x="5451474" y="3039053"/>
            <a:ext cx="3075236" cy="148532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Google Shape;115;p11"/>
          <p:cNvSpPr>
            <a:spLocks noGrp="1"/>
          </p:cNvSpPr>
          <p:nvPr>
            <p:ph type="pic" idx="6"/>
          </p:nvPr>
        </p:nvSpPr>
        <p:spPr>
          <a:xfrm>
            <a:off x="7196136" y="4707799"/>
            <a:ext cx="3075236" cy="148532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Agenda">
  <p:cSld name="3-Agenda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2"/>
          <p:cNvSpPr/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" name="Google Shape;11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693" y="6431818"/>
            <a:ext cx="1188988" cy="2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1" name="Google Shape;121;p12"/>
          <p:cNvGrpSpPr/>
          <p:nvPr/>
        </p:nvGrpSpPr>
        <p:grpSpPr>
          <a:xfrm>
            <a:off x="2203979" y="1585463"/>
            <a:ext cx="7815843" cy="4246358"/>
            <a:chOff x="780349" y="1433063"/>
            <a:chExt cx="7815843" cy="4246358"/>
          </a:xfrm>
        </p:grpSpPr>
        <p:sp>
          <p:nvSpPr>
            <p:cNvPr id="122" name="Google Shape;122;p12"/>
            <p:cNvSpPr/>
            <p:nvPr/>
          </p:nvSpPr>
          <p:spPr>
            <a:xfrm>
              <a:off x="780349" y="1434305"/>
              <a:ext cx="2274349" cy="19597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780349" y="3719671"/>
              <a:ext cx="2274349" cy="1959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3551096" y="1433063"/>
              <a:ext cx="2274349" cy="19597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3551096" y="3718429"/>
              <a:ext cx="2274349" cy="19597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6321843" y="1433063"/>
              <a:ext cx="2274349" cy="1959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6321843" y="3718429"/>
              <a:ext cx="2274349" cy="1959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8" name="Google Shape;128;p12"/>
          <p:cNvSpPr txBox="1">
            <a:spLocks noGrp="1"/>
          </p:cNvSpPr>
          <p:nvPr>
            <p:ph type="body" idx="1"/>
          </p:nvPr>
        </p:nvSpPr>
        <p:spPr>
          <a:xfrm>
            <a:off x="2236835" y="1608129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body" idx="2"/>
          </p:nvPr>
        </p:nvSpPr>
        <p:spPr>
          <a:xfrm>
            <a:off x="4978495" y="1608129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2"/>
          <p:cNvSpPr txBox="1">
            <a:spLocks noGrp="1"/>
          </p:cNvSpPr>
          <p:nvPr>
            <p:ph type="body" idx="3"/>
          </p:nvPr>
        </p:nvSpPr>
        <p:spPr>
          <a:xfrm>
            <a:off x="7781709" y="1608129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12"/>
          <p:cNvSpPr txBox="1">
            <a:spLocks noGrp="1"/>
          </p:cNvSpPr>
          <p:nvPr>
            <p:ph type="body" idx="4"/>
          </p:nvPr>
        </p:nvSpPr>
        <p:spPr>
          <a:xfrm>
            <a:off x="2236835" y="3893496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12"/>
          <p:cNvSpPr txBox="1">
            <a:spLocks noGrp="1"/>
          </p:cNvSpPr>
          <p:nvPr>
            <p:ph type="body" idx="5"/>
          </p:nvPr>
        </p:nvSpPr>
        <p:spPr>
          <a:xfrm>
            <a:off x="4978495" y="3893496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12"/>
          <p:cNvSpPr txBox="1">
            <a:spLocks noGrp="1"/>
          </p:cNvSpPr>
          <p:nvPr>
            <p:ph type="body" idx="6"/>
          </p:nvPr>
        </p:nvSpPr>
        <p:spPr>
          <a:xfrm>
            <a:off x="7781709" y="3893496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Agenda">
  <p:cSld name="4-Agenda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3"/>
          <p:cNvSpPr/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693" y="6431818"/>
            <a:ext cx="1188988" cy="2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3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9" name="Google Shape;139;p13"/>
          <p:cNvGrpSpPr/>
          <p:nvPr/>
        </p:nvGrpSpPr>
        <p:grpSpPr>
          <a:xfrm>
            <a:off x="798513" y="1585463"/>
            <a:ext cx="10594975" cy="4267783"/>
            <a:chOff x="780349" y="1433063"/>
            <a:chExt cx="10594975" cy="4267783"/>
          </a:xfrm>
        </p:grpSpPr>
        <p:sp>
          <p:nvSpPr>
            <p:cNvPr id="140" name="Google Shape;140;p13"/>
            <p:cNvSpPr/>
            <p:nvPr/>
          </p:nvSpPr>
          <p:spPr>
            <a:xfrm>
              <a:off x="780349" y="1434305"/>
              <a:ext cx="2274349" cy="19597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780349" y="3719671"/>
              <a:ext cx="2274349" cy="1959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3551096" y="1433063"/>
              <a:ext cx="2274349" cy="19597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3551096" y="3718429"/>
              <a:ext cx="2274349" cy="19597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6321843" y="1433063"/>
              <a:ext cx="2274349" cy="1959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6321843" y="3718429"/>
              <a:ext cx="2274349" cy="1959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9100975" y="1455730"/>
              <a:ext cx="2274349" cy="1959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9100975" y="3741096"/>
              <a:ext cx="2274349" cy="1959750"/>
            </a:xfrm>
            <a:prstGeom prst="rect">
              <a:avLst/>
            </a:prstGeom>
            <a:solidFill>
              <a:srgbClr val="00866B"/>
            </a:solidFill>
            <a:ln>
              <a:noFill/>
            </a:ln>
          </p:spPr>
          <p:txBody>
            <a:bodyPr spcFirstLastPara="1" wrap="square" lIns="182875" tIns="91425" rIns="182875" bIns="9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8" name="Google Shape;148;p13"/>
          <p:cNvSpPr txBox="1">
            <a:spLocks noGrp="1"/>
          </p:cNvSpPr>
          <p:nvPr>
            <p:ph type="body" idx="1"/>
          </p:nvPr>
        </p:nvSpPr>
        <p:spPr>
          <a:xfrm>
            <a:off x="831369" y="1608129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3"/>
          <p:cNvSpPr txBox="1">
            <a:spLocks noGrp="1"/>
          </p:cNvSpPr>
          <p:nvPr>
            <p:ph type="body" idx="2"/>
          </p:nvPr>
        </p:nvSpPr>
        <p:spPr>
          <a:xfrm>
            <a:off x="3573029" y="1608129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body" idx="3"/>
          </p:nvPr>
        </p:nvSpPr>
        <p:spPr>
          <a:xfrm>
            <a:off x="6376243" y="1608129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body" idx="4"/>
          </p:nvPr>
        </p:nvSpPr>
        <p:spPr>
          <a:xfrm>
            <a:off x="9117903" y="1608129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body" idx="5"/>
          </p:nvPr>
        </p:nvSpPr>
        <p:spPr>
          <a:xfrm>
            <a:off x="831369" y="3893496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body" idx="6"/>
          </p:nvPr>
        </p:nvSpPr>
        <p:spPr>
          <a:xfrm>
            <a:off x="3573029" y="3893496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body" idx="7"/>
          </p:nvPr>
        </p:nvSpPr>
        <p:spPr>
          <a:xfrm>
            <a:off x="6376243" y="3893496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body" idx="8"/>
          </p:nvPr>
        </p:nvSpPr>
        <p:spPr>
          <a:xfrm>
            <a:off x="9117903" y="3893496"/>
            <a:ext cx="2224560" cy="1937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1828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Image series">
  <p:cSld name="1-Image series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>
            <a:spLocks noGrp="1"/>
          </p:cNvSpPr>
          <p:nvPr>
            <p:ph type="pic" idx="2"/>
          </p:nvPr>
        </p:nvSpPr>
        <p:spPr>
          <a:xfrm>
            <a:off x="7645400" y="-6350"/>
            <a:ext cx="4546600" cy="215582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Google Shape;158;p14"/>
          <p:cNvSpPr>
            <a:spLocks noGrp="1"/>
          </p:cNvSpPr>
          <p:nvPr>
            <p:ph type="pic" idx="3"/>
          </p:nvPr>
        </p:nvSpPr>
        <p:spPr>
          <a:xfrm>
            <a:off x="7645400" y="2352675"/>
            <a:ext cx="4546600" cy="21494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Google Shape;159;p14"/>
          <p:cNvSpPr>
            <a:spLocks noGrp="1"/>
          </p:cNvSpPr>
          <p:nvPr>
            <p:ph type="pic" idx="4"/>
          </p:nvPr>
        </p:nvSpPr>
        <p:spPr>
          <a:xfrm>
            <a:off x="7645400" y="4703763"/>
            <a:ext cx="4546600" cy="215423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Google Shape;160;p14"/>
          <p:cNvSpPr txBox="1">
            <a:spLocks noGrp="1"/>
          </p:cNvSpPr>
          <p:nvPr>
            <p:ph type="title"/>
          </p:nvPr>
        </p:nvSpPr>
        <p:spPr>
          <a:xfrm>
            <a:off x="314693" y="365125"/>
            <a:ext cx="6736022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4"/>
          <p:cNvSpPr txBox="1">
            <a:spLocks noGrp="1"/>
          </p:cNvSpPr>
          <p:nvPr>
            <p:ph type="body" idx="1"/>
          </p:nvPr>
        </p:nvSpPr>
        <p:spPr>
          <a:xfrm>
            <a:off x="314693" y="1817559"/>
            <a:ext cx="6763894" cy="4324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14"/>
          <p:cNvSpPr/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image">
  <p:cSld name="Key imag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/>
          <p:nvPr/>
        </p:nvSpPr>
        <p:spPr>
          <a:xfrm>
            <a:off x="0" y="0"/>
            <a:ext cx="467885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15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3899310" cy="190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5"/>
          <p:cNvSpPr txBox="1">
            <a:spLocks noGrp="1"/>
          </p:cNvSpPr>
          <p:nvPr>
            <p:ph type="body" idx="1"/>
          </p:nvPr>
        </p:nvSpPr>
        <p:spPr>
          <a:xfrm>
            <a:off x="314692" y="2631247"/>
            <a:ext cx="3899310" cy="3511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15"/>
          <p:cNvSpPr>
            <a:spLocks noGrp="1"/>
          </p:cNvSpPr>
          <p:nvPr>
            <p:ph type="pic" idx="2"/>
          </p:nvPr>
        </p:nvSpPr>
        <p:spPr>
          <a:xfrm>
            <a:off x="4678363" y="0"/>
            <a:ext cx="7513637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68" name="Google Shape;16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693" y="6431818"/>
            <a:ext cx="1188988" cy="28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Image series">
  <p:cSld name="2-Image serie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16"/>
          <p:cNvSpPr>
            <a:spLocks noGrp="1"/>
          </p:cNvSpPr>
          <p:nvPr>
            <p:ph type="pic" idx="2"/>
          </p:nvPr>
        </p:nvSpPr>
        <p:spPr>
          <a:xfrm>
            <a:off x="7642225" y="0"/>
            <a:ext cx="2151063" cy="215106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2" name="Google Shape;172;p16"/>
          <p:cNvSpPr>
            <a:spLocks noGrp="1"/>
          </p:cNvSpPr>
          <p:nvPr>
            <p:ph type="pic" idx="3"/>
          </p:nvPr>
        </p:nvSpPr>
        <p:spPr>
          <a:xfrm>
            <a:off x="10044833" y="0"/>
            <a:ext cx="2151063" cy="215106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Google Shape;173;p16"/>
          <p:cNvSpPr>
            <a:spLocks noGrp="1"/>
          </p:cNvSpPr>
          <p:nvPr>
            <p:ph type="pic" idx="4"/>
          </p:nvPr>
        </p:nvSpPr>
        <p:spPr>
          <a:xfrm>
            <a:off x="7642225" y="2353563"/>
            <a:ext cx="2151063" cy="215106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4" name="Google Shape;174;p16"/>
          <p:cNvSpPr>
            <a:spLocks noGrp="1"/>
          </p:cNvSpPr>
          <p:nvPr>
            <p:ph type="pic" idx="5"/>
          </p:nvPr>
        </p:nvSpPr>
        <p:spPr>
          <a:xfrm>
            <a:off x="10044833" y="2353563"/>
            <a:ext cx="2151063" cy="215106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5" name="Google Shape;175;p16"/>
          <p:cNvSpPr>
            <a:spLocks noGrp="1"/>
          </p:cNvSpPr>
          <p:nvPr>
            <p:ph type="pic" idx="6"/>
          </p:nvPr>
        </p:nvSpPr>
        <p:spPr>
          <a:xfrm>
            <a:off x="7642225" y="4706937"/>
            <a:ext cx="2151063" cy="215106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Google Shape;176;p16"/>
          <p:cNvSpPr>
            <a:spLocks noGrp="1"/>
          </p:cNvSpPr>
          <p:nvPr>
            <p:ph type="pic" idx="7"/>
          </p:nvPr>
        </p:nvSpPr>
        <p:spPr>
          <a:xfrm>
            <a:off x="10044833" y="4706937"/>
            <a:ext cx="2151063" cy="215106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314693" y="365125"/>
            <a:ext cx="673602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1"/>
          </p:nvPr>
        </p:nvSpPr>
        <p:spPr>
          <a:xfrm>
            <a:off x="314693" y="1817560"/>
            <a:ext cx="6763894" cy="435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16"/>
          <p:cNvSpPr/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0" name="Google Shape;18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693" y="6431818"/>
            <a:ext cx="1188988" cy="28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">
  <p:cSld name="Key poin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>
            <a:spLocks noGrp="1"/>
          </p:cNvSpPr>
          <p:nvPr>
            <p:ph type="title"/>
          </p:nvPr>
        </p:nvSpPr>
        <p:spPr>
          <a:xfrm>
            <a:off x="573157" y="2624569"/>
            <a:ext cx="11045686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1"/>
          </p:nvPr>
        </p:nvSpPr>
        <p:spPr>
          <a:xfrm>
            <a:off x="556069" y="3774422"/>
            <a:ext cx="11062774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 i="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5668818" y="3393042"/>
            <a:ext cx="854364" cy="719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17"/>
          <p:cNvSpPr/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693" y="6431818"/>
            <a:ext cx="1188988" cy="28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column">
  <p:cSld name="2-column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>
            <a:spLocks noGrp="1"/>
          </p:cNvSpPr>
          <p:nvPr>
            <p:ph type="body" idx="1"/>
          </p:nvPr>
        </p:nvSpPr>
        <p:spPr>
          <a:xfrm>
            <a:off x="314692" y="1825625"/>
            <a:ext cx="5563532" cy="413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2"/>
          </p:nvPr>
        </p:nvSpPr>
        <p:spPr>
          <a:xfrm>
            <a:off x="6243592" y="1825625"/>
            <a:ext cx="5563532" cy="413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-column-bar">
  <p:cSld name="2-column-bar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body" idx="1"/>
          </p:nvPr>
        </p:nvSpPr>
        <p:spPr>
          <a:xfrm>
            <a:off x="314692" y="2151529"/>
            <a:ext cx="5528426" cy="380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body" idx="2"/>
          </p:nvPr>
        </p:nvSpPr>
        <p:spPr>
          <a:xfrm>
            <a:off x="6237905" y="2151529"/>
            <a:ext cx="5534113" cy="380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314692" y="1636672"/>
            <a:ext cx="5533588" cy="433965"/>
          </a:xfrm>
          <a:custGeom>
            <a:avLst/>
            <a:gdLst/>
            <a:ahLst/>
            <a:cxnLst/>
            <a:rect l="l" t="t" r="r" b="b"/>
            <a:pathLst>
              <a:path w="5357304" h="373951" extrusionOk="0">
                <a:moveTo>
                  <a:pt x="5357305" y="0"/>
                </a:moveTo>
                <a:lnTo>
                  <a:pt x="5357305" y="373951"/>
                </a:lnTo>
                <a:lnTo>
                  <a:pt x="5227765" y="373951"/>
                </a:lnTo>
                <a:lnTo>
                  <a:pt x="2843848" y="373951"/>
                </a:lnTo>
                <a:lnTo>
                  <a:pt x="0" y="373951"/>
                </a:lnTo>
                <a:lnTo>
                  <a:pt x="0" y="0"/>
                </a:lnTo>
                <a:lnTo>
                  <a:pt x="2843848" y="0"/>
                </a:lnTo>
                <a:lnTo>
                  <a:pt x="535730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6238430" y="1636672"/>
            <a:ext cx="5533588" cy="433965"/>
          </a:xfrm>
          <a:custGeom>
            <a:avLst/>
            <a:gdLst/>
            <a:ahLst/>
            <a:cxnLst/>
            <a:rect l="l" t="t" r="r" b="b"/>
            <a:pathLst>
              <a:path w="5357304" h="373951" extrusionOk="0">
                <a:moveTo>
                  <a:pt x="5357305" y="0"/>
                </a:moveTo>
                <a:lnTo>
                  <a:pt x="5357305" y="373951"/>
                </a:lnTo>
                <a:lnTo>
                  <a:pt x="5227764" y="373951"/>
                </a:lnTo>
                <a:lnTo>
                  <a:pt x="2843848" y="373951"/>
                </a:lnTo>
                <a:lnTo>
                  <a:pt x="0" y="373951"/>
                </a:lnTo>
                <a:lnTo>
                  <a:pt x="0" y="0"/>
                </a:lnTo>
                <a:lnTo>
                  <a:pt x="2843848" y="0"/>
                </a:lnTo>
                <a:lnTo>
                  <a:pt x="535730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19"/>
          <p:cNvSpPr txBox="1">
            <a:spLocks noGrp="1"/>
          </p:cNvSpPr>
          <p:nvPr>
            <p:ph type="body" idx="3"/>
          </p:nvPr>
        </p:nvSpPr>
        <p:spPr>
          <a:xfrm>
            <a:off x="314691" y="1636713"/>
            <a:ext cx="5534113" cy="43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body" idx="4"/>
          </p:nvPr>
        </p:nvSpPr>
        <p:spPr>
          <a:xfrm>
            <a:off x="6238429" y="1636672"/>
            <a:ext cx="5534113" cy="43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column-bar">
  <p:cSld name="3-column-bar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314692" y="1636672"/>
            <a:ext cx="3665806" cy="433965"/>
          </a:xfrm>
          <a:custGeom>
            <a:avLst/>
            <a:gdLst/>
            <a:ahLst/>
            <a:cxnLst/>
            <a:rect l="l" t="t" r="r" b="b"/>
            <a:pathLst>
              <a:path w="2513520" h="373951" extrusionOk="0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8139365" y="1636672"/>
            <a:ext cx="3665806" cy="433965"/>
          </a:xfrm>
          <a:custGeom>
            <a:avLst/>
            <a:gdLst/>
            <a:ahLst/>
            <a:cxnLst/>
            <a:rect l="l" t="t" r="r" b="b"/>
            <a:pathLst>
              <a:path w="2513520" h="373951" extrusionOk="0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0"/>
          <p:cNvSpPr txBox="1">
            <a:spLocks noGrp="1"/>
          </p:cNvSpPr>
          <p:nvPr>
            <p:ph type="body" idx="1"/>
          </p:nvPr>
        </p:nvSpPr>
        <p:spPr>
          <a:xfrm>
            <a:off x="314691" y="1636713"/>
            <a:ext cx="3646421" cy="43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20"/>
          <p:cNvSpPr txBox="1">
            <a:spLocks noGrp="1"/>
          </p:cNvSpPr>
          <p:nvPr>
            <p:ph type="body" idx="2"/>
          </p:nvPr>
        </p:nvSpPr>
        <p:spPr>
          <a:xfrm>
            <a:off x="4231283" y="1636713"/>
            <a:ext cx="3646421" cy="43396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20"/>
          <p:cNvSpPr txBox="1">
            <a:spLocks noGrp="1"/>
          </p:cNvSpPr>
          <p:nvPr>
            <p:ph type="body" idx="3"/>
          </p:nvPr>
        </p:nvSpPr>
        <p:spPr>
          <a:xfrm>
            <a:off x="8159995" y="1636713"/>
            <a:ext cx="3646421" cy="43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body" idx="4"/>
          </p:nvPr>
        </p:nvSpPr>
        <p:spPr>
          <a:xfrm>
            <a:off x="314692" y="2191870"/>
            <a:ext cx="3650690" cy="361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body" idx="5"/>
          </p:nvPr>
        </p:nvSpPr>
        <p:spPr>
          <a:xfrm>
            <a:off x="4228076" y="2191870"/>
            <a:ext cx="3646421" cy="361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body" idx="6"/>
          </p:nvPr>
        </p:nvSpPr>
        <p:spPr>
          <a:xfrm>
            <a:off x="8156060" y="2191870"/>
            <a:ext cx="3647391" cy="361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column image">
  <p:cSld name="3-column image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 extrusionOk="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1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685523" cy="91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21"/>
          <p:cNvSpPr/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693" y="6431818"/>
            <a:ext cx="1188988" cy="2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>
            <a:spLocks noGrp="1"/>
          </p:cNvSpPr>
          <p:nvPr>
            <p:ph type="pic" idx="2"/>
          </p:nvPr>
        </p:nvSpPr>
        <p:spPr>
          <a:xfrm>
            <a:off x="1773908" y="1647919"/>
            <a:ext cx="2393950" cy="23939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6" name="Google Shape;216;p21"/>
          <p:cNvSpPr>
            <a:spLocks noGrp="1"/>
          </p:cNvSpPr>
          <p:nvPr>
            <p:ph type="pic" idx="3"/>
          </p:nvPr>
        </p:nvSpPr>
        <p:spPr>
          <a:xfrm>
            <a:off x="4949380" y="1654993"/>
            <a:ext cx="2393950" cy="23939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Google Shape;217;p21"/>
          <p:cNvSpPr>
            <a:spLocks noGrp="1"/>
          </p:cNvSpPr>
          <p:nvPr>
            <p:ph type="pic" idx="4"/>
          </p:nvPr>
        </p:nvSpPr>
        <p:spPr>
          <a:xfrm>
            <a:off x="8126285" y="1677066"/>
            <a:ext cx="2393950" cy="23939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8" name="Google Shape;218;p21"/>
          <p:cNvSpPr txBox="1">
            <a:spLocks noGrp="1"/>
          </p:cNvSpPr>
          <p:nvPr>
            <p:ph type="body" idx="1"/>
          </p:nvPr>
        </p:nvSpPr>
        <p:spPr>
          <a:xfrm>
            <a:off x="1773238" y="4209116"/>
            <a:ext cx="239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21"/>
          <p:cNvSpPr txBox="1">
            <a:spLocks noGrp="1"/>
          </p:cNvSpPr>
          <p:nvPr>
            <p:ph type="body" idx="5"/>
          </p:nvPr>
        </p:nvSpPr>
        <p:spPr>
          <a:xfrm>
            <a:off x="4949380" y="4209116"/>
            <a:ext cx="239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0" name="Google Shape;220;p21"/>
          <p:cNvSpPr txBox="1">
            <a:spLocks noGrp="1"/>
          </p:cNvSpPr>
          <p:nvPr>
            <p:ph type="body" idx="6"/>
          </p:nvPr>
        </p:nvSpPr>
        <p:spPr>
          <a:xfrm>
            <a:off x="8126285" y="4209116"/>
            <a:ext cx="239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column-bar">
  <p:cSld name="4-column-bar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/>
          <p:nvPr/>
        </p:nvSpPr>
        <p:spPr>
          <a:xfrm>
            <a:off x="314692" y="1636672"/>
            <a:ext cx="2755330" cy="433965"/>
          </a:xfrm>
          <a:custGeom>
            <a:avLst/>
            <a:gdLst/>
            <a:ahLst/>
            <a:cxnLst/>
            <a:rect l="l" t="t" r="r" b="b"/>
            <a:pathLst>
              <a:path w="2513520" h="373951" extrusionOk="0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3223131" y="1636672"/>
            <a:ext cx="2755330" cy="373951"/>
          </a:xfrm>
          <a:custGeom>
            <a:avLst/>
            <a:gdLst/>
            <a:ahLst/>
            <a:cxnLst/>
            <a:rect l="l" t="t" r="r" b="b"/>
            <a:pathLst>
              <a:path w="2513520" h="373951" extrusionOk="0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6144761" y="1636672"/>
            <a:ext cx="2740760" cy="433965"/>
          </a:xfrm>
          <a:custGeom>
            <a:avLst/>
            <a:gdLst/>
            <a:ahLst/>
            <a:cxnLst/>
            <a:rect l="l" t="t" r="r" b="b"/>
            <a:pathLst>
              <a:path w="2513520" h="373951" extrusionOk="0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9070721" y="1636672"/>
            <a:ext cx="2755330" cy="433965"/>
          </a:xfrm>
          <a:custGeom>
            <a:avLst/>
            <a:gdLst/>
            <a:ahLst/>
            <a:cxnLst/>
            <a:rect l="l" t="t" r="r" b="b"/>
            <a:pathLst>
              <a:path w="2513520" h="373951" extrusionOk="0">
                <a:moveTo>
                  <a:pt x="0" y="0"/>
                </a:moveTo>
                <a:lnTo>
                  <a:pt x="2513520" y="0"/>
                </a:lnTo>
                <a:lnTo>
                  <a:pt x="2513520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2"/>
          <p:cNvSpPr txBox="1">
            <a:spLocks noGrp="1"/>
          </p:cNvSpPr>
          <p:nvPr>
            <p:ph type="body" idx="1"/>
          </p:nvPr>
        </p:nvSpPr>
        <p:spPr>
          <a:xfrm>
            <a:off x="314692" y="1636713"/>
            <a:ext cx="2740760" cy="43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body" idx="2"/>
          </p:nvPr>
        </p:nvSpPr>
        <p:spPr>
          <a:xfrm>
            <a:off x="3237701" y="1636713"/>
            <a:ext cx="2740760" cy="43396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body" idx="3"/>
          </p:nvPr>
        </p:nvSpPr>
        <p:spPr>
          <a:xfrm>
            <a:off x="6144761" y="1636713"/>
            <a:ext cx="2740760" cy="43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22"/>
          <p:cNvSpPr txBox="1">
            <a:spLocks noGrp="1"/>
          </p:cNvSpPr>
          <p:nvPr>
            <p:ph type="body" idx="4"/>
          </p:nvPr>
        </p:nvSpPr>
        <p:spPr>
          <a:xfrm>
            <a:off x="9069571" y="1636713"/>
            <a:ext cx="2740760" cy="433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22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body" idx="5"/>
          </p:nvPr>
        </p:nvSpPr>
        <p:spPr>
          <a:xfrm>
            <a:off x="314692" y="2191870"/>
            <a:ext cx="2743968" cy="361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22"/>
          <p:cNvSpPr txBox="1">
            <a:spLocks noGrp="1"/>
          </p:cNvSpPr>
          <p:nvPr>
            <p:ph type="body" idx="6"/>
          </p:nvPr>
        </p:nvSpPr>
        <p:spPr>
          <a:xfrm>
            <a:off x="3237701" y="2191870"/>
            <a:ext cx="2740760" cy="361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22"/>
          <p:cNvSpPr txBox="1">
            <a:spLocks noGrp="1"/>
          </p:cNvSpPr>
          <p:nvPr>
            <p:ph type="body" idx="7"/>
          </p:nvPr>
        </p:nvSpPr>
        <p:spPr>
          <a:xfrm>
            <a:off x="6144032" y="2191870"/>
            <a:ext cx="2741489" cy="361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22"/>
          <p:cNvSpPr txBox="1">
            <a:spLocks noGrp="1"/>
          </p:cNvSpPr>
          <p:nvPr>
            <p:ph type="body" idx="8"/>
          </p:nvPr>
        </p:nvSpPr>
        <p:spPr>
          <a:xfrm>
            <a:off x="9069571" y="2191870"/>
            <a:ext cx="2737553" cy="361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914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Supporting points">
  <p:cSld name="4-Supporting points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>
            <a:spLocks noGrp="1"/>
          </p:cNvSpPr>
          <p:nvPr>
            <p:ph type="pic" idx="2"/>
          </p:nvPr>
        </p:nvSpPr>
        <p:spPr>
          <a:xfrm>
            <a:off x="3580965" y="1776677"/>
            <a:ext cx="2194560" cy="185546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7" name="Google Shape;237;p23"/>
          <p:cNvSpPr>
            <a:spLocks noGrp="1"/>
          </p:cNvSpPr>
          <p:nvPr>
            <p:ph type="pic" idx="3"/>
          </p:nvPr>
        </p:nvSpPr>
        <p:spPr>
          <a:xfrm>
            <a:off x="3580965" y="3929080"/>
            <a:ext cx="2194560" cy="185546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8" name="Google Shape;238;p23"/>
          <p:cNvSpPr>
            <a:spLocks noGrp="1"/>
          </p:cNvSpPr>
          <p:nvPr>
            <p:ph type="pic" idx="4"/>
          </p:nvPr>
        </p:nvSpPr>
        <p:spPr>
          <a:xfrm>
            <a:off x="8521865" y="1776677"/>
            <a:ext cx="2194560" cy="185546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9" name="Google Shape;239;p23"/>
          <p:cNvSpPr>
            <a:spLocks noGrp="1"/>
          </p:cNvSpPr>
          <p:nvPr>
            <p:ph type="pic" idx="5"/>
          </p:nvPr>
        </p:nvSpPr>
        <p:spPr>
          <a:xfrm>
            <a:off x="8521865" y="3929080"/>
            <a:ext cx="2194560" cy="185546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0" name="Google Shape;240;p23"/>
          <p:cNvSpPr/>
          <p:nvPr/>
        </p:nvSpPr>
        <p:spPr>
          <a:xfrm>
            <a:off x="1384410" y="1758337"/>
            <a:ext cx="2199902" cy="187380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6457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3"/>
          <p:cNvSpPr txBox="1">
            <a:spLocks noGrp="1"/>
          </p:cNvSpPr>
          <p:nvPr>
            <p:ph type="body" idx="1"/>
          </p:nvPr>
        </p:nvSpPr>
        <p:spPr>
          <a:xfrm>
            <a:off x="1384410" y="3911299"/>
            <a:ext cx="2192338" cy="18732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182875" tIns="182875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2" name="Google Shape;242;p23"/>
          <p:cNvSpPr txBox="1">
            <a:spLocks noGrp="1"/>
          </p:cNvSpPr>
          <p:nvPr>
            <p:ph type="body" idx="6"/>
          </p:nvPr>
        </p:nvSpPr>
        <p:spPr>
          <a:xfrm>
            <a:off x="6329527" y="1758896"/>
            <a:ext cx="2192338" cy="18732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2875" tIns="182875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3" name="Google Shape;243;p23"/>
          <p:cNvSpPr txBox="1">
            <a:spLocks noGrp="1"/>
          </p:cNvSpPr>
          <p:nvPr>
            <p:ph type="body" idx="7"/>
          </p:nvPr>
        </p:nvSpPr>
        <p:spPr>
          <a:xfrm>
            <a:off x="6329527" y="3911299"/>
            <a:ext cx="2192338" cy="18732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82875" tIns="182875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23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3"/>
          <p:cNvSpPr txBox="1">
            <a:spLocks noGrp="1"/>
          </p:cNvSpPr>
          <p:nvPr>
            <p:ph type="body" idx="8"/>
          </p:nvPr>
        </p:nvSpPr>
        <p:spPr>
          <a:xfrm>
            <a:off x="1384410" y="1758896"/>
            <a:ext cx="2192338" cy="187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182875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- Standard">
  <p:cSld name="Summary - Standard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 descr="A high angle view of a city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>
            <a:spLocks noGrp="1"/>
          </p:cNvSpPr>
          <p:nvPr>
            <p:ph type="ctrTitle"/>
          </p:nvPr>
        </p:nvSpPr>
        <p:spPr>
          <a:xfrm>
            <a:off x="-9145" y="2258209"/>
            <a:ext cx="1221029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None/>
              <a:defRPr sz="48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4"/>
          <p:cNvSpPr txBox="1">
            <a:spLocks noGrp="1"/>
          </p:cNvSpPr>
          <p:nvPr>
            <p:ph type="subTitle" idx="1"/>
          </p:nvPr>
        </p:nvSpPr>
        <p:spPr>
          <a:xfrm>
            <a:off x="0" y="2922742"/>
            <a:ext cx="12192000" cy="397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 b="1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5668818" y="3468601"/>
            <a:ext cx="854364" cy="7191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- Social">
  <p:cSld name="Summary - Social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5" descr="A high angle view of a city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/>
          <p:nvPr/>
        </p:nvSpPr>
        <p:spPr>
          <a:xfrm>
            <a:off x="0" y="0"/>
            <a:ext cx="12192000" cy="2575976"/>
          </a:xfrm>
          <a:prstGeom prst="rect">
            <a:avLst/>
          </a:prstGeom>
          <a:gradFill>
            <a:gsLst>
              <a:gs pos="0">
                <a:srgbClr val="FFFFFF">
                  <a:alpha val="90980"/>
                </a:srgbClr>
              </a:gs>
              <a:gs pos="15000">
                <a:srgbClr val="FFFFFF">
                  <a:alpha val="90980"/>
                </a:srgbClr>
              </a:gs>
              <a:gs pos="57000">
                <a:srgbClr val="FFFFFF">
                  <a:alpha val="61568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5" name="Google Shape;255;p25"/>
          <p:cNvGrpSpPr/>
          <p:nvPr/>
        </p:nvGrpSpPr>
        <p:grpSpPr>
          <a:xfrm>
            <a:off x="2230425" y="1950223"/>
            <a:ext cx="7731150" cy="1180116"/>
            <a:chOff x="2419238" y="1689595"/>
            <a:chExt cx="7333183" cy="1119369"/>
          </a:xfrm>
        </p:grpSpPr>
        <p:sp>
          <p:nvSpPr>
            <p:cNvPr id="256" name="Google Shape;256;p25"/>
            <p:cNvSpPr/>
            <p:nvPr/>
          </p:nvSpPr>
          <p:spPr>
            <a:xfrm>
              <a:off x="6151118" y="1690962"/>
              <a:ext cx="1113318" cy="1113317"/>
            </a:xfrm>
            <a:custGeom>
              <a:avLst/>
              <a:gdLst/>
              <a:ahLst/>
              <a:cxnLst/>
              <a:rect l="l" t="t" r="r" b="b"/>
              <a:pathLst>
                <a:path w="543306" h="543305" extrusionOk="0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6531907" y="1870334"/>
              <a:ext cx="352119" cy="754014"/>
            </a:xfrm>
            <a:custGeom>
              <a:avLst/>
              <a:gdLst/>
              <a:ahLst/>
              <a:cxnLst/>
              <a:rect l="l" t="t" r="r" b="b"/>
              <a:pathLst>
                <a:path w="171836" h="367963" extrusionOk="0">
                  <a:moveTo>
                    <a:pt x="136975" y="62674"/>
                  </a:moveTo>
                  <a:cubicBezTo>
                    <a:pt x="147167" y="62674"/>
                    <a:pt x="157454" y="62579"/>
                    <a:pt x="167646" y="62674"/>
                  </a:cubicBezTo>
                  <a:cubicBezTo>
                    <a:pt x="170789" y="62674"/>
                    <a:pt x="171837" y="61722"/>
                    <a:pt x="171837" y="58483"/>
                  </a:cubicBezTo>
                  <a:cubicBezTo>
                    <a:pt x="171742" y="40291"/>
                    <a:pt x="171742" y="22098"/>
                    <a:pt x="171837" y="3905"/>
                  </a:cubicBezTo>
                  <a:cubicBezTo>
                    <a:pt x="171837" y="1048"/>
                    <a:pt x="170980" y="0"/>
                    <a:pt x="168027" y="0"/>
                  </a:cubicBezTo>
                  <a:cubicBezTo>
                    <a:pt x="146786" y="190"/>
                    <a:pt x="125546" y="-286"/>
                    <a:pt x="104305" y="667"/>
                  </a:cubicBezTo>
                  <a:cubicBezTo>
                    <a:pt x="83635" y="1619"/>
                    <a:pt x="65729" y="9430"/>
                    <a:pt x="53156" y="26670"/>
                  </a:cubicBezTo>
                  <a:cubicBezTo>
                    <a:pt x="43154" y="40291"/>
                    <a:pt x="38677" y="55817"/>
                    <a:pt x="38392" y="72580"/>
                  </a:cubicBezTo>
                  <a:cubicBezTo>
                    <a:pt x="38106" y="86296"/>
                    <a:pt x="38106" y="100013"/>
                    <a:pt x="38392" y="113633"/>
                  </a:cubicBezTo>
                  <a:cubicBezTo>
                    <a:pt x="38487" y="118586"/>
                    <a:pt x="37439" y="120491"/>
                    <a:pt x="32105" y="120205"/>
                  </a:cubicBezTo>
                  <a:cubicBezTo>
                    <a:pt x="22961" y="119729"/>
                    <a:pt x="13722" y="120205"/>
                    <a:pt x="4483" y="120015"/>
                  </a:cubicBezTo>
                  <a:cubicBezTo>
                    <a:pt x="958" y="120015"/>
                    <a:pt x="-89" y="121063"/>
                    <a:pt x="6" y="124492"/>
                  </a:cubicBezTo>
                  <a:cubicBezTo>
                    <a:pt x="197" y="142494"/>
                    <a:pt x="197" y="160496"/>
                    <a:pt x="6" y="178403"/>
                  </a:cubicBezTo>
                  <a:cubicBezTo>
                    <a:pt x="6" y="182213"/>
                    <a:pt x="1339" y="183261"/>
                    <a:pt x="4959" y="183166"/>
                  </a:cubicBezTo>
                  <a:cubicBezTo>
                    <a:pt x="13913" y="182975"/>
                    <a:pt x="22961" y="183356"/>
                    <a:pt x="31915" y="182975"/>
                  </a:cubicBezTo>
                  <a:cubicBezTo>
                    <a:pt x="36772" y="182785"/>
                    <a:pt x="38106" y="184309"/>
                    <a:pt x="38106" y="189167"/>
                  </a:cubicBezTo>
                  <a:cubicBezTo>
                    <a:pt x="37915" y="217932"/>
                    <a:pt x="38011" y="246793"/>
                    <a:pt x="38011" y="275558"/>
                  </a:cubicBezTo>
                  <a:cubicBezTo>
                    <a:pt x="38011" y="304324"/>
                    <a:pt x="38106" y="332327"/>
                    <a:pt x="37915" y="360807"/>
                  </a:cubicBezTo>
                  <a:cubicBezTo>
                    <a:pt x="37915" y="366141"/>
                    <a:pt x="38868" y="368141"/>
                    <a:pt x="44773" y="367951"/>
                  </a:cubicBezTo>
                  <a:cubicBezTo>
                    <a:pt x="65824" y="367570"/>
                    <a:pt x="86874" y="367570"/>
                    <a:pt x="107924" y="367951"/>
                  </a:cubicBezTo>
                  <a:cubicBezTo>
                    <a:pt x="113830" y="368046"/>
                    <a:pt x="115354" y="366617"/>
                    <a:pt x="115354" y="360617"/>
                  </a:cubicBezTo>
                  <a:cubicBezTo>
                    <a:pt x="115068" y="304229"/>
                    <a:pt x="115163" y="247841"/>
                    <a:pt x="115258" y="191452"/>
                  </a:cubicBezTo>
                  <a:cubicBezTo>
                    <a:pt x="115258" y="182499"/>
                    <a:pt x="114401" y="183833"/>
                    <a:pt x="123164" y="183737"/>
                  </a:cubicBezTo>
                  <a:cubicBezTo>
                    <a:pt x="135451" y="183737"/>
                    <a:pt x="147643" y="183642"/>
                    <a:pt x="159931" y="183737"/>
                  </a:cubicBezTo>
                  <a:cubicBezTo>
                    <a:pt x="163646" y="183737"/>
                    <a:pt x="165455" y="182975"/>
                    <a:pt x="165836" y="178975"/>
                  </a:cubicBezTo>
                  <a:cubicBezTo>
                    <a:pt x="167360" y="160877"/>
                    <a:pt x="169075" y="142780"/>
                    <a:pt x="170980" y="124682"/>
                  </a:cubicBezTo>
                  <a:cubicBezTo>
                    <a:pt x="171456" y="119920"/>
                    <a:pt x="170027" y="118872"/>
                    <a:pt x="165455" y="118872"/>
                  </a:cubicBezTo>
                  <a:cubicBezTo>
                    <a:pt x="149930" y="119158"/>
                    <a:pt x="134404" y="118872"/>
                    <a:pt x="118878" y="118967"/>
                  </a:cubicBezTo>
                  <a:cubicBezTo>
                    <a:pt x="116306" y="118967"/>
                    <a:pt x="114020" y="119253"/>
                    <a:pt x="114115" y="115348"/>
                  </a:cubicBezTo>
                  <a:cubicBezTo>
                    <a:pt x="114401" y="104489"/>
                    <a:pt x="113830" y="93631"/>
                    <a:pt x="114592" y="82867"/>
                  </a:cubicBezTo>
                  <a:cubicBezTo>
                    <a:pt x="115449" y="69437"/>
                    <a:pt x="123545" y="62389"/>
                    <a:pt x="137166" y="623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4907224" y="1690572"/>
              <a:ext cx="1113318" cy="1113318"/>
            </a:xfrm>
            <a:custGeom>
              <a:avLst/>
              <a:gdLst/>
              <a:ahLst/>
              <a:cxnLst/>
              <a:rect l="l" t="t" r="r" b="b"/>
              <a:pathLst>
                <a:path w="543306" h="543306" extrusionOk="0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9" name="Google Shape;259;p25"/>
            <p:cNvSpPr/>
            <p:nvPr/>
          </p:nvSpPr>
          <p:spPr>
            <a:xfrm>
              <a:off x="5613002" y="2009890"/>
              <a:ext cx="88611" cy="88611"/>
            </a:xfrm>
            <a:custGeom>
              <a:avLst/>
              <a:gdLst/>
              <a:ahLst/>
              <a:cxnLst/>
              <a:rect l="l" t="t" r="r" b="b"/>
              <a:pathLst>
                <a:path w="43243" h="43243" extrusionOk="0">
                  <a:moveTo>
                    <a:pt x="21622" y="0"/>
                  </a:moveTo>
                  <a:cubicBezTo>
                    <a:pt x="9715" y="0"/>
                    <a:pt x="0" y="9716"/>
                    <a:pt x="0" y="21622"/>
                  </a:cubicBezTo>
                  <a:cubicBezTo>
                    <a:pt x="0" y="33528"/>
                    <a:pt x="9715" y="43244"/>
                    <a:pt x="21622" y="43244"/>
                  </a:cubicBezTo>
                  <a:cubicBezTo>
                    <a:pt x="33528" y="43244"/>
                    <a:pt x="43244" y="33528"/>
                    <a:pt x="43244" y="21622"/>
                  </a:cubicBezTo>
                  <a:cubicBezTo>
                    <a:pt x="43244" y="9716"/>
                    <a:pt x="33528" y="0"/>
                    <a:pt x="216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0" name="Google Shape;260;p25"/>
            <p:cNvSpPr/>
            <p:nvPr/>
          </p:nvSpPr>
          <p:spPr>
            <a:xfrm>
              <a:off x="5100064" y="1883412"/>
              <a:ext cx="727442" cy="727442"/>
            </a:xfrm>
            <a:custGeom>
              <a:avLst/>
              <a:gdLst/>
              <a:ahLst/>
              <a:cxnLst/>
              <a:rect l="l" t="t" r="r" b="b"/>
              <a:pathLst>
                <a:path w="354996" h="354996" extrusionOk="0">
                  <a:moveTo>
                    <a:pt x="265462" y="0"/>
                  </a:moveTo>
                  <a:lnTo>
                    <a:pt x="89535" y="0"/>
                  </a:lnTo>
                  <a:cubicBezTo>
                    <a:pt x="40196" y="0"/>
                    <a:pt x="0" y="40196"/>
                    <a:pt x="0" y="89535"/>
                  </a:cubicBezTo>
                  <a:lnTo>
                    <a:pt x="0" y="265462"/>
                  </a:lnTo>
                  <a:cubicBezTo>
                    <a:pt x="0" y="314896"/>
                    <a:pt x="40196" y="354997"/>
                    <a:pt x="89535" y="354997"/>
                  </a:cubicBezTo>
                  <a:lnTo>
                    <a:pt x="265462" y="354997"/>
                  </a:lnTo>
                  <a:cubicBezTo>
                    <a:pt x="314801" y="354997"/>
                    <a:pt x="354997" y="314801"/>
                    <a:pt x="354997" y="265462"/>
                  </a:cubicBezTo>
                  <a:lnTo>
                    <a:pt x="354997" y="89535"/>
                  </a:lnTo>
                  <a:cubicBezTo>
                    <a:pt x="354997" y="40196"/>
                    <a:pt x="314801" y="0"/>
                    <a:pt x="265462" y="0"/>
                  </a:cubicBezTo>
                  <a:close/>
                  <a:moveTo>
                    <a:pt x="316421" y="265462"/>
                  </a:moveTo>
                  <a:cubicBezTo>
                    <a:pt x="316421" y="293560"/>
                    <a:pt x="293561" y="316421"/>
                    <a:pt x="265462" y="316421"/>
                  </a:cubicBezTo>
                  <a:lnTo>
                    <a:pt x="89535" y="316421"/>
                  </a:lnTo>
                  <a:cubicBezTo>
                    <a:pt x="61436" y="316421"/>
                    <a:pt x="38576" y="293560"/>
                    <a:pt x="38576" y="265462"/>
                  </a:cubicBezTo>
                  <a:lnTo>
                    <a:pt x="38576" y="89535"/>
                  </a:lnTo>
                  <a:cubicBezTo>
                    <a:pt x="38576" y="61436"/>
                    <a:pt x="61436" y="38576"/>
                    <a:pt x="89535" y="38576"/>
                  </a:cubicBezTo>
                  <a:lnTo>
                    <a:pt x="265462" y="38576"/>
                  </a:lnTo>
                  <a:cubicBezTo>
                    <a:pt x="293561" y="38576"/>
                    <a:pt x="316421" y="61436"/>
                    <a:pt x="316421" y="89535"/>
                  </a:cubicBezTo>
                  <a:lnTo>
                    <a:pt x="316421" y="2654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5276508" y="2059857"/>
              <a:ext cx="374747" cy="374750"/>
            </a:xfrm>
            <a:custGeom>
              <a:avLst/>
              <a:gdLst/>
              <a:ahLst/>
              <a:cxnLst/>
              <a:rect l="l" t="t" r="r" b="b"/>
              <a:pathLst>
                <a:path w="182879" h="182880" extrusionOk="0">
                  <a:moveTo>
                    <a:pt x="91440" y="0"/>
                  </a:moveTo>
                  <a:cubicBezTo>
                    <a:pt x="41053" y="0"/>
                    <a:pt x="0" y="41053"/>
                    <a:pt x="0" y="91440"/>
                  </a:cubicBezTo>
                  <a:cubicBezTo>
                    <a:pt x="0" y="141827"/>
                    <a:pt x="41053" y="182880"/>
                    <a:pt x="91440" y="182880"/>
                  </a:cubicBezTo>
                  <a:cubicBezTo>
                    <a:pt x="141827" y="182880"/>
                    <a:pt x="182880" y="141827"/>
                    <a:pt x="182880" y="91440"/>
                  </a:cubicBezTo>
                  <a:cubicBezTo>
                    <a:pt x="182880" y="41053"/>
                    <a:pt x="141922" y="0"/>
                    <a:pt x="91440" y="0"/>
                  </a:cubicBezTo>
                  <a:close/>
                  <a:moveTo>
                    <a:pt x="91440" y="144209"/>
                  </a:moveTo>
                  <a:cubicBezTo>
                    <a:pt x="62389" y="144209"/>
                    <a:pt x="38671" y="120491"/>
                    <a:pt x="38671" y="91440"/>
                  </a:cubicBezTo>
                  <a:cubicBezTo>
                    <a:pt x="38671" y="62389"/>
                    <a:pt x="62389" y="38672"/>
                    <a:pt x="91440" y="38672"/>
                  </a:cubicBezTo>
                  <a:cubicBezTo>
                    <a:pt x="120491" y="38672"/>
                    <a:pt x="144304" y="62389"/>
                    <a:pt x="144304" y="91440"/>
                  </a:cubicBezTo>
                  <a:cubicBezTo>
                    <a:pt x="144304" y="120491"/>
                    <a:pt x="120586" y="144209"/>
                    <a:pt x="91440" y="1442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7395013" y="1695646"/>
              <a:ext cx="1113318" cy="1113318"/>
            </a:xfrm>
            <a:custGeom>
              <a:avLst/>
              <a:gdLst/>
              <a:ahLst/>
              <a:cxnLst/>
              <a:rect l="l" t="t" r="r" b="b"/>
              <a:pathLst>
                <a:path w="543306" h="543306" extrusionOk="0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3" name="Google Shape;263;p25"/>
            <p:cNvSpPr/>
            <p:nvPr/>
          </p:nvSpPr>
          <p:spPr>
            <a:xfrm>
              <a:off x="7581999" y="1991739"/>
              <a:ext cx="739350" cy="521135"/>
            </a:xfrm>
            <a:custGeom>
              <a:avLst/>
              <a:gdLst/>
              <a:ahLst/>
              <a:cxnLst/>
              <a:rect l="l" t="t" r="r" b="b"/>
              <a:pathLst>
                <a:path w="360807" h="254317" extrusionOk="0">
                  <a:moveTo>
                    <a:pt x="353282" y="39719"/>
                  </a:moveTo>
                  <a:cubicBezTo>
                    <a:pt x="349091" y="24098"/>
                    <a:pt x="336899" y="11811"/>
                    <a:pt x="321373" y="7620"/>
                  </a:cubicBezTo>
                  <a:cubicBezTo>
                    <a:pt x="293275" y="0"/>
                    <a:pt x="180404" y="0"/>
                    <a:pt x="180404" y="0"/>
                  </a:cubicBezTo>
                  <a:cubicBezTo>
                    <a:pt x="180404" y="0"/>
                    <a:pt x="67532" y="0"/>
                    <a:pt x="39433" y="7620"/>
                  </a:cubicBezTo>
                  <a:cubicBezTo>
                    <a:pt x="23908" y="11811"/>
                    <a:pt x="11716" y="24098"/>
                    <a:pt x="7525" y="39719"/>
                  </a:cubicBezTo>
                  <a:cubicBezTo>
                    <a:pt x="0" y="68008"/>
                    <a:pt x="0" y="127159"/>
                    <a:pt x="0" y="127159"/>
                  </a:cubicBezTo>
                  <a:cubicBezTo>
                    <a:pt x="0" y="127159"/>
                    <a:pt x="0" y="186214"/>
                    <a:pt x="7525" y="214598"/>
                  </a:cubicBezTo>
                  <a:cubicBezTo>
                    <a:pt x="11716" y="230219"/>
                    <a:pt x="23908" y="242506"/>
                    <a:pt x="39433" y="246697"/>
                  </a:cubicBezTo>
                  <a:cubicBezTo>
                    <a:pt x="67532" y="254317"/>
                    <a:pt x="180404" y="254317"/>
                    <a:pt x="180404" y="254317"/>
                  </a:cubicBezTo>
                  <a:cubicBezTo>
                    <a:pt x="180404" y="254317"/>
                    <a:pt x="293275" y="254317"/>
                    <a:pt x="321373" y="246697"/>
                  </a:cubicBezTo>
                  <a:cubicBezTo>
                    <a:pt x="336899" y="242506"/>
                    <a:pt x="349091" y="230219"/>
                    <a:pt x="353282" y="214598"/>
                  </a:cubicBezTo>
                  <a:cubicBezTo>
                    <a:pt x="360807" y="186309"/>
                    <a:pt x="360807" y="127159"/>
                    <a:pt x="360807" y="127159"/>
                  </a:cubicBezTo>
                  <a:cubicBezTo>
                    <a:pt x="360807" y="127159"/>
                    <a:pt x="360807" y="68104"/>
                    <a:pt x="353282" y="39719"/>
                  </a:cubicBezTo>
                  <a:close/>
                  <a:moveTo>
                    <a:pt x="143542" y="180784"/>
                  </a:moveTo>
                  <a:lnTo>
                    <a:pt x="143542" y="73533"/>
                  </a:lnTo>
                  <a:lnTo>
                    <a:pt x="237839" y="127159"/>
                  </a:lnTo>
                  <a:lnTo>
                    <a:pt x="143542" y="1807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4" name="Google Shape;264;p25"/>
            <p:cNvSpPr/>
            <p:nvPr/>
          </p:nvSpPr>
          <p:spPr>
            <a:xfrm>
              <a:off x="2419238" y="1689595"/>
              <a:ext cx="1113317" cy="1113317"/>
            </a:xfrm>
            <a:custGeom>
              <a:avLst/>
              <a:gdLst/>
              <a:ahLst/>
              <a:cxnLst/>
              <a:rect l="l" t="t" r="r" b="b"/>
              <a:pathLst>
                <a:path w="543305" h="543305" extrusionOk="0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" name="Google Shape;265;p25"/>
            <p:cNvSpPr/>
            <p:nvPr/>
          </p:nvSpPr>
          <p:spPr>
            <a:xfrm>
              <a:off x="2628279" y="2125633"/>
              <a:ext cx="149117" cy="479562"/>
            </a:xfrm>
            <a:custGeom>
              <a:avLst/>
              <a:gdLst/>
              <a:ahLst/>
              <a:cxnLst/>
              <a:rect l="l" t="t" r="r" b="b"/>
              <a:pathLst>
                <a:path w="72770" h="234029" extrusionOk="0">
                  <a:moveTo>
                    <a:pt x="0" y="0"/>
                  </a:moveTo>
                  <a:lnTo>
                    <a:pt x="72771" y="0"/>
                  </a:lnTo>
                  <a:lnTo>
                    <a:pt x="72771" y="234029"/>
                  </a:lnTo>
                  <a:lnTo>
                    <a:pt x="0" y="2340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2616371" y="1887316"/>
              <a:ext cx="172539" cy="172930"/>
            </a:xfrm>
            <a:custGeom>
              <a:avLst/>
              <a:gdLst/>
              <a:ahLst/>
              <a:cxnLst/>
              <a:rect l="l" t="t" r="r" b="b"/>
              <a:pathLst>
                <a:path w="84200" h="84391" extrusionOk="0">
                  <a:moveTo>
                    <a:pt x="42100" y="0"/>
                  </a:moveTo>
                  <a:cubicBezTo>
                    <a:pt x="18764" y="0"/>
                    <a:pt x="0" y="18860"/>
                    <a:pt x="0" y="42196"/>
                  </a:cubicBezTo>
                  <a:cubicBezTo>
                    <a:pt x="0" y="65532"/>
                    <a:pt x="18859" y="84392"/>
                    <a:pt x="42100" y="84392"/>
                  </a:cubicBezTo>
                  <a:cubicBezTo>
                    <a:pt x="65342" y="84392"/>
                    <a:pt x="84201" y="65532"/>
                    <a:pt x="84201" y="42196"/>
                  </a:cubicBezTo>
                  <a:cubicBezTo>
                    <a:pt x="84201" y="18860"/>
                    <a:pt x="65342" y="0"/>
                    <a:pt x="421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2870888" y="2113727"/>
              <a:ext cx="464728" cy="491467"/>
            </a:xfrm>
            <a:custGeom>
              <a:avLst/>
              <a:gdLst/>
              <a:ahLst/>
              <a:cxnLst/>
              <a:rect l="l" t="t" r="r" b="b"/>
              <a:pathLst>
                <a:path w="226790" h="239839" extrusionOk="0">
                  <a:moveTo>
                    <a:pt x="139446" y="0"/>
                  </a:moveTo>
                  <a:cubicBezTo>
                    <a:pt x="104108" y="0"/>
                    <a:pt x="80391" y="19431"/>
                    <a:pt x="70675" y="37814"/>
                  </a:cubicBezTo>
                  <a:lnTo>
                    <a:pt x="69723" y="37814"/>
                  </a:lnTo>
                  <a:lnTo>
                    <a:pt x="69723" y="5810"/>
                  </a:lnTo>
                  <a:lnTo>
                    <a:pt x="0" y="5810"/>
                  </a:lnTo>
                  <a:lnTo>
                    <a:pt x="0" y="239839"/>
                  </a:lnTo>
                  <a:lnTo>
                    <a:pt x="72676" y="239839"/>
                  </a:lnTo>
                  <a:lnTo>
                    <a:pt x="72676" y="124111"/>
                  </a:lnTo>
                  <a:cubicBezTo>
                    <a:pt x="72676" y="93631"/>
                    <a:pt x="78486" y="64008"/>
                    <a:pt x="116300" y="64008"/>
                  </a:cubicBezTo>
                  <a:cubicBezTo>
                    <a:pt x="154115" y="64008"/>
                    <a:pt x="154115" y="98869"/>
                    <a:pt x="154115" y="126016"/>
                  </a:cubicBezTo>
                  <a:lnTo>
                    <a:pt x="154115" y="239839"/>
                  </a:lnTo>
                  <a:lnTo>
                    <a:pt x="226790" y="239839"/>
                  </a:lnTo>
                  <a:lnTo>
                    <a:pt x="226790" y="111538"/>
                  </a:lnTo>
                  <a:cubicBezTo>
                    <a:pt x="226790" y="48577"/>
                    <a:pt x="213170" y="95"/>
                    <a:pt x="139541" y="9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8639104" y="1690572"/>
              <a:ext cx="1113317" cy="1113318"/>
            </a:xfrm>
            <a:custGeom>
              <a:avLst/>
              <a:gdLst/>
              <a:ahLst/>
              <a:cxnLst/>
              <a:rect l="l" t="t" r="r" b="b"/>
              <a:pathLst>
                <a:path w="543305" h="543306" extrusionOk="0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9250999" y="2079375"/>
              <a:ext cx="335713" cy="335714"/>
            </a:xfrm>
            <a:custGeom>
              <a:avLst/>
              <a:gdLst/>
              <a:ahLst/>
              <a:cxnLst/>
              <a:rect l="l" t="t" r="r" b="b"/>
              <a:pathLst>
                <a:path w="163830" h="163830" extrusionOk="0">
                  <a:moveTo>
                    <a:pt x="81915" y="0"/>
                  </a:moveTo>
                  <a:cubicBezTo>
                    <a:pt x="36672" y="0"/>
                    <a:pt x="0" y="36671"/>
                    <a:pt x="0" y="81915"/>
                  </a:cubicBezTo>
                  <a:cubicBezTo>
                    <a:pt x="0" y="127159"/>
                    <a:pt x="36672" y="163830"/>
                    <a:pt x="81915" y="163830"/>
                  </a:cubicBezTo>
                  <a:cubicBezTo>
                    <a:pt x="127159" y="163830"/>
                    <a:pt x="163830" y="127159"/>
                    <a:pt x="163830" y="81915"/>
                  </a:cubicBezTo>
                  <a:cubicBezTo>
                    <a:pt x="163830" y="36671"/>
                    <a:pt x="127159" y="0"/>
                    <a:pt x="819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8804617" y="2079375"/>
              <a:ext cx="335713" cy="335711"/>
            </a:xfrm>
            <a:custGeom>
              <a:avLst/>
              <a:gdLst/>
              <a:ahLst/>
              <a:cxnLst/>
              <a:rect l="l" t="t" r="r" b="b"/>
              <a:pathLst>
                <a:path w="163830" h="163829" extrusionOk="0">
                  <a:moveTo>
                    <a:pt x="163830" y="81915"/>
                  </a:moveTo>
                  <a:cubicBezTo>
                    <a:pt x="163830" y="127155"/>
                    <a:pt x="127156" y="163830"/>
                    <a:pt x="81915" y="163830"/>
                  </a:cubicBezTo>
                  <a:cubicBezTo>
                    <a:pt x="36675" y="163830"/>
                    <a:pt x="1" y="127155"/>
                    <a:pt x="1" y="81915"/>
                  </a:cubicBezTo>
                  <a:cubicBezTo>
                    <a:pt x="1" y="36675"/>
                    <a:pt x="36675" y="0"/>
                    <a:pt x="81915" y="0"/>
                  </a:cubicBezTo>
                  <a:cubicBezTo>
                    <a:pt x="127156" y="0"/>
                    <a:pt x="163830" y="36675"/>
                    <a:pt x="163830" y="819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3663327" y="1692523"/>
              <a:ext cx="1113318" cy="1113318"/>
            </a:xfrm>
            <a:custGeom>
              <a:avLst/>
              <a:gdLst/>
              <a:ahLst/>
              <a:cxnLst/>
              <a:rect l="l" t="t" r="r" b="b"/>
              <a:pathLst>
                <a:path w="543306" h="543306" extrusionOk="0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3867878" y="1889462"/>
              <a:ext cx="703825" cy="719246"/>
            </a:xfrm>
            <a:custGeom>
              <a:avLst/>
              <a:gdLst/>
              <a:ahLst/>
              <a:cxnLst/>
              <a:rect l="l" t="t" r="r" b="b"/>
              <a:pathLst>
                <a:path w="343471" h="350996" extrusionOk="0">
                  <a:moveTo>
                    <a:pt x="204406" y="148685"/>
                  </a:moveTo>
                  <a:lnTo>
                    <a:pt x="332327" y="0"/>
                  </a:lnTo>
                  <a:lnTo>
                    <a:pt x="302038" y="0"/>
                  </a:lnTo>
                  <a:lnTo>
                    <a:pt x="190976" y="129064"/>
                  </a:lnTo>
                  <a:lnTo>
                    <a:pt x="102298" y="0"/>
                  </a:lnTo>
                  <a:lnTo>
                    <a:pt x="0" y="0"/>
                  </a:lnTo>
                  <a:lnTo>
                    <a:pt x="134112" y="195167"/>
                  </a:lnTo>
                  <a:lnTo>
                    <a:pt x="0" y="350996"/>
                  </a:lnTo>
                  <a:lnTo>
                    <a:pt x="30289" y="350996"/>
                  </a:lnTo>
                  <a:lnTo>
                    <a:pt x="147542" y="214694"/>
                  </a:lnTo>
                  <a:lnTo>
                    <a:pt x="241173" y="350996"/>
                  </a:lnTo>
                  <a:lnTo>
                    <a:pt x="343471" y="350996"/>
                  </a:lnTo>
                  <a:lnTo>
                    <a:pt x="204406" y="148590"/>
                  </a:lnTo>
                  <a:lnTo>
                    <a:pt x="204406" y="148590"/>
                  </a:lnTo>
                  <a:close/>
                  <a:moveTo>
                    <a:pt x="162973" y="196882"/>
                  </a:moveTo>
                  <a:lnTo>
                    <a:pt x="149352" y="177451"/>
                  </a:lnTo>
                  <a:lnTo>
                    <a:pt x="41243" y="22765"/>
                  </a:lnTo>
                  <a:lnTo>
                    <a:pt x="87821" y="22765"/>
                  </a:lnTo>
                  <a:lnTo>
                    <a:pt x="175070" y="147542"/>
                  </a:lnTo>
                  <a:lnTo>
                    <a:pt x="188690" y="166973"/>
                  </a:lnTo>
                  <a:lnTo>
                    <a:pt x="302133" y="329184"/>
                  </a:lnTo>
                  <a:lnTo>
                    <a:pt x="255556" y="329184"/>
                  </a:lnTo>
                  <a:lnTo>
                    <a:pt x="162973" y="196787"/>
                  </a:lnTo>
                  <a:lnTo>
                    <a:pt x="162973" y="1967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-3 key points">
  <p:cSld name="Summary-3 key points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685523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6"/>
          <p:cNvSpPr/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7" name="Google Shape;27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693" y="6431818"/>
            <a:ext cx="1188988" cy="2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>
            <a:spLocks noGrp="1"/>
          </p:cNvSpPr>
          <p:nvPr>
            <p:ph type="pic" idx="2"/>
          </p:nvPr>
        </p:nvSpPr>
        <p:spPr>
          <a:xfrm>
            <a:off x="1773908" y="1647919"/>
            <a:ext cx="2393950" cy="23939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9" name="Google Shape;279;p26"/>
          <p:cNvSpPr>
            <a:spLocks noGrp="1"/>
          </p:cNvSpPr>
          <p:nvPr>
            <p:ph type="pic" idx="3"/>
          </p:nvPr>
        </p:nvSpPr>
        <p:spPr>
          <a:xfrm>
            <a:off x="4949380" y="1654993"/>
            <a:ext cx="2393950" cy="23939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" name="Google Shape;280;p26"/>
          <p:cNvSpPr>
            <a:spLocks noGrp="1"/>
          </p:cNvSpPr>
          <p:nvPr>
            <p:ph type="pic" idx="4"/>
          </p:nvPr>
        </p:nvSpPr>
        <p:spPr>
          <a:xfrm>
            <a:off x="8126285" y="1677066"/>
            <a:ext cx="2393950" cy="23939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1"/>
          </p:nvPr>
        </p:nvSpPr>
        <p:spPr>
          <a:xfrm>
            <a:off x="1773238" y="4209116"/>
            <a:ext cx="239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5"/>
          </p:nvPr>
        </p:nvSpPr>
        <p:spPr>
          <a:xfrm>
            <a:off x="4949380" y="4209116"/>
            <a:ext cx="239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26"/>
          <p:cNvSpPr txBox="1">
            <a:spLocks noGrp="1"/>
          </p:cNvSpPr>
          <p:nvPr>
            <p:ph type="body" idx="6"/>
          </p:nvPr>
        </p:nvSpPr>
        <p:spPr>
          <a:xfrm>
            <a:off x="8126285" y="4209116"/>
            <a:ext cx="2393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- ORNL">
  <p:cSld name="Summary - ORNL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27"/>
          <p:cNvGrpSpPr/>
          <p:nvPr/>
        </p:nvGrpSpPr>
        <p:grpSpPr>
          <a:xfrm>
            <a:off x="4258364" y="5999147"/>
            <a:ext cx="3675272" cy="369332"/>
            <a:chOff x="2384568" y="6390825"/>
            <a:chExt cx="3439954" cy="345685"/>
          </a:xfrm>
        </p:grpSpPr>
        <p:pic>
          <p:nvPicPr>
            <p:cNvPr id="287" name="Google Shape;287;p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84568" y="6424653"/>
              <a:ext cx="1103769" cy="2780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27"/>
            <p:cNvSpPr txBox="1"/>
            <p:nvPr/>
          </p:nvSpPr>
          <p:spPr>
            <a:xfrm>
              <a:off x="3588247" y="6390825"/>
              <a:ext cx="2236275" cy="3456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ORNL IS MANAGED BY UT-BATTELLE LLC </a:t>
              </a:r>
              <a:b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900" b="0" i="0" u="none" strike="noStrike" cap="non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FOR THE US DEPARTMENT OF ENERGY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9" name="Google Shape;289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9255" y="2735048"/>
            <a:ext cx="5773490" cy="1387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  <a:defRPr sz="32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14692" y="1817556"/>
            <a:ext cx="11492432" cy="4020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 flipH="1">
            <a:off x="11526723" y="6576851"/>
            <a:ext cx="28040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US" sz="1100" b="1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100" b="1" i="0" u="none" strike="noStrike" cap="none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7599464" y="6576851"/>
            <a:ext cx="38608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314693" y="6431818"/>
            <a:ext cx="1188988" cy="28582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731599.376814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hashwitha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puttaswamy@email.gwu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>
            <a:spLocks noGrp="1"/>
          </p:cNvSpPr>
          <p:nvPr>
            <p:ph type="ctrTitle"/>
          </p:nvPr>
        </p:nvSpPr>
        <p:spPr>
          <a:xfrm>
            <a:off x="1171475" y="1634242"/>
            <a:ext cx="4833600" cy="9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r>
              <a:rPr lang="en-US" dirty="0"/>
              <a:t>From Path-Aware to Application-Aware Source Routing using</a:t>
            </a:r>
            <a:br>
              <a:rPr lang="en-US" dirty="0"/>
            </a:br>
            <a:r>
              <a:rPr lang="en-US" dirty="0"/>
              <a:t>Traffic Classes</a:t>
            </a:r>
            <a:br>
              <a:rPr lang="en-US" dirty="0"/>
            </a:b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"/>
              <a:buNone/>
            </a:pPr>
            <a:br>
              <a:rPr lang="en-US" dirty="0"/>
            </a:br>
            <a:r>
              <a:rPr lang="en-US" sz="1600" dirty="0"/>
              <a:t>Reference Paper : </a:t>
            </a:r>
            <a:r>
              <a:rPr lang="en-US" sz="1600" u="sng" dirty="0">
                <a:solidFill>
                  <a:schemeClr val="hlink"/>
                </a:solidFill>
                <a:hlinkClick r:id="rId3"/>
              </a:rPr>
              <a:t>https://dl.acm.org/doi/10.1145/3731599.3768147</a:t>
            </a:r>
            <a:endParaRPr sz="1600" dirty="0"/>
          </a:p>
        </p:txBody>
      </p:sp>
      <p:sp>
        <p:nvSpPr>
          <p:cNvPr id="295" name="Google Shape;295;p28"/>
          <p:cNvSpPr txBox="1"/>
          <p:nvPr/>
        </p:nvSpPr>
        <p:spPr>
          <a:xfrm>
            <a:off x="1115550" y="38822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accent1"/>
                </a:solidFill>
              </a:rPr>
              <a:t>Shashwitha Puttaswamy</a:t>
            </a:r>
            <a:endParaRPr sz="16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1"/>
                </a:solidFill>
              </a:rPr>
              <a:t>George Washington University</a:t>
            </a:r>
            <a:endParaRPr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Background and Motivation : AI in Traffic Engineering </a:t>
            </a:r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8433968" y="956066"/>
            <a:ext cx="3658181" cy="17783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attributes like flow size, duration, and packet info to identify behavior (e.g., 'elephant' vs. 'mice' flows).</a:t>
            </a:r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1144900" y="3612800"/>
            <a:ext cx="9655500" cy="187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454D"/>
                </a:solidFill>
                <a:latin typeface="Roboto"/>
                <a:ea typeface="Roboto"/>
                <a:cs typeface="Roboto"/>
                <a:sym typeface="Roboto"/>
              </a:rPr>
              <a:t>ML-Driven Classification: Techniques like K-means, SVMs, and neural networks are now used to classify flows and infer application behavior even without inspecting the content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4452643" y="956054"/>
            <a:ext cx="3658200" cy="177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454D"/>
                </a:solidFill>
                <a:latin typeface="Roboto"/>
                <a:ea typeface="Roboto"/>
                <a:cs typeface="Roboto"/>
                <a:sym typeface="Roboto"/>
              </a:rPr>
              <a:t>Relied on TCP/UDP port numbers or deep packet inspection. This is often ineffective or impossible with modern encrypted traffic.</a:t>
            </a:r>
            <a:endParaRPr sz="2200">
              <a:solidFill>
                <a:srgbClr val="00454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471318" y="956066"/>
            <a:ext cx="3658200" cy="177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454D"/>
                </a:solidFill>
                <a:latin typeface="Roboto"/>
                <a:ea typeface="Roboto"/>
                <a:cs typeface="Roboto"/>
                <a:sym typeface="Roboto"/>
              </a:rPr>
              <a:t>Al/ML techniques are increasingly used to learn network patterns and find optimal traffic engineering solutions.</a:t>
            </a:r>
            <a:endParaRPr sz="2200">
              <a:solidFill>
                <a:srgbClr val="00454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>
            <a:spLocks noGrp="1"/>
          </p:cNvSpPr>
          <p:nvPr>
            <p:ph type="body" idx="1"/>
          </p:nvPr>
        </p:nvSpPr>
        <p:spPr>
          <a:xfrm>
            <a:off x="815976" y="254325"/>
            <a:ext cx="47841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Takeaway:</a:t>
            </a:r>
            <a:endParaRPr sz="3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8202100" y="1358625"/>
            <a:ext cx="3300600" cy="116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454D"/>
                </a:solidFill>
              </a:rPr>
              <a:t>Introducing edge-based traffic classification and a dynamic queuing mechanism to optimize network utilization and allocation.</a:t>
            </a:r>
            <a:endParaRPr sz="1600">
              <a:solidFill>
                <a:srgbClr val="00454D"/>
              </a:solidFill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4654625" y="1358625"/>
            <a:ext cx="3000000" cy="116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454D"/>
                </a:solidFill>
              </a:rPr>
              <a:t>This work contributes to In-band Network Telemetry (INT) and P4 programmability for self-engineering networks</a:t>
            </a:r>
            <a:endParaRPr sz="1600">
              <a:solidFill>
                <a:srgbClr val="00454D"/>
              </a:solidFill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523325" y="1358625"/>
            <a:ext cx="3161700" cy="116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454D"/>
                </a:solidFill>
                <a:latin typeface="Roboto"/>
                <a:ea typeface="Roboto"/>
                <a:cs typeface="Roboto"/>
                <a:sym typeface="Roboto"/>
              </a:rPr>
              <a:t>TE is complex, involving decisions on capacity planning, flow allocation, and traffic splitting to minimize congestion.</a:t>
            </a:r>
            <a:endParaRPr sz="1600">
              <a:solidFill>
                <a:srgbClr val="00454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3" name="Google Shape;313;p30"/>
          <p:cNvGrpSpPr/>
          <p:nvPr/>
        </p:nvGrpSpPr>
        <p:grpSpPr>
          <a:xfrm>
            <a:off x="879373" y="3186041"/>
            <a:ext cx="6118584" cy="3115331"/>
            <a:chOff x="6976457" y="2279374"/>
            <a:chExt cx="5314500" cy="3026651"/>
          </a:xfrm>
        </p:grpSpPr>
        <p:pic>
          <p:nvPicPr>
            <p:cNvPr id="314" name="Google Shape;314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67914" y="2279374"/>
              <a:ext cx="5131576" cy="24932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30"/>
            <p:cNvSpPr txBox="1"/>
            <p:nvPr/>
          </p:nvSpPr>
          <p:spPr>
            <a:xfrm>
              <a:off x="6976457" y="4772625"/>
              <a:ext cx="5314500" cy="53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05175" tIns="105175" rIns="105175" bIns="1051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85" b="1"/>
                <a:t>PolKA-Hecate integration framework</a:t>
              </a:r>
              <a:endParaRPr sz="115" b="1"/>
            </a:p>
          </p:txBody>
        </p:sp>
      </p:grpSp>
      <p:sp>
        <p:nvSpPr>
          <p:cNvPr id="316" name="Google Shape;316;p30"/>
          <p:cNvSpPr txBox="1"/>
          <p:nvPr/>
        </p:nvSpPr>
        <p:spPr>
          <a:xfrm>
            <a:off x="7407975" y="3101000"/>
            <a:ext cx="4320300" cy="289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Previous work Hecate-Polka service: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PolKA SR routing service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○"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Hecate AI-Network Driven service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we are adding finer granular decision-making using traffic classes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"/>
          <p:cNvSpPr txBox="1">
            <a:spLocks noGrp="1"/>
          </p:cNvSpPr>
          <p:nvPr>
            <p:ph type="body" idx="1"/>
          </p:nvPr>
        </p:nvSpPr>
        <p:spPr>
          <a:xfrm>
            <a:off x="676125" y="152984"/>
            <a:ext cx="10839600" cy="8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3600">
                <a:solidFill>
                  <a:schemeClr val="dk1"/>
                </a:solidFill>
              </a:rPr>
              <a:t>Hecate’s Seven Traffic Classes</a:t>
            </a:r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384144" y="1009766"/>
            <a:ext cx="3447000" cy="236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800" b="1" i="0" strike="noStrike" cap="none">
                <a:solidFill>
                  <a:schemeClr val="dk1"/>
                </a:solidFill>
              </a:rPr>
              <a:t>        Class 0: Low Latency </a:t>
            </a:r>
            <a:endParaRPr sz="1800" b="1"/>
          </a:p>
          <a:p>
            <a:pPr marL="457200" marR="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Very low inter-arrival time (&lt;0.005s).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Small/medium packet</a:t>
            </a:r>
            <a:r>
              <a:rPr lang="en-US">
                <a:solidFill>
                  <a:schemeClr val="dk1"/>
                </a:solidFill>
              </a:rPr>
              <a:t> size (e.g., between 60 and 200 bytes) and a sustained duration (e.g., greater than 5 seconds).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These flows have minimal delay and jitter.</a:t>
            </a:r>
            <a:endParaRPr>
              <a:solidFill>
                <a:schemeClr val="dk1"/>
              </a:solidFill>
            </a:endParaRPr>
          </a:p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VoIP, Online Gaming, and Video Conferencing.</a:t>
            </a:r>
            <a:endParaRPr>
              <a:solidFill>
                <a:schemeClr val="dk1"/>
              </a:solidFill>
            </a:endParaRPr>
          </a:p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1"/>
          <p:cNvSpPr txBox="1"/>
          <p:nvPr/>
        </p:nvSpPr>
        <p:spPr>
          <a:xfrm>
            <a:off x="8335414" y="1009781"/>
            <a:ext cx="3180300" cy="236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</a:rPr>
              <a:t>   Class 2: High Throughput</a:t>
            </a:r>
            <a:endParaRPr b="1"/>
          </a:p>
          <a:p>
            <a:pPr marL="457200" marR="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total bytes (&gt;50,000 KB). High avg.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P</a:t>
            </a:r>
            <a:r>
              <a:rPr lang="en-US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acket size. </a:t>
            </a:r>
            <a:r>
              <a:rPr lang="en-US">
                <a:solidFill>
                  <a:schemeClr val="dk1"/>
                </a:solidFill>
              </a:rPr>
              <a:t>(e.g., greater than 1000 bytes, indicating full-sized data packets), and a significant duration (e.g., greater than 30 seconds).</a:t>
            </a:r>
            <a:endParaRPr>
              <a:solidFill>
                <a:schemeClr val="dk1"/>
              </a:solidFill>
            </a:endParaRPr>
          </a:p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  </a:t>
            </a:r>
            <a:r>
              <a:rPr lang="en-US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large file transfers,Software updates.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24" name="Google Shape;324;p31"/>
          <p:cNvSpPr txBox="1"/>
          <p:nvPr/>
        </p:nvSpPr>
        <p:spPr>
          <a:xfrm>
            <a:off x="4359782" y="1009766"/>
            <a:ext cx="3447000" cy="236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</a:rPr>
              <a:t>     </a:t>
            </a:r>
            <a:r>
              <a:rPr lang="en-US" sz="1800" b="1">
                <a:solidFill>
                  <a:srgbClr val="00454D"/>
                </a:solidFill>
              </a:rPr>
              <a:t>Class 1: Priority Flows</a:t>
            </a:r>
            <a:endParaRPr sz="1800" b="1">
              <a:solidFill>
                <a:srgbClr val="00454D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Destined for critical IP addresses.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Moderate byte size.(e.g., less than 1000 KB), and a duration typically less than 60 seconds.</a:t>
            </a:r>
            <a:endParaRPr>
              <a:solidFill>
                <a:schemeClr val="dk1"/>
              </a:solidFill>
            </a:endParaRPr>
          </a:p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For essential applications of business, the control-plane traffic.</a:t>
            </a:r>
            <a:endParaRPr>
              <a:solidFill>
                <a:schemeClr val="dk1"/>
              </a:solidFill>
            </a:endParaRPr>
          </a:p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1"/>
          <p:cNvSpPr txBox="1"/>
          <p:nvPr/>
        </p:nvSpPr>
        <p:spPr>
          <a:xfrm>
            <a:off x="4779125" y="39942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>
              <a:solidFill>
                <a:srgbClr val="00454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209300" y="3807950"/>
            <a:ext cx="2792700" cy="231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 Class 3: Long-Living</a:t>
            </a:r>
            <a:endParaRPr sz="1800"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Long duration (&gt;60s)and moderate total bytes ( e.g., between 100 KB and 50,000 KB).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For SSH sessions, RDP,   long-term data backups.</a:t>
            </a:r>
            <a:r>
              <a:rPr lang="en-US" i="0" u="none" strike="noStrike" cap="none">
                <a:solidFill>
                  <a:schemeClr val="dk1"/>
                </a:solidFill>
              </a:rPr>
              <a:t> 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/>
          </a:p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3273350" y="3837200"/>
            <a:ext cx="2738400" cy="231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454D"/>
                </a:solidFill>
                <a:latin typeface="Roboto"/>
                <a:ea typeface="Roboto"/>
                <a:cs typeface="Roboto"/>
                <a:sym typeface="Roboto"/>
              </a:rPr>
              <a:t> Class 4: Short-Living</a:t>
            </a:r>
            <a:endParaRPr sz="1800" b="1">
              <a:solidFill>
                <a:srgbClr val="00454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Very short duration (‹5s)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 small total bytes (e.g., less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     han 10 KB), 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Low number of packets (e.g., less than 10 Packets).</a:t>
            </a:r>
            <a:endParaRPr>
              <a:solidFill>
                <a:schemeClr val="dk1"/>
              </a:solidFill>
            </a:endParaRPr>
          </a:p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For DNS queries, NTP, lOT.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/>
          </a:p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6225500" y="3837200"/>
            <a:ext cx="2792700" cy="228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8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454D"/>
                </a:solidFill>
              </a:rPr>
              <a:t>Class 5: Intent-Based</a:t>
            </a:r>
            <a:endParaRPr sz="1800" b="1">
              <a:solidFill>
                <a:srgbClr val="00454D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Small average packet size (e.g., less than 100 bytes), relatively low IAT (e.g., less than 0.1 seconds,indicating some regularity), and a sustained duration (e.g., greater than 10 seconds).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454D"/>
                </a:solidFill>
              </a:rPr>
              <a:t> </a:t>
            </a:r>
            <a:endParaRPr>
              <a:solidFill>
                <a:srgbClr val="00454D"/>
              </a:solidFill>
            </a:endParaRPr>
          </a:p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00454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9276250" y="3807950"/>
            <a:ext cx="2682000" cy="231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Class 6:Default Flows</a:t>
            </a:r>
            <a:endParaRPr sz="1800"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Any traffic that does not match the criteria of the other six classes.</a:t>
            </a:r>
            <a:endParaRPr>
              <a:solidFill>
                <a:schemeClr val="dk1"/>
              </a:solidFill>
            </a:endParaRPr>
          </a:p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Specific DTN server IPs. Custom QOS needs. For specialized sensor data, store-and-forward traffic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"/>
          <p:cNvSpPr txBox="1">
            <a:spLocks noGrp="1"/>
          </p:cNvSpPr>
          <p:nvPr>
            <p:ph type="title"/>
          </p:nvPr>
        </p:nvSpPr>
        <p:spPr>
          <a:xfrm>
            <a:off x="349800" y="91725"/>
            <a:ext cx="11492400" cy="7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600"/>
              <a:t>Hecate Architecture Design</a:t>
            </a:r>
            <a:endParaRPr/>
          </a:p>
        </p:txBody>
      </p:sp>
      <p:sp>
        <p:nvSpPr>
          <p:cNvPr id="335" name="Google Shape;335;p32"/>
          <p:cNvSpPr txBox="1">
            <a:spLocks noGrp="1"/>
          </p:cNvSpPr>
          <p:nvPr>
            <p:ph type="body" idx="1"/>
          </p:nvPr>
        </p:nvSpPr>
        <p:spPr>
          <a:xfrm>
            <a:off x="183575" y="732900"/>
            <a:ext cx="6334500" cy="53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700" b="1">
                <a:latin typeface="Arial"/>
                <a:ea typeface="Arial"/>
                <a:cs typeface="Arial"/>
                <a:sym typeface="Arial"/>
              </a:rPr>
              <a:t>Control &amp; Data Plane Separation</a:t>
            </a:r>
            <a:endParaRPr sz="17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The Hecate architecture is separated into distinct planes to enable intelligent, adaptive networking.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Data Plane: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P4-programmable edge routers are responsible for high-speed packet forwarding,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- Packet parsing and header manipulation, 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- Match-action Processing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- In-band Network Telemetry (INT) data Collection.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- Egress queuing and scheduling (WRR).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- Traffic Sampling / Mirroring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Applying dynamic Weighted Round Robin (WRR). WRR queues (Q_0 to Q_6) at each egress port.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Control Plane: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The "brain" of the architecture. It facilitates intelligent decision-making, orchestration, and dynamic configuration of the data plane in real-time.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- Edge node classifier (ENC)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- Core Network State Predictor (CNSP)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- Dynamic Resource Orchestrator (DRO)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32" descr="A diagram of a syste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1975" y="1713050"/>
            <a:ext cx="5788800" cy="277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>
            <a:spLocks noGrp="1"/>
          </p:cNvSpPr>
          <p:nvPr>
            <p:ph type="body" idx="1"/>
          </p:nvPr>
        </p:nvSpPr>
        <p:spPr>
          <a:xfrm>
            <a:off x="496591" y="178402"/>
            <a:ext cx="10839732" cy="85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3600">
                <a:solidFill>
                  <a:schemeClr val="dk1"/>
                </a:solidFill>
              </a:rPr>
              <a:t>Control Plane </a:t>
            </a:r>
            <a:endParaRPr/>
          </a:p>
        </p:txBody>
      </p:sp>
      <p:sp>
        <p:nvSpPr>
          <p:cNvPr id="342" name="Google Shape;342;p33"/>
          <p:cNvSpPr txBox="1"/>
          <p:nvPr/>
        </p:nvSpPr>
        <p:spPr>
          <a:xfrm>
            <a:off x="84925" y="1084675"/>
            <a:ext cx="3417000" cy="18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</a:rPr>
              <a:t>Edge Node Classifier</a:t>
            </a:r>
            <a:r>
              <a:rPr lang="en-US" sz="1800" b="1">
                <a:solidFill>
                  <a:schemeClr val="dk1"/>
                </a:solidFill>
              </a:rPr>
              <a:t>:</a:t>
            </a:r>
            <a:r>
              <a:rPr lang="en-US" sz="1800" b="1" i="0" u="none" strike="noStrike" cap="none">
                <a:solidFill>
                  <a:schemeClr val="dk1"/>
                </a:solidFill>
              </a:rPr>
              <a:t>ENC</a:t>
            </a:r>
            <a:endParaRPr b="1"/>
          </a:p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ML (Decision Trees) to classify flows based on behavioral attributes (IAT, duration) and assigns a class ID (0-6).</a:t>
            </a:r>
            <a:endParaRPr/>
          </a:p>
        </p:txBody>
      </p:sp>
      <p:sp>
        <p:nvSpPr>
          <p:cNvPr id="343" name="Google Shape;343;p33"/>
          <p:cNvSpPr txBox="1"/>
          <p:nvPr/>
        </p:nvSpPr>
        <p:spPr>
          <a:xfrm>
            <a:off x="7713800" y="1064575"/>
            <a:ext cx="4342800" cy="550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</a:rPr>
              <a:t>Dynamic </a:t>
            </a:r>
            <a:r>
              <a:rPr lang="en-US" sz="1800" b="1">
                <a:solidFill>
                  <a:schemeClr val="dk1"/>
                </a:solidFill>
              </a:rPr>
              <a:t>Resource Orchestrator</a:t>
            </a:r>
            <a:r>
              <a:rPr lang="en-US" sz="1800" b="1" i="0" u="none" strike="noStrike" cap="none">
                <a:solidFill>
                  <a:schemeClr val="dk1"/>
                </a:solidFill>
              </a:rPr>
              <a:t>:DRO</a:t>
            </a:r>
            <a:endParaRPr>
              <a:solidFill>
                <a:schemeClr val="dk1"/>
              </a:solidFill>
            </a:endParaRPr>
          </a:p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 intelligence.Gathers data from ENC &amp; CNSP, calculates queue weights, selects optimal paths (using Segment Routing), and pushes rules to the data plane.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-US" sz="1500">
                <a:solidFill>
                  <a:schemeClr val="dk1"/>
                </a:solidFill>
              </a:rPr>
              <a:t> Evaluates the flow and calculates its weight.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-US" sz="1500">
                <a:solidFill>
                  <a:schemeClr val="dk1"/>
                </a:solidFill>
              </a:rPr>
              <a:t>(DSCP) value to the flow, which signals its quality of service treatment throughout the network.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-US" sz="1500">
                <a:solidFill>
                  <a:schemeClr val="dk1"/>
                </a:solidFill>
              </a:rPr>
              <a:t>Path selection algorithm (e.g., Least Connection, Weighted Least Connection, Least Response Time, Resource-Based) based on the flow’s classified traffic class and the current network conditions.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-US" sz="1500">
                <a:solidFill>
                  <a:schemeClr val="dk1"/>
                </a:solidFill>
              </a:rPr>
              <a:t>The  policy for all network rules and security constraints.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-US" sz="1500">
                <a:solidFill>
                  <a:schemeClr val="dk1"/>
                </a:solidFill>
              </a:rPr>
              <a:t>segment routing (SR) to determine the optimal explicit path for the flow to traverse, taking into account the selected load balancing objective and network constraints.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344" name="Google Shape;344;p33" descr="A diagram of a networ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600" y="3151575"/>
            <a:ext cx="6815726" cy="312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3"/>
          <p:cNvSpPr txBox="1"/>
          <p:nvPr/>
        </p:nvSpPr>
        <p:spPr>
          <a:xfrm>
            <a:off x="3600475" y="1084675"/>
            <a:ext cx="4014900" cy="1831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454D"/>
                </a:solidFill>
              </a:rPr>
              <a:t>Core Network State Predictor:CNSP</a:t>
            </a:r>
            <a:endParaRPr sz="1800" b="1">
              <a:solidFill>
                <a:srgbClr val="00454D"/>
              </a:solidFill>
            </a:endParaRPr>
          </a:p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454D"/>
                </a:solidFill>
              </a:rPr>
              <a:t>Collects and processes granular telemetry (INT) data from all P4 devices.</a:t>
            </a:r>
            <a:endParaRPr sz="1600">
              <a:solidFill>
                <a:srgbClr val="00454D"/>
              </a:solidFill>
            </a:endParaRPr>
          </a:p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454D"/>
                </a:solidFill>
              </a:rPr>
              <a:t>Predicts future traffic loads and identifies potential congestion.</a:t>
            </a:r>
            <a:endParaRPr sz="1600">
              <a:solidFill>
                <a:srgbClr val="00454D"/>
              </a:solidFill>
            </a:endParaRPr>
          </a:p>
          <a:p>
            <a:pPr marL="88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>
            <a:spLocks noGrp="1"/>
          </p:cNvSpPr>
          <p:nvPr>
            <p:ph type="title"/>
          </p:nvPr>
        </p:nvSpPr>
        <p:spPr>
          <a:xfrm>
            <a:off x="314679" y="697300"/>
            <a:ext cx="11492400" cy="8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                                            DSCP Value </a:t>
            </a:r>
            <a:endParaRPr/>
          </a:p>
        </p:txBody>
      </p:sp>
      <p:pic>
        <p:nvPicPr>
          <p:cNvPr id="351" name="Google Shape;351;p34" descr="A list of words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75688"/>
            <a:ext cx="12192002" cy="310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"/>
          <p:cNvSpPr txBox="1"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600"/>
              <a:t>Fair Queuing: Dynamic Weighted Round Robin (WRR)</a:t>
            </a:r>
            <a:endParaRPr/>
          </a:p>
        </p:txBody>
      </p:sp>
      <p:sp>
        <p:nvSpPr>
          <p:cNvPr id="357" name="Google Shape;357;p35"/>
          <p:cNvSpPr txBox="1">
            <a:spLocks noGrp="1"/>
          </p:cNvSpPr>
          <p:nvPr>
            <p:ph type="body" idx="1"/>
          </p:nvPr>
        </p:nvSpPr>
        <p:spPr>
          <a:xfrm>
            <a:off x="546575" y="1070725"/>
            <a:ext cx="10981800" cy="42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000" b="1" u="sng">
                <a:latin typeface="Arial"/>
                <a:ea typeface="Arial"/>
                <a:cs typeface="Arial"/>
                <a:sym typeface="Arial"/>
              </a:rPr>
              <a:t>Dynamic &amp; Fair Allocation.</a:t>
            </a:r>
            <a:endParaRPr u="sng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This method ensures that all traffic class queues (QO-Q6) are emptied quickly and fairly, preventing starvation.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Not Static: Weights are dynamically calculated and adjusted by the DRO based on the real-time network conditions and traffic volume.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Work-Conserving: The scheduler intelligently bypasses any empty queue, ensuring no bandwidth is wasted on idle queues and maximizing network utilization.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DWA : Protecting In-Flight Packets- While rerouting installs , DWA acts immediately.Prevents packet drops during transition windows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29454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29454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6" descr="A diagram of a network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9371" y="318466"/>
            <a:ext cx="6737350" cy="618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6"/>
          <p:cNvSpPr txBox="1">
            <a:spLocks noGrp="1"/>
          </p:cNvSpPr>
          <p:nvPr>
            <p:ph type="title"/>
          </p:nvPr>
        </p:nvSpPr>
        <p:spPr>
          <a:xfrm>
            <a:off x="314693" y="365125"/>
            <a:ext cx="4412934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Experiment &amp; Simulation Setup</a:t>
            </a:r>
            <a:endParaRPr/>
          </a:p>
        </p:txBody>
      </p:sp>
      <p:sp>
        <p:nvSpPr>
          <p:cNvPr id="364" name="Google Shape;364;p36"/>
          <p:cNvSpPr txBox="1">
            <a:spLocks noGrp="1"/>
          </p:cNvSpPr>
          <p:nvPr>
            <p:ph type="body" idx="1"/>
          </p:nvPr>
        </p:nvSpPr>
        <p:spPr>
          <a:xfrm>
            <a:off x="314700" y="1833100"/>
            <a:ext cx="5073900" cy="43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1800" b="1" u="sng">
                <a:latin typeface="Arial"/>
                <a:ea typeface="Arial"/>
                <a:cs typeface="Arial"/>
                <a:sym typeface="Arial"/>
              </a:rPr>
              <a:t>Traffic Generation</a:t>
            </a:r>
            <a:r>
              <a:rPr lang="en-US" sz="1600" b="1" u="sng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A Poisson distribution was used to model the arrival process (Inter-Arrival Time) for new flows, providing a realistic representation of network dynamics.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1800" b="1" u="sng">
                <a:latin typeface="Arial"/>
                <a:ea typeface="Arial"/>
                <a:cs typeface="Arial"/>
                <a:sym typeface="Arial"/>
              </a:rPr>
              <a:t>Dynamic Path Selection (by DRO):</a:t>
            </a:r>
            <a:endParaRPr sz="1800" u="sng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Low Latency: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The DRO prioritizes the Least Response Time to pick the fastest SR path.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High Throughput 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The DRO uses a resource-based approach focusing on available bandwidth to pick an SR path with high capacity and low utilization.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Long-Living: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The DRO uses weighted least connection to balance the number of active sessions across paths, considering their capacities.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"/>
          <p:cNvSpPr txBox="1">
            <a:spLocks noGrp="1"/>
          </p:cNvSpPr>
          <p:nvPr>
            <p:ph type="title"/>
          </p:nvPr>
        </p:nvSpPr>
        <p:spPr>
          <a:xfrm>
            <a:off x="314693" y="225641"/>
            <a:ext cx="5404182" cy="983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Results: Average Total Bandwidth Utilization</a:t>
            </a:r>
            <a:endParaRPr/>
          </a:p>
        </p:txBody>
      </p:sp>
      <p:pic>
        <p:nvPicPr>
          <p:cNvPr id="370" name="Google Shape;370;p37" descr="A graph showing a number of different colored squar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9568" y="526943"/>
            <a:ext cx="6339223" cy="3952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7" descr="A graph of a graph of a graph of a graph of a graph of a graph of a graph of a graph of a graph of a graph of a graph of a graph of a graph of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4000" y="1459102"/>
            <a:ext cx="5464876" cy="5284824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7"/>
          <p:cNvSpPr txBox="1"/>
          <p:nvPr/>
        </p:nvSpPr>
        <p:spPr>
          <a:xfrm>
            <a:off x="6139050" y="4640674"/>
            <a:ext cx="5799000" cy="1108200"/>
          </a:xfrm>
          <a:prstGeom prst="rect">
            <a:avLst/>
          </a:prstGeom>
          <a:solidFill>
            <a:srgbClr val="007934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Enabling class-aware routing significantly improved average total bandwidth utilization from 51.84% to 67.59%.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 txBox="1">
            <a:spLocks noGrp="1"/>
          </p:cNvSpPr>
          <p:nvPr>
            <p:ph type="title"/>
          </p:nvPr>
        </p:nvSpPr>
        <p:spPr>
          <a:xfrm>
            <a:off x="156000" y="365125"/>
            <a:ext cx="11746200" cy="127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29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Work: Class-Aware Congestion Feedback for SRv6</a:t>
            </a:r>
            <a:br>
              <a:rPr lang="en-US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u="sng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9" name="Google Shape;379;p38"/>
          <p:cNvSpPr txBox="1">
            <a:spLocks noGrp="1"/>
          </p:cNvSpPr>
          <p:nvPr>
            <p:ph type="body" idx="1"/>
          </p:nvPr>
        </p:nvSpPr>
        <p:spPr>
          <a:xfrm>
            <a:off x="725475" y="1280925"/>
            <a:ext cx="9975300" cy="479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HPC MPI jobs fail when congestion goes undetected for 500ms.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telemetry sees aggregate queue , not per-class fill.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TC5 HPC-MPI and TC0 Best-Effort look identical to gNMI.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the time controller reacts, SLA is already violated.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3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"/>
          <p:cNvSpPr txBox="1">
            <a:spLocks noGrp="1"/>
          </p:cNvSpPr>
          <p:nvPr>
            <p:ph type="title"/>
          </p:nvPr>
        </p:nvSpPr>
        <p:spPr>
          <a:xfrm>
            <a:off x="790802" y="774675"/>
            <a:ext cx="9717300" cy="10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u="sng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ML-Driven SRv6 Application aware </a:t>
            </a:r>
            <a:endParaRPr sz="4400" u="sng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9"/>
          <p:cNvSpPr txBox="1">
            <a:spLocks noGrp="1"/>
          </p:cNvSpPr>
          <p:nvPr>
            <p:ph type="body" idx="1"/>
          </p:nvPr>
        </p:nvSpPr>
        <p:spPr>
          <a:xfrm>
            <a:off x="805427" y="1550550"/>
            <a:ext cx="8629200" cy="37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In-Packet Intelligence</a:t>
            </a:r>
            <a:endParaRPr sz="3950" b="1" u="sng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0525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Times New Roman"/>
              <a:buChar char="●"/>
            </a:pPr>
            <a:r>
              <a:rPr lang="en-US" sz="2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packet carries per-hop congestion state</a:t>
            </a:r>
            <a:endParaRPr sz="2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0525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Times New Roman"/>
              <a:buChar char="●"/>
            </a:pPr>
            <a:r>
              <a:rPr lang="en-US" sz="2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agents learn optimal re-routing policies</a:t>
            </a:r>
            <a:endParaRPr sz="2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0525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Times New Roman"/>
              <a:buChar char="●"/>
            </a:pPr>
            <a:r>
              <a:rPr lang="en-US" sz="2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Closed-loop control: observe → decide → act</a:t>
            </a:r>
            <a:endParaRPr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0"/>
          <p:cNvSpPr txBox="1">
            <a:spLocks noGrp="1"/>
          </p:cNvSpPr>
          <p:nvPr>
            <p:ph type="title"/>
          </p:nvPr>
        </p:nvSpPr>
        <p:spPr>
          <a:xfrm>
            <a:off x="632109" y="45800"/>
            <a:ext cx="9762600" cy="164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9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ML-Driven Wins</a:t>
            </a:r>
            <a:endParaRPr sz="3900" u="sng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3" name="Google Shape;393;p40"/>
          <p:cNvSpPr txBox="1">
            <a:spLocks noGrp="1"/>
          </p:cNvSpPr>
          <p:nvPr>
            <p:ph type="body" idx="1"/>
          </p:nvPr>
        </p:nvSpPr>
        <p:spPr>
          <a:xfrm>
            <a:off x="1078650" y="1687100"/>
            <a:ext cx="10034700" cy="405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•Learns optimal policy from experience.</a:t>
            </a:r>
            <a:endParaRPr sz="30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•Adapts to changing congestion patterns.</a:t>
            </a:r>
            <a:endParaRPr sz="30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•Protects high-priority traffic automatically.</a:t>
            </a:r>
            <a:endParaRPr sz="30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•No manual threshold tuning required.</a:t>
            </a:r>
            <a:endParaRPr sz="30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9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>
            <a:spLocks noGrp="1"/>
          </p:cNvSpPr>
          <p:nvPr>
            <p:ph type="title"/>
          </p:nvPr>
        </p:nvSpPr>
        <p:spPr>
          <a:xfrm>
            <a:off x="421019" y="51380"/>
            <a:ext cx="4413000" cy="17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9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Evolution Timeline</a:t>
            </a:r>
            <a:endParaRPr sz="34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41"/>
          <p:cNvSpPr txBox="1">
            <a:spLocks noGrp="1"/>
          </p:cNvSpPr>
          <p:nvPr>
            <p:ph type="body" idx="1"/>
          </p:nvPr>
        </p:nvSpPr>
        <p:spPr>
          <a:xfrm>
            <a:off x="573603" y="1824080"/>
            <a:ext cx="11406300" cy="454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6875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Times New Roman"/>
              <a:buChar char="●"/>
            </a:pPr>
            <a:r>
              <a:rPr lang="en-US" sz="265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IP: </a:t>
            </a:r>
            <a:r>
              <a:rPr lang="en-US" sz="26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Hop-by-hop, no path control</a:t>
            </a:r>
            <a:endParaRPr sz="265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6875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Times New Roman"/>
              <a:buChar char="●"/>
            </a:pPr>
            <a:r>
              <a:rPr lang="en-US" sz="265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Path-Aware SRv6: </a:t>
            </a:r>
            <a:r>
              <a:rPr lang="en-US" sz="26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 paths, static selection</a:t>
            </a:r>
            <a:endParaRPr sz="265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6875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Times New Roman"/>
              <a:buChar char="●"/>
            </a:pPr>
            <a:r>
              <a:rPr lang="en-US" sz="265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Application-Aware + ML-Driven SRv6: </a:t>
            </a:r>
            <a:r>
              <a:rPr lang="en-US" sz="26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Per-app paths + In-packet feedback + learning</a:t>
            </a:r>
            <a:endParaRPr sz="265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"/>
          <p:cNvSpPr txBox="1">
            <a:spLocks noGrp="1"/>
          </p:cNvSpPr>
          <p:nvPr>
            <p:ph type="title"/>
          </p:nvPr>
        </p:nvSpPr>
        <p:spPr>
          <a:xfrm>
            <a:off x="806620" y="368471"/>
            <a:ext cx="5375700" cy="82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9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This Is Different</a:t>
            </a:r>
            <a:endParaRPr sz="3400" u="sng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2"/>
          <p:cNvSpPr txBox="1">
            <a:spLocks noGrp="1"/>
          </p:cNvSpPr>
          <p:nvPr>
            <p:ph type="body" idx="1"/>
          </p:nvPr>
        </p:nvSpPr>
        <p:spPr>
          <a:xfrm>
            <a:off x="1312968" y="2078261"/>
            <a:ext cx="8821800" cy="328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71475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Char char="●"/>
            </a:pPr>
            <a:r>
              <a:rPr lang="en-US" sz="225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IOAM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aggregate queue, no class distinction</a:t>
            </a:r>
            <a:endParaRPr sz="22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1475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Char char="●"/>
            </a:pPr>
            <a:r>
              <a:rPr lang="en-US" sz="225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gNMI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500ms polling latency</a:t>
            </a:r>
            <a:endParaRPr sz="22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1475" algn="l" rtl="0">
              <a:lnSpc>
                <a:spcPct val="22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Char char="●"/>
            </a:pPr>
            <a:r>
              <a:rPr lang="en-US" sz="225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 - class aware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per-class, in-packet, sub-1ms feedback</a:t>
            </a:r>
            <a:endParaRPr sz="22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3"/>
          <p:cNvSpPr txBox="1">
            <a:spLocks noGrp="1"/>
          </p:cNvSpPr>
          <p:nvPr>
            <p:ph type="title"/>
          </p:nvPr>
        </p:nvSpPr>
        <p:spPr>
          <a:xfrm>
            <a:off x="292042" y="1237975"/>
            <a:ext cx="11492400" cy="88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39272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39272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4" name="Google Shape;414;p43" title="Screenshot 2026-03-10 at 12.11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875" y="973300"/>
            <a:ext cx="10941557" cy="442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"/>
          <p:cNvSpPr txBox="1">
            <a:spLocks noGrp="1"/>
          </p:cNvSpPr>
          <p:nvPr>
            <p:ph type="title"/>
          </p:nvPr>
        </p:nvSpPr>
        <p:spPr>
          <a:xfrm>
            <a:off x="324091" y="405113"/>
            <a:ext cx="11736729" cy="6053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lang="en-US" sz="8000" dirty="0">
                <a:solidFill>
                  <a:schemeClr val="lt1"/>
                </a:solidFill>
              </a:rPr>
              <a:t>            </a:t>
            </a:r>
            <a:endParaRPr sz="80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lang="en-US" sz="7000" dirty="0"/>
              <a:t>            </a:t>
            </a:r>
            <a:r>
              <a:rPr lang="en-US" sz="3900" dirty="0">
                <a:latin typeface="Arial"/>
                <a:ea typeface="Arial"/>
                <a:cs typeface="Arial"/>
                <a:sym typeface="Arial"/>
              </a:rPr>
              <a:t>The Future is ML-Driven</a:t>
            </a:r>
            <a:endParaRPr sz="3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br>
              <a:rPr lang="en-US" sz="2200" dirty="0"/>
            </a:br>
            <a:r>
              <a:rPr lang="en-US" sz="2200" dirty="0"/>
              <a:t>                                </a:t>
            </a:r>
            <a:r>
              <a:rPr lang="en-US" sz="5000" dirty="0"/>
              <a:t>Thank you for attending.</a:t>
            </a:r>
            <a:br>
              <a:rPr lang="en-US" sz="6000" dirty="0"/>
            </a:br>
            <a:r>
              <a:rPr lang="en-US" sz="6000" dirty="0"/>
              <a:t>             </a:t>
            </a:r>
            <a:r>
              <a:rPr lang="en-US" sz="1900" dirty="0">
                <a:latin typeface="Arial"/>
                <a:ea typeface="Arial"/>
                <a:cs typeface="Arial"/>
                <a:sym typeface="Arial"/>
              </a:rPr>
              <a:t>SRv6 + In-Packet Telemetry + Reinforcement Learning</a:t>
            </a: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lang="en-US" dirty="0">
                <a:solidFill>
                  <a:schemeClr val="bg1"/>
                </a:solidFill>
              </a:rPr>
              <a:t>   </a:t>
            </a:r>
            <a:r>
              <a:rPr lang="en-US" dirty="0" err="1">
                <a:solidFill>
                  <a:schemeClr val="bg1"/>
                </a:solidFill>
              </a:rPr>
              <a:t>Linkedin</a:t>
            </a:r>
            <a:r>
              <a:rPr lang="en-US" dirty="0">
                <a:solidFill>
                  <a:schemeClr val="bg1"/>
                </a:solidFill>
              </a:rPr>
              <a:t> : 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https://www.linkedin.com/in/shashwitha/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Shashwitha Puttaswamy | </a:t>
            </a:r>
            <a:r>
              <a:rPr lang="en-US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sputtaswamy@email.gwu.edu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             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   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NL Presentation">
  <a:themeElements>
    <a:clrScheme name="ORNL-OCT2024">
      <a:dk1>
        <a:srgbClr val="00454D"/>
      </a:dk1>
      <a:lt1>
        <a:srgbClr val="FFFFFF"/>
      </a:lt1>
      <a:dk2>
        <a:srgbClr val="00662C"/>
      </a:dk2>
      <a:lt2>
        <a:srgbClr val="DBDCDB"/>
      </a:lt2>
      <a:accent1>
        <a:srgbClr val="373A36"/>
      </a:accent1>
      <a:accent2>
        <a:srgbClr val="005776"/>
      </a:accent2>
      <a:accent3>
        <a:srgbClr val="006BA6"/>
      </a:accent3>
      <a:accent4>
        <a:srgbClr val="7DBA00"/>
      </a:accent4>
      <a:accent5>
        <a:srgbClr val="00BDB5"/>
      </a:accent5>
      <a:accent6>
        <a:srgbClr val="00B38F"/>
      </a:accent6>
      <a:hlink>
        <a:srgbClr val="00444D"/>
      </a:hlink>
      <a:folHlink>
        <a:srgbClr val="00662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1354</Words>
  <Application>Microsoft Macintosh PowerPoint</Application>
  <PresentationFormat>Widescreen</PresentationFormat>
  <Paragraphs>134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Roboto Light</vt:lpstr>
      <vt:lpstr>Roboto</vt:lpstr>
      <vt:lpstr>Times New Roman</vt:lpstr>
      <vt:lpstr>ORNL Presentation</vt:lpstr>
      <vt:lpstr>From Path-Aware to Application-Aware Source Routing using Traffic Classes   Reference Paper : https://dl.acm.org/doi/10.1145/3731599.3768147</vt:lpstr>
      <vt:lpstr>Background and Motivation : AI in Traffic Engineering </vt:lpstr>
      <vt:lpstr>PowerPoint Presentation</vt:lpstr>
      <vt:lpstr>PowerPoint Presentation</vt:lpstr>
      <vt:lpstr>Hecate Architecture Design</vt:lpstr>
      <vt:lpstr>PowerPoint Presentation</vt:lpstr>
      <vt:lpstr>                                            DSCP Value </vt:lpstr>
      <vt:lpstr>Fair Queuing: Dynamic Weighted Round Robin (WRR)</vt:lpstr>
      <vt:lpstr>Experiment &amp; Simulation Setup</vt:lpstr>
      <vt:lpstr>Results: Average Total Bandwidth Utilization</vt:lpstr>
      <vt:lpstr>Future Work: Class-Aware Congestion Feedback for SRv6  </vt:lpstr>
      <vt:lpstr>ML-Driven SRv6 Application aware </vt:lpstr>
      <vt:lpstr>Why ML-Driven Wins </vt:lpstr>
      <vt:lpstr>Evolution Timeline </vt:lpstr>
      <vt:lpstr>Why This Is Different </vt:lpstr>
      <vt:lpstr>  </vt:lpstr>
      <vt:lpstr>                         The Future is ML-Driven                                  Thank you for attending.              SRv6 + In-Packet Telemetry + Reinforcement Learning     Linkedin : https://www.linkedin.com/in/shashwitha/    Shashwitha Puttaswamy | sputtaswamy@email.gwu.edu                     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Puttaswamy, Shashwitha</cp:lastModifiedBy>
  <cp:revision>6</cp:revision>
  <dcterms:modified xsi:type="dcterms:W3CDTF">2026-03-10T18:45:20Z</dcterms:modified>
</cp:coreProperties>
</file>