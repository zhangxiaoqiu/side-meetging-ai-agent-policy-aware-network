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2"/>
  </p:handoutMasterIdLst>
  <p:sldIdLst>
    <p:sldId id="263" r:id="rId3"/>
    <p:sldId id="265" r:id="rId4"/>
    <p:sldId id="266" r:id="rId6"/>
    <p:sldId id="257" r:id="rId7"/>
    <p:sldId id="260" r:id="rId8"/>
    <p:sldId id="261" r:id="rId9"/>
    <p:sldId id="268" r:id="rId10"/>
    <p:sldId id="264" r:id="rId1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72"/>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结论：传统的</a:t>
            </a:r>
            <a:r>
              <a:rPr lang="en-US" altLang="zh-CN"/>
              <a:t>“</a:t>
            </a:r>
            <a:r>
              <a:rPr lang="zh-CN" altLang="en-US"/>
              <a:t>流感知网络</a:t>
            </a:r>
            <a:r>
              <a:rPr lang="en-US" altLang="zh-CN"/>
              <a:t>”</a:t>
            </a:r>
            <a:r>
              <a:rPr lang="zh-CN" altLang="en-US"/>
              <a:t>已无法适应</a:t>
            </a:r>
            <a:r>
              <a:rPr lang="en-US" altLang="zh-CN"/>
              <a:t>AI</a:t>
            </a:r>
            <a:r>
              <a:rPr lang="zh-CN" altLang="en-US"/>
              <a:t>医疗智能体动态、意图驱动且安全敏感的业务特征。</a:t>
            </a:r>
            <a:endParaRPr lang="zh-CN" altLang="en-US"/>
          </a:p>
          <a:p>
            <a:endParaRPr lang="zh-CN" altLang="en-US"/>
          </a:p>
          <a:p>
            <a:pPr marL="0" indent="0" algn="l">
              <a:spcBef>
                <a:spcPct val="0"/>
              </a:spcBef>
            </a:pPr>
            <a:r>
              <a:rPr lang="zh-CN" altLang="en-US">
                <a:solidFill>
                  <a:srgbClr val="060A26"/>
                </a:solidFill>
                <a:latin typeface="PingFang SC"/>
                <a:ea typeface="PingFang SC"/>
                <a:sym typeface="+mn-ea"/>
              </a:rPr>
              <a:t>痛点一：业务的“弹性突发” </a:t>
            </a:r>
            <a:r>
              <a:rPr lang="en-US" altLang="zh-CN">
                <a:solidFill>
                  <a:srgbClr val="060A26"/>
                </a:solidFill>
                <a:latin typeface="PingFang SC"/>
                <a:ea typeface="PingFang SC"/>
                <a:sym typeface="+mn-ea"/>
              </a:rPr>
              <a:t>vs </a:t>
            </a:r>
            <a:r>
              <a:rPr lang="zh-CN" altLang="en-US">
                <a:solidFill>
                  <a:srgbClr val="060A26"/>
                </a:solidFill>
                <a:latin typeface="PingFang SC"/>
                <a:ea typeface="PingFang SC"/>
                <a:sym typeface="+mn-ea"/>
              </a:rPr>
              <a:t>网络的“静态配置”</a:t>
            </a:r>
            <a:endParaRPr lang="zh-CN" altLang="en-US" b="0" i="0">
              <a:solidFill>
                <a:srgbClr val="060A26"/>
              </a:solidFill>
              <a:latin typeface="PingFang SC"/>
              <a:ea typeface="PingFang SC"/>
            </a:endParaRPr>
          </a:p>
          <a:p>
            <a:pPr marL="0" indent="0" algn="l">
              <a:buFont typeface="Arial" panose="020B0604020202020204"/>
              <a:buChar char="•"/>
            </a:pPr>
            <a:r>
              <a:rPr lang="zh-CN" altLang="en-US">
                <a:solidFill>
                  <a:srgbClr val="060A26"/>
                </a:solidFill>
                <a:latin typeface="PingFang SC"/>
                <a:ea typeface="PingFang SC"/>
                <a:sym typeface="+mn-ea"/>
              </a:rPr>
              <a:t>挑战：医疗</a:t>
            </a:r>
            <a:r>
              <a:rPr lang="en-US" altLang="zh-CN">
                <a:solidFill>
                  <a:srgbClr val="060A26"/>
                </a:solidFill>
                <a:latin typeface="PingFang SC"/>
                <a:ea typeface="PingFang SC"/>
                <a:sym typeface="+mn-ea"/>
              </a:rPr>
              <a:t>AI</a:t>
            </a:r>
            <a:r>
              <a:rPr lang="zh-CN" altLang="en-US">
                <a:solidFill>
                  <a:srgbClr val="060A26"/>
                </a:solidFill>
                <a:latin typeface="PingFang SC"/>
                <a:ea typeface="PingFang SC"/>
                <a:sym typeface="+mn-ea"/>
              </a:rPr>
              <a:t>训练通常在夜间突发（潮汐效应），推理在白天高峰。传统网络难以秒级弹性调整带宽和算力路径。</a:t>
            </a:r>
            <a:endParaRPr lang="zh-CN" altLang="en-US" b="0" i="0">
              <a:solidFill>
                <a:srgbClr val="060A26"/>
              </a:solidFill>
              <a:latin typeface="PingFang SC"/>
              <a:ea typeface="PingFang SC"/>
            </a:endParaRPr>
          </a:p>
          <a:p>
            <a:pPr marL="0" indent="0" algn="l">
              <a:spcBef>
                <a:spcPct val="0"/>
              </a:spcBef>
              <a:spcAft>
                <a:spcPct val="0"/>
              </a:spcAft>
              <a:buFont typeface="Arial" panose="020B0604020202020204"/>
              <a:buChar char="•"/>
            </a:pPr>
            <a:r>
              <a:rPr lang="en-US" altLang="zh-CN">
                <a:solidFill>
                  <a:srgbClr val="060A26"/>
                </a:solidFill>
                <a:latin typeface="PingFang SC"/>
                <a:ea typeface="PingFang SC"/>
                <a:sym typeface="+mn-ea"/>
              </a:rPr>
              <a:t>Agent</a:t>
            </a:r>
            <a:r>
              <a:rPr lang="zh-CN" altLang="en-US">
                <a:solidFill>
                  <a:srgbClr val="060A26"/>
                </a:solidFill>
                <a:latin typeface="PingFang SC"/>
                <a:ea typeface="PingFang SC"/>
                <a:sym typeface="+mn-ea"/>
              </a:rPr>
              <a:t>价值：预测性资源调度。智能体预判流量洪峰，主动向网络协商临时切片，用完即释。</a:t>
            </a:r>
            <a:endParaRPr lang="zh-CN" altLang="en-US" b="0" i="0">
              <a:solidFill>
                <a:srgbClr val="060A26"/>
              </a:solidFill>
              <a:latin typeface="PingFang SC"/>
              <a:ea typeface="PingFang SC"/>
            </a:endParaRPr>
          </a:p>
          <a:p>
            <a:pPr marL="0" indent="0" algn="l">
              <a:spcBef>
                <a:spcPct val="0"/>
              </a:spcBef>
            </a:pPr>
            <a:r>
              <a:rPr lang="zh-CN" altLang="en-US">
                <a:solidFill>
                  <a:srgbClr val="060A26"/>
                </a:solidFill>
                <a:latin typeface="PingFang SC"/>
                <a:ea typeface="PingFang SC"/>
                <a:sym typeface="+mn-ea"/>
              </a:rPr>
              <a:t>🔴 痛点二：基础设施的“受限” </a:t>
            </a:r>
            <a:r>
              <a:rPr lang="en-US" altLang="zh-CN">
                <a:solidFill>
                  <a:srgbClr val="060A26"/>
                </a:solidFill>
                <a:latin typeface="PingFang SC"/>
                <a:ea typeface="PingFang SC"/>
                <a:sym typeface="+mn-ea"/>
              </a:rPr>
              <a:t>vs </a:t>
            </a:r>
            <a:r>
              <a:rPr lang="zh-CN" altLang="en-US">
                <a:solidFill>
                  <a:srgbClr val="060A26"/>
                </a:solidFill>
                <a:latin typeface="PingFang SC"/>
                <a:ea typeface="PingFang SC"/>
                <a:sym typeface="+mn-ea"/>
              </a:rPr>
              <a:t>算力的“无限需求”</a:t>
            </a:r>
            <a:endParaRPr lang="zh-CN" altLang="en-US" b="0" i="0">
              <a:solidFill>
                <a:srgbClr val="060A26"/>
              </a:solidFill>
              <a:latin typeface="PingFang SC"/>
              <a:ea typeface="PingFang SC"/>
            </a:endParaRPr>
          </a:p>
          <a:p>
            <a:pPr marL="0" indent="0" algn="l">
              <a:buFont typeface="Arial" panose="020B0604020202020204"/>
              <a:buChar char="•"/>
            </a:pPr>
            <a:r>
              <a:rPr lang="zh-CN" altLang="en-US">
                <a:solidFill>
                  <a:srgbClr val="060A26"/>
                </a:solidFill>
                <a:latin typeface="PingFang SC"/>
                <a:ea typeface="PingFang SC"/>
                <a:sym typeface="+mn-ea"/>
              </a:rPr>
              <a:t>挑战：医院机房空间小、电力紧张，无法承载大规模训练；上云则面临网络不稳定风险。</a:t>
            </a:r>
            <a:endParaRPr lang="zh-CN" altLang="en-US" b="0" i="0">
              <a:solidFill>
                <a:srgbClr val="060A26"/>
              </a:solidFill>
              <a:latin typeface="PingFang SC"/>
              <a:ea typeface="PingFang SC"/>
            </a:endParaRPr>
          </a:p>
          <a:p>
            <a:pPr marL="0" indent="0" algn="l">
              <a:spcBef>
                <a:spcPct val="0"/>
              </a:spcBef>
              <a:spcAft>
                <a:spcPct val="0"/>
              </a:spcAft>
              <a:buFont typeface="Arial" panose="020B0604020202020204"/>
              <a:buChar char="•"/>
            </a:pPr>
            <a:r>
              <a:rPr lang="en-US" altLang="zh-CN">
                <a:solidFill>
                  <a:srgbClr val="060A26"/>
                </a:solidFill>
                <a:latin typeface="PingFang SC"/>
                <a:ea typeface="PingFang SC"/>
                <a:sym typeface="+mn-ea"/>
              </a:rPr>
              <a:t>Agent</a:t>
            </a:r>
            <a:r>
              <a:rPr lang="zh-CN" altLang="en-US">
                <a:solidFill>
                  <a:srgbClr val="060A26"/>
                </a:solidFill>
                <a:latin typeface="PingFang SC"/>
                <a:ea typeface="PingFang SC"/>
                <a:sym typeface="+mn-ea"/>
              </a:rPr>
              <a:t>价值：动态云边协同。智能体根据实时网络状态，动态拆分任务：轻量推理在边缘（医院），重训在云端，自动选择最优路径。</a:t>
            </a:r>
            <a:endParaRPr lang="zh-CN" altLang="en-US" b="0" i="0">
              <a:solidFill>
                <a:srgbClr val="060A26"/>
              </a:solidFill>
              <a:latin typeface="PingFang SC"/>
              <a:ea typeface="PingFang SC"/>
            </a:endParaRPr>
          </a:p>
          <a:p>
            <a:pPr marL="0" indent="0" algn="l">
              <a:spcBef>
                <a:spcPct val="0"/>
              </a:spcBef>
            </a:pPr>
            <a:r>
              <a:rPr lang="zh-CN" altLang="en-US">
                <a:solidFill>
                  <a:srgbClr val="060A26"/>
                </a:solidFill>
                <a:latin typeface="PingFang SC"/>
                <a:ea typeface="PingFang SC"/>
                <a:sym typeface="+mn-ea"/>
              </a:rPr>
              <a:t>🔴 痛点三：数据的“主权隔离” </a:t>
            </a:r>
            <a:r>
              <a:rPr lang="en-US" altLang="zh-CN">
                <a:solidFill>
                  <a:srgbClr val="060A26"/>
                </a:solidFill>
                <a:latin typeface="PingFang SC"/>
                <a:ea typeface="PingFang SC"/>
                <a:sym typeface="+mn-ea"/>
              </a:rPr>
              <a:t>vs </a:t>
            </a:r>
            <a:r>
              <a:rPr lang="zh-CN" altLang="en-US">
                <a:solidFill>
                  <a:srgbClr val="060A26"/>
                </a:solidFill>
                <a:latin typeface="PingFang SC"/>
                <a:ea typeface="PingFang SC"/>
                <a:sym typeface="+mn-ea"/>
              </a:rPr>
              <a:t>科研的“跨域共享”</a:t>
            </a:r>
            <a:endParaRPr lang="zh-CN" altLang="en-US" b="0" i="0">
              <a:solidFill>
                <a:srgbClr val="060A26"/>
              </a:solidFill>
              <a:latin typeface="PingFang SC"/>
              <a:ea typeface="PingFang SC"/>
            </a:endParaRPr>
          </a:p>
          <a:p>
            <a:pPr marL="0" indent="0" algn="l">
              <a:buFont typeface="Arial" panose="020B0604020202020204"/>
              <a:buChar char="•"/>
            </a:pPr>
            <a:r>
              <a:rPr lang="zh-CN" altLang="en-US">
                <a:solidFill>
                  <a:srgbClr val="060A26"/>
                </a:solidFill>
                <a:latin typeface="PingFang SC"/>
                <a:ea typeface="PingFang SC"/>
                <a:sym typeface="+mn-ea"/>
              </a:rPr>
              <a:t>挑战：医疗数据严禁出域，但科研需要跨院协作。传统防火墙</a:t>
            </a:r>
            <a:r>
              <a:rPr lang="en-US" altLang="zh-CN">
                <a:solidFill>
                  <a:srgbClr val="060A26"/>
                </a:solidFill>
                <a:latin typeface="PingFang SC"/>
                <a:ea typeface="PingFang SC"/>
                <a:sym typeface="+mn-ea"/>
              </a:rPr>
              <a:t>/ACL</a:t>
            </a:r>
            <a:r>
              <a:rPr lang="zh-CN" altLang="en-US">
                <a:solidFill>
                  <a:srgbClr val="060A26"/>
                </a:solidFill>
                <a:latin typeface="PingFang SC"/>
                <a:ea typeface="PingFang SC"/>
                <a:sym typeface="+mn-ea"/>
              </a:rPr>
              <a:t>策略僵化，开通专线周期长（数周）。</a:t>
            </a:r>
            <a:endParaRPr lang="zh-CN" altLang="en-US" b="0" i="0">
              <a:solidFill>
                <a:srgbClr val="060A26"/>
              </a:solidFill>
              <a:latin typeface="PingFang SC"/>
              <a:ea typeface="PingFang SC"/>
            </a:endParaRPr>
          </a:p>
          <a:p>
            <a:pPr marL="0" indent="0" algn="l">
              <a:spcBef>
                <a:spcPct val="0"/>
              </a:spcBef>
              <a:spcAft>
                <a:spcPct val="0"/>
              </a:spcAft>
              <a:buFont typeface="Arial" panose="020B0604020202020204"/>
              <a:buChar char="•"/>
            </a:pPr>
            <a:r>
              <a:rPr lang="en-US" altLang="zh-CN">
                <a:solidFill>
                  <a:srgbClr val="060A26"/>
                </a:solidFill>
                <a:latin typeface="PingFang SC"/>
                <a:ea typeface="PingFang SC"/>
                <a:sym typeface="+mn-ea"/>
              </a:rPr>
              <a:t>Agent</a:t>
            </a:r>
            <a:r>
              <a:rPr lang="zh-CN" altLang="en-US">
                <a:solidFill>
                  <a:srgbClr val="060A26"/>
                </a:solidFill>
                <a:latin typeface="PingFang SC"/>
                <a:ea typeface="PingFang SC"/>
                <a:sym typeface="+mn-ea"/>
              </a:rPr>
              <a:t>价值：基于意图的零信任安全。智能体携带安全意图（如</a:t>
            </a:r>
            <a:r>
              <a:rPr lang="en-US" altLang="zh-CN">
                <a:solidFill>
                  <a:srgbClr val="060A26"/>
                </a:solidFill>
                <a:latin typeface="PingFang SC"/>
                <a:ea typeface="PingFang SC"/>
                <a:sym typeface="+mn-ea"/>
              </a:rPr>
              <a:t> </a:t>
            </a:r>
            <a:r>
              <a:rPr lang="en-US" altLang="zh-CN">
                <a:solidFill>
                  <a:srgbClr val="060A26"/>
                </a:solidFill>
                <a:latin typeface="ui-monospace"/>
                <a:ea typeface="ui-monospace"/>
                <a:sym typeface="+mn-ea"/>
              </a:rPr>
              <a:t>{</a:t>
            </a:r>
            <a:r>
              <a:rPr lang="zh-CN" altLang="en-US">
                <a:solidFill>
                  <a:srgbClr val="060A26"/>
                </a:solidFill>
                <a:latin typeface="ui-monospace"/>
                <a:ea typeface="ui-monospace"/>
                <a:sym typeface="+mn-ea"/>
              </a:rPr>
              <a:t>模式：联邦学习，范围：仅梯度参数</a:t>
            </a:r>
            <a:r>
              <a:rPr lang="en-US" altLang="zh-CN">
                <a:solidFill>
                  <a:srgbClr val="060A26"/>
                </a:solidFill>
                <a:latin typeface="ui-monospace"/>
                <a:ea typeface="ui-monospace"/>
                <a:sym typeface="+mn-ea"/>
              </a:rPr>
              <a:t>}</a:t>
            </a:r>
            <a:r>
              <a:rPr lang="zh-CN" altLang="en-US">
                <a:solidFill>
                  <a:srgbClr val="060A26"/>
                </a:solidFill>
                <a:latin typeface="PingFang SC"/>
                <a:ea typeface="PingFang SC"/>
                <a:sym typeface="+mn-ea"/>
              </a:rPr>
              <a:t>），网络自动构建临时、逻辑隔离的安全隧道，任务结束自动销毁。</a:t>
            </a:r>
            <a:endParaRPr lang="zh-CN" altLang="en-US" b="0" i="0">
              <a:solidFill>
                <a:srgbClr val="060A26"/>
              </a:solidFill>
              <a:latin typeface="PingFang SC"/>
              <a:ea typeface="PingFang SC"/>
            </a:endParaRPr>
          </a:p>
          <a:p>
            <a:endParaRPr lang="zh-CN" altLang="en-US"/>
          </a:p>
          <a:p>
            <a:r>
              <a:rPr lang="zh-CN" altLang="en-US"/>
              <a:t>呼吁：</a:t>
            </a:r>
            <a:r>
              <a:rPr lang="en-US" altLang="zh-CN"/>
              <a:t>IETF</a:t>
            </a:r>
            <a:r>
              <a:rPr lang="zh-CN" altLang="en-US"/>
              <a:t>需推动网络架构向</a:t>
            </a:r>
            <a:r>
              <a:rPr lang="en-US" altLang="zh-CN"/>
              <a:t>“</a:t>
            </a:r>
            <a:r>
              <a:rPr lang="zh-CN" altLang="en-US"/>
              <a:t>智能体策略感知网络</a:t>
            </a:r>
            <a:r>
              <a:rPr lang="en-US" altLang="zh-CN"/>
              <a:t> (Agent Policy-Aware Network)”</a:t>
            </a:r>
            <a:r>
              <a:rPr lang="zh-CN" altLang="en-US"/>
              <a:t>演进，实现业务意图与网络资源的自动闭环协同。</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hemeOverride" Target="../theme/themeOverride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hemeOverride" Target="../theme/themeOverride2.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83310" y="1922780"/>
            <a:ext cx="10515600" cy="1325563"/>
          </a:xfrm>
        </p:spPr>
        <p:txBody>
          <a:bodyPr>
            <a:normAutofit fontScale="90000"/>
          </a:bodyPr>
          <a:p>
            <a:pPr algn="ctr"/>
            <a:r>
              <a:rPr lang="en-US" altLang="zh-CN" sz="6000" b="0"/>
              <a:t>AI Empowers Pre-, Intra-, and Post-Consultation Healthcare</a:t>
            </a:r>
            <a:endParaRPr lang="en-US" altLang="zh-CN"/>
          </a:p>
        </p:txBody>
      </p:sp>
      <p:sp>
        <p:nvSpPr>
          <p:cNvPr id="4" name="副标题 3"/>
          <p:cNvSpPr>
            <a:spLocks noGrp="1"/>
          </p:cNvSpPr>
          <p:nvPr>
            <p:ph type="subTitle" idx="1"/>
          </p:nvPr>
        </p:nvSpPr>
        <p:spPr>
          <a:xfrm>
            <a:off x="1524000" y="4484370"/>
            <a:ext cx="9144000" cy="991235"/>
          </a:xfrm>
        </p:spPr>
        <p:txBody>
          <a:bodyPr/>
          <a:p>
            <a:pPr marL="0" indent="0" algn="ctr">
              <a:buNone/>
            </a:pPr>
            <a:r>
              <a:rPr lang="en-US" altLang="zh-CN" sz="2400" b="1"/>
              <a:t>Xiangya Hospital</a:t>
            </a:r>
            <a:endParaRPr lang="en-US" altLang="zh-CN" sz="2400" b="1"/>
          </a:p>
          <a:p>
            <a:pPr marL="0" indent="0" algn="ctr">
              <a:buNone/>
            </a:pPr>
            <a:r>
              <a:rPr lang="en-US" altLang="zh-CN"/>
              <a:t>Weihong H</a:t>
            </a:r>
            <a:r>
              <a:rPr lang="en-US" altLang="zh-CN"/>
              <a:t>uang</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矩形 21"/>
          <p:cNvSpPr/>
          <p:nvPr/>
        </p:nvSpPr>
        <p:spPr>
          <a:xfrm>
            <a:off x="749300" y="1200785"/>
            <a:ext cx="10710545" cy="548513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p:nvPr>
        </p:nvSpPr>
        <p:spPr>
          <a:xfrm>
            <a:off x="228600" y="258445"/>
            <a:ext cx="11581765" cy="820420"/>
          </a:xfrm>
        </p:spPr>
        <p:txBody>
          <a:bodyPr/>
          <a:p>
            <a:pPr algn="l">
              <a:lnSpc>
                <a:spcPct val="100000"/>
              </a:lnSpc>
              <a:buClrTx/>
              <a:buSzTx/>
              <a:buFontTx/>
            </a:pPr>
            <a:r>
              <a:rPr lang="en-US" altLang="zh-CN" sz="2000" dirty="0">
                <a:solidFill>
                  <a:srgbClr val="002B60"/>
                </a:solidFill>
                <a:ea typeface="Verdana" panose="020B0604030504040204" pitchFamily="34" charset="0"/>
                <a:cs typeface="Calibri Light" panose="020F0302020204030204" charset="0"/>
              </a:rPr>
              <a:t>AI Empowers Healthcare: Typical Scenarios and New Network Challenges(1/2)</a:t>
            </a:r>
            <a:endParaRPr lang="en-US" altLang="zh-CN" sz="2000" dirty="0">
              <a:solidFill>
                <a:srgbClr val="002B60"/>
              </a:solidFill>
              <a:ea typeface="Verdana" panose="020B0604030504040204" pitchFamily="34" charset="0"/>
              <a:cs typeface="Calibri Light" panose="020F0302020204030204" charset="0"/>
            </a:endParaRPr>
          </a:p>
        </p:txBody>
      </p:sp>
      <p:grpSp>
        <p:nvGrpSpPr>
          <p:cNvPr id="3" name="组合 2"/>
          <p:cNvGrpSpPr/>
          <p:nvPr/>
        </p:nvGrpSpPr>
        <p:grpSpPr>
          <a:xfrm>
            <a:off x="1216127" y="1299845"/>
            <a:ext cx="10087012" cy="3424555"/>
            <a:chOff x="4813" y="2047"/>
            <a:chExt cx="8638" cy="6077"/>
          </a:xfrm>
        </p:grpSpPr>
        <p:sp>
          <p:nvSpPr>
            <p:cNvPr id="7" name="文本框 6"/>
            <p:cNvSpPr txBox="1"/>
            <p:nvPr/>
          </p:nvSpPr>
          <p:spPr>
            <a:xfrm>
              <a:off x="6683" y="2047"/>
              <a:ext cx="4989" cy="598"/>
            </a:xfrm>
            <a:prstGeom prst="rect">
              <a:avLst/>
            </a:prstGeom>
          </p:spPr>
          <p:txBody>
            <a:bodyPr wrap="square" anchor="ctr" anchorCtr="0">
              <a:spAutoFit/>
            </a:bodyPr>
            <a:p>
              <a:pPr marL="0" indent="0" algn="l">
                <a:spcAft>
                  <a:spcPct val="0"/>
                </a:spcAft>
              </a:pPr>
              <a:r>
                <a:rPr lang="en-US" altLang="zh-CN" sz="1600" b="1" i="0">
                  <a:solidFill>
                    <a:srgbClr val="060A26"/>
                  </a:solidFill>
                  <a:latin typeface="Times New Roman" panose="02020603050405020304" charset="0"/>
                  <a:ea typeface="PingFang SC"/>
                  <a:cs typeface="Times New Roman" panose="02020603050405020304" charset="0"/>
                </a:rPr>
                <a:t>Typical Application Scenarios of AI + Healthcare</a:t>
              </a:r>
              <a:endParaRPr lang="en-US" altLang="zh-CN" sz="1600" b="1" i="0">
                <a:solidFill>
                  <a:srgbClr val="060A26"/>
                </a:solidFill>
                <a:latin typeface="Times New Roman" panose="02020603050405020304" charset="0"/>
                <a:ea typeface="PingFang SC"/>
                <a:cs typeface="Times New Roman" panose="02020603050405020304" charset="0"/>
              </a:endParaRPr>
            </a:p>
          </p:txBody>
        </p:sp>
        <p:sp>
          <p:nvSpPr>
            <p:cNvPr id="8" name="文本框 7"/>
            <p:cNvSpPr txBox="1"/>
            <p:nvPr/>
          </p:nvSpPr>
          <p:spPr>
            <a:xfrm>
              <a:off x="4814" y="4237"/>
              <a:ext cx="2519" cy="3781"/>
            </a:xfrm>
            <a:prstGeom prst="rect">
              <a:avLst/>
            </a:prstGeom>
            <a:noFill/>
          </p:spPr>
          <p:txBody>
            <a:bodyPr wrap="square" rtlCol="0">
              <a:noAutofit/>
            </a:bodyPr>
            <a:p>
              <a:pPr indent="0">
                <a:buFont typeface="Arial" panose="020B0604020202020204" pitchFamily="34" charset="0"/>
                <a:buNone/>
              </a:pPr>
              <a:r>
                <a:rPr lang="en-US" altLang="zh-CN" sz="1000">
                  <a:latin typeface="Times New Roman" panose="02020603050405020304" charset="0"/>
                  <a:cs typeface="Times New Roman" panose="02020603050405020304" charset="0"/>
                </a:rPr>
                <a:t>Scenario</a:t>
              </a:r>
              <a:endParaRPr lang="en-US" altLang="zh-CN" sz="1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000">
                  <a:latin typeface="Times New Roman" panose="02020603050405020304" charset="0"/>
                  <a:cs typeface="Times New Roman" panose="02020603050405020304" charset="0"/>
                </a:rPr>
                <a:t>AI agents analyze patient symptoms via multimodal interaction, accurately recommend departments, and generate pre-triage reports</a:t>
              </a:r>
              <a:endParaRPr lang="en-US" altLang="zh-CN" sz="1000">
                <a:latin typeface="Times New Roman" panose="02020603050405020304" charset="0"/>
                <a:cs typeface="Times New Roman" panose="02020603050405020304" charset="0"/>
              </a:endParaRPr>
            </a:p>
            <a:p>
              <a:pPr indent="0">
                <a:buFont typeface="Arial" panose="020B0604020202020204" pitchFamily="34" charset="0"/>
                <a:buNone/>
              </a:pPr>
              <a:r>
                <a:rPr lang="en-US" altLang="zh-CN" sz="1000">
                  <a:latin typeface="Times New Roman" panose="02020603050405020304" charset="0"/>
                  <a:cs typeface="Times New Roman" panose="02020603050405020304" charset="0"/>
                </a:rPr>
                <a:t>Characteristics</a:t>
              </a:r>
              <a:endParaRPr lang="en-US" altLang="zh-CN" sz="1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000">
                  <a:latin typeface="Times New Roman" panose="02020603050405020304" charset="0"/>
                  <a:cs typeface="Times New Roman" panose="02020603050405020304" charset="0"/>
                </a:rPr>
                <a:t>High concurrency, high real-time requirements</a:t>
              </a:r>
              <a:endParaRPr lang="en-US" altLang="zh-CN" sz="1000">
                <a:latin typeface="Times New Roman" panose="02020603050405020304" charset="0"/>
                <a:cs typeface="Times New Roman" panose="02020603050405020304" charset="0"/>
              </a:endParaRPr>
            </a:p>
            <a:p>
              <a:pPr indent="0">
                <a:buFont typeface="Arial" panose="020B0604020202020204" pitchFamily="34" charset="0"/>
                <a:buNone/>
              </a:pPr>
              <a:r>
                <a:rPr lang="en-US" altLang="zh-CN" sz="1000">
                  <a:latin typeface="Times New Roman" panose="02020603050405020304" charset="0"/>
                  <a:cs typeface="Times New Roman" panose="02020603050405020304" charset="0"/>
                </a:rPr>
                <a:t>Case</a:t>
              </a:r>
              <a:endParaRPr lang="en-US" altLang="zh-CN" sz="1000">
                <a:latin typeface="Times New Roman" panose="02020603050405020304" charset="0"/>
                <a:cs typeface="Times New Roman" panose="02020603050405020304" charset="0"/>
              </a:endParaRPr>
            </a:p>
            <a:p>
              <a:pPr marL="285750" indent="-285750" algn="l">
                <a:buClrTx/>
                <a:buSzTx/>
                <a:buFont typeface="Arial" panose="020B0604020202020204" pitchFamily="34" charset="0"/>
                <a:buChar char="•"/>
              </a:pPr>
              <a:r>
                <a:rPr lang="en-US" altLang="zh-CN" sz="1000">
                  <a:latin typeface="Times New Roman" panose="02020603050405020304" charset="0"/>
                  <a:cs typeface="Times New Roman" panose="02020603050405020304" charset="0"/>
                  <a:sym typeface="+mn-ea"/>
                </a:rPr>
                <a:t>Life-saving emergency / Pre-diagnosis</a:t>
              </a:r>
              <a:endParaRPr lang="en-US" altLang="zh-CN" sz="1000">
                <a:latin typeface="Times New Roman" panose="02020603050405020304" charset="0"/>
                <a:cs typeface="Times New Roman" panose="02020603050405020304" charset="0"/>
                <a:sym typeface="+mn-ea"/>
              </a:endParaRPr>
            </a:p>
          </p:txBody>
        </p:sp>
        <p:sp>
          <p:nvSpPr>
            <p:cNvPr id="9" name="文本框 8"/>
            <p:cNvSpPr txBox="1"/>
            <p:nvPr/>
          </p:nvSpPr>
          <p:spPr>
            <a:xfrm>
              <a:off x="7661" y="4237"/>
              <a:ext cx="2584" cy="3781"/>
            </a:xfrm>
            <a:prstGeom prst="rect">
              <a:avLst/>
            </a:prstGeom>
          </p:spPr>
          <p:txBody>
            <a:bodyPr wrap="square">
              <a:noAutofit/>
            </a:bodyPr>
            <a:p>
              <a:pPr indent="0" algn="l">
                <a:spcBef>
                  <a:spcPct val="0"/>
                </a:spcBef>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Scenario</a:t>
              </a:r>
              <a:endParaRPr lang="en-US" altLang="zh-CN" sz="1000" b="0" i="0">
                <a:solidFill>
                  <a:srgbClr val="060A26"/>
                </a:solidFill>
                <a:latin typeface="Times New Roman" panose="02020603050405020304" charset="0"/>
                <a:ea typeface="PingFang SC"/>
                <a:cs typeface="Times New Roman" panose="02020603050405020304" charset="0"/>
              </a:endParaRPr>
            </a:p>
            <a:p>
              <a:pPr marL="266700" lvl="1" indent="-1714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Imaging analysis, AI-assisted reading</a:t>
              </a:r>
              <a:endParaRPr lang="en-US" altLang="zh-CN" sz="1000" b="0" i="0">
                <a:solidFill>
                  <a:srgbClr val="060A26"/>
                </a:solidFill>
                <a:latin typeface="Times New Roman" panose="02020603050405020304" charset="0"/>
                <a:ea typeface="PingFang SC"/>
                <a:cs typeface="Times New Roman" panose="02020603050405020304" charset="0"/>
              </a:endParaRPr>
            </a:p>
            <a:p>
              <a:pPr marL="266700" lvl="1" indent="-1714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Clinical decision support</a:t>
              </a:r>
              <a:endParaRPr lang="en-US" altLang="zh-CN" sz="1000" b="0" i="0">
                <a:solidFill>
                  <a:srgbClr val="060A26"/>
                </a:solidFill>
                <a:latin typeface="Times New Roman" panose="02020603050405020304" charset="0"/>
                <a:ea typeface="PingFang SC"/>
                <a:cs typeface="Times New Roman" panose="02020603050405020304" charset="0"/>
              </a:endParaRPr>
            </a:p>
            <a:p>
              <a:pPr marL="266700" lvl="1" indent="-171450" algn="l">
                <a:buClrTx/>
                <a:buSzTx/>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Medical record generation</a:t>
              </a:r>
              <a:endParaRPr lang="en-US" altLang="zh-CN" sz="1000" b="0" i="0">
                <a:solidFill>
                  <a:srgbClr val="060A26"/>
                </a:solidFill>
                <a:latin typeface="Times New Roman" panose="02020603050405020304" charset="0"/>
                <a:ea typeface="PingFang SC"/>
                <a:cs typeface="Times New Roman" panose="02020603050405020304" charset="0"/>
              </a:endParaRPr>
            </a:p>
            <a:p>
              <a:pPr indent="0" algn="l">
                <a:spcBef>
                  <a:spcPct val="0"/>
                </a:spcBef>
                <a:spcAft>
                  <a:spcPct val="0"/>
                </a:spcAft>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Characteristics</a:t>
              </a:r>
              <a:endParaRPr lang="en-US" altLang="zh-CN" sz="1000" b="0" i="0">
                <a:solidFill>
                  <a:srgbClr val="060A26"/>
                </a:solidFill>
                <a:latin typeface="Times New Roman" panose="02020603050405020304" charset="0"/>
                <a:ea typeface="PingFang SC"/>
                <a:cs typeface="Times New Roman" panose="02020603050405020304" charset="0"/>
              </a:endParaRPr>
            </a:p>
            <a:p>
              <a:pPr marL="171450" indent="-1714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High bandwidth (image transmission), low latency (real-time interaction), extremely high data privacy</a:t>
              </a:r>
              <a:endParaRPr lang="en-US" altLang="zh-CN" sz="1000" b="0" i="0">
                <a:solidFill>
                  <a:srgbClr val="060A26"/>
                </a:solidFill>
                <a:latin typeface="Times New Roman" panose="02020603050405020304" charset="0"/>
                <a:ea typeface="PingFang SC"/>
                <a:cs typeface="Times New Roman" panose="02020603050405020304" charset="0"/>
              </a:endParaRPr>
            </a:p>
            <a:p>
              <a:pPr indent="0" algn="l">
                <a:spcBef>
                  <a:spcPct val="0"/>
                </a:spcBef>
                <a:spcAft>
                  <a:spcPct val="0"/>
                </a:spcAft>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Case</a:t>
              </a:r>
              <a:endParaRPr lang="en-US" altLang="zh-CN" sz="1000" b="0" i="0">
                <a:solidFill>
                  <a:srgbClr val="060A26"/>
                </a:solidFill>
                <a:latin typeface="Times New Roman" panose="02020603050405020304" charset="0"/>
                <a:ea typeface="PingFang SC"/>
                <a:cs typeface="Times New Roman" panose="02020603050405020304" charset="0"/>
              </a:endParaRPr>
            </a:p>
            <a:p>
              <a:pPr marL="171450" indent="-171450" algn="l">
                <a:spcBef>
                  <a:spcPct val="0"/>
                </a:spcBef>
                <a:spcAft>
                  <a:spcPct val="0"/>
                </a:spcAft>
                <a:buFont typeface="Arial" panose="020B0604020202020204" pitchFamily="34" charset="0"/>
                <a:buChar char="•"/>
              </a:pPr>
              <a:r>
                <a:rPr lang="en-US" altLang="zh-CN" sz="1000" i="0">
                  <a:solidFill>
                    <a:srgbClr val="060A26"/>
                  </a:solidFill>
                  <a:latin typeface="Times New Roman" panose="02020603050405020304" charset="0"/>
                  <a:ea typeface="PingFang SC"/>
                  <a:cs typeface="Times New Roman" panose="02020603050405020304" charset="0"/>
                  <a:sym typeface="+mn-ea"/>
                </a:rPr>
                <a:t>Precision control (during diagnosis/surgery)</a:t>
              </a:r>
              <a:endParaRPr lang="en-US" altLang="zh-CN" sz="1000" i="0">
                <a:solidFill>
                  <a:srgbClr val="060A26"/>
                </a:solidFill>
                <a:latin typeface="Times New Roman" panose="02020603050405020304" charset="0"/>
                <a:ea typeface="PingFang SC"/>
                <a:cs typeface="Times New Roman" panose="02020603050405020304" charset="0"/>
                <a:sym typeface="+mn-ea"/>
              </a:endParaRPr>
            </a:p>
          </p:txBody>
        </p:sp>
        <p:sp>
          <p:nvSpPr>
            <p:cNvPr id="12" name="文本框 11"/>
            <p:cNvSpPr txBox="1"/>
            <p:nvPr/>
          </p:nvSpPr>
          <p:spPr>
            <a:xfrm>
              <a:off x="10614" y="4237"/>
              <a:ext cx="2621" cy="3781"/>
            </a:xfrm>
            <a:prstGeom prst="rect">
              <a:avLst/>
            </a:prstGeom>
          </p:spPr>
          <p:txBody>
            <a:bodyPr>
              <a:noAutofit/>
            </a:bodyPr>
            <a:p>
              <a:pPr marL="0" indent="0" algn="l">
                <a:buFont typeface="Arial" panose="020B0604020202020204"/>
                <a:buNone/>
              </a:pPr>
              <a:r>
                <a:rPr lang="en-US" altLang="zh-CN" sz="1000" b="0" i="0">
                  <a:solidFill>
                    <a:srgbClr val="060A26"/>
                  </a:solidFill>
                  <a:latin typeface="Times New Roman" panose="02020603050405020304" charset="0"/>
                  <a:ea typeface="PingFang SC"/>
                  <a:cs typeface="Times New Roman" panose="02020603050405020304" charset="0"/>
                </a:rPr>
                <a:t>Scenario</a:t>
              </a:r>
              <a:endParaRPr lang="en-US" altLang="zh-CN" sz="1000" b="0" i="0">
                <a:solidFill>
                  <a:srgbClr val="060A26"/>
                </a:solidFill>
                <a:latin typeface="Times New Roman" panose="02020603050405020304" charset="0"/>
                <a:ea typeface="PingFang SC"/>
                <a:cs typeface="Times New Roman" panose="02020603050405020304" charset="0"/>
              </a:endParaRPr>
            </a:p>
            <a:p>
              <a:pPr marL="285750" indent="-285750" algn="l">
                <a:buFont typeface="Arial" panose="020B0604020202020204" pitchFamily="34" charset="0"/>
                <a:buChar char="•"/>
              </a:pPr>
              <a:r>
                <a:rPr lang="en-US" altLang="zh-CN" sz="1000">
                  <a:solidFill>
                    <a:srgbClr val="060A26"/>
                  </a:solidFill>
                  <a:latin typeface="Times New Roman" panose="02020603050405020304" charset="0"/>
                  <a:ea typeface="PingFang SC"/>
                  <a:cs typeface="Times New Roman" panose="02020603050405020304" charset="0"/>
                  <a:sym typeface="+mn-ea"/>
                </a:rPr>
                <a:t>Dynamic management of personal health records; Personalized rehabilitation planning; Remote home monitoring</a:t>
              </a:r>
              <a:endParaRPr lang="en-US" altLang="zh-CN" sz="1000">
                <a:solidFill>
                  <a:srgbClr val="060A26"/>
                </a:solidFill>
                <a:latin typeface="Times New Roman" panose="02020603050405020304" charset="0"/>
                <a:ea typeface="PingFang SC"/>
                <a:cs typeface="Times New Roman" panose="02020603050405020304" charset="0"/>
                <a:sym typeface="+mn-ea"/>
              </a:endParaRPr>
            </a:p>
            <a:p>
              <a:pPr marL="285750" indent="-285750" algn="l">
                <a:buClrTx/>
                <a:buSzTx/>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New drug development; Joint research on difficult cases; Assistance in writing medical papersCharacteristics</a:t>
              </a:r>
              <a:endParaRPr lang="en-US" altLang="zh-CN" sz="10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spcAft>
                  <a:spcPct val="0"/>
                </a:spcAft>
                <a:buFont typeface="Arial" panose="020B0604020202020204" pitchFamily="34" charset="0"/>
                <a:buChar char="•"/>
              </a:pPr>
              <a:r>
                <a:rPr lang="en-US" altLang="zh-CN" sz="1000">
                  <a:solidFill>
                    <a:srgbClr val="060A26"/>
                  </a:solidFill>
                  <a:latin typeface="Times New Roman" panose="02020603050405020304" charset="0"/>
                  <a:ea typeface="PingFang SC"/>
                  <a:cs typeface="Times New Roman" panose="02020603050405020304" charset="0"/>
                  <a:sym typeface="+mn-ea"/>
                </a:rPr>
                <a:t>Long connections, massive IoT device access</a:t>
              </a:r>
              <a:endParaRPr lang="en-US" altLang="zh-CN" sz="1000">
                <a:solidFill>
                  <a:srgbClr val="060A26"/>
                </a:solidFill>
                <a:latin typeface="Times New Roman" panose="02020603050405020304" charset="0"/>
                <a:ea typeface="PingFang SC"/>
                <a:cs typeface="Times New Roman" panose="02020603050405020304" charset="0"/>
                <a:sym typeface="+mn-ea"/>
              </a:endParaRPr>
            </a:p>
            <a:p>
              <a:pPr marL="285750" indent="-2857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Cross-institutional data collaboration; Elastic computing scheduling</a:t>
              </a:r>
              <a:endParaRPr lang="en-US" altLang="zh-CN" sz="1000" b="0" i="0">
                <a:solidFill>
                  <a:srgbClr val="060A26"/>
                </a:solidFill>
                <a:latin typeface="Times New Roman" panose="02020603050405020304" charset="0"/>
                <a:ea typeface="PingFang SC"/>
                <a:cs typeface="Times New Roman" panose="02020603050405020304" charset="0"/>
              </a:endParaRPr>
            </a:p>
            <a:p>
              <a:pPr indent="0" algn="l">
                <a:spcBef>
                  <a:spcPct val="0"/>
                </a:spcBef>
                <a:spcAft>
                  <a:spcPct val="0"/>
                </a:spcAft>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Case</a:t>
              </a:r>
              <a:endParaRPr lang="en-US" altLang="zh-CN" sz="10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Research (post-diagnosis)</a:t>
              </a:r>
              <a:endParaRPr lang="en-US" altLang="zh-CN" sz="1000" b="0" i="0">
                <a:solidFill>
                  <a:srgbClr val="060A26"/>
                </a:solidFill>
                <a:latin typeface="Times New Roman" panose="02020603050405020304" charset="0"/>
                <a:ea typeface="PingFang SC"/>
                <a:cs typeface="Times New Roman" panose="02020603050405020304" charset="0"/>
              </a:endParaRPr>
            </a:p>
          </p:txBody>
        </p:sp>
        <p:sp>
          <p:nvSpPr>
            <p:cNvPr id="13" name="文本框 12"/>
            <p:cNvSpPr txBox="1"/>
            <p:nvPr/>
          </p:nvSpPr>
          <p:spPr>
            <a:xfrm>
              <a:off x="4813" y="3547"/>
              <a:ext cx="2719" cy="489"/>
            </a:xfrm>
            <a:prstGeom prst="rect">
              <a:avLst/>
            </a:prstGeom>
            <a:noFill/>
            <a:ln w="25400">
              <a:noFill/>
            </a:ln>
          </p:spPr>
          <p:txBody>
            <a:bodyPr wrap="square" rtlCol="0" anchor="t">
              <a:spAutoFit/>
            </a:bodyPr>
            <a:p>
              <a:pPr algn="ctr"/>
              <a:r>
                <a:rPr lang="en-US" altLang="zh-CN" sz="1200">
                  <a:latin typeface="Times New Roman" panose="02020603050405020304" charset="0"/>
                  <a:cs typeface="Times New Roman" panose="02020603050405020304" charset="0"/>
                  <a:sym typeface="+mn-ea"/>
                </a:rPr>
                <a:t>Intelligent triage and pre-examination</a:t>
              </a:r>
              <a:endParaRPr lang="en-US" altLang="zh-CN" sz="1200">
                <a:latin typeface="Times New Roman" panose="02020603050405020304" charset="0"/>
                <a:cs typeface="Times New Roman" panose="02020603050405020304" charset="0"/>
                <a:sym typeface="+mn-ea"/>
              </a:endParaRPr>
            </a:p>
          </p:txBody>
        </p:sp>
        <p:sp>
          <p:nvSpPr>
            <p:cNvPr id="14" name="文本框 13"/>
            <p:cNvSpPr txBox="1"/>
            <p:nvPr/>
          </p:nvSpPr>
          <p:spPr>
            <a:xfrm>
              <a:off x="7630" y="3458"/>
              <a:ext cx="2623" cy="489"/>
            </a:xfrm>
            <a:prstGeom prst="rect">
              <a:avLst/>
            </a:prstGeom>
            <a:noFill/>
            <a:ln w="25400">
              <a:noFill/>
            </a:ln>
          </p:spPr>
          <p:txBody>
            <a:bodyPr wrap="square" rtlCol="0" anchor="t">
              <a:spAutoFit/>
            </a:bodyPr>
            <a:p>
              <a:pPr marL="0" indent="0" algn="ctr">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Core diagnosis and treatment assistance</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15" name="文本框 14"/>
            <p:cNvSpPr txBox="1"/>
            <p:nvPr/>
          </p:nvSpPr>
          <p:spPr>
            <a:xfrm>
              <a:off x="10970" y="3532"/>
              <a:ext cx="2481" cy="699"/>
            </a:xfrm>
            <a:prstGeom prst="rect">
              <a:avLst/>
            </a:prstGeom>
            <a:noFill/>
            <a:ln w="25400">
              <a:noFill/>
            </a:ln>
          </p:spPr>
          <p:txBody>
            <a:bodyPr wrap="square" rtlCol="0" anchor="t">
              <a:no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Whole-life health management</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18" name="文本框 17"/>
            <p:cNvSpPr txBox="1"/>
            <p:nvPr/>
          </p:nvSpPr>
          <p:spPr>
            <a:xfrm>
              <a:off x="4817" y="2910"/>
              <a:ext cx="2626" cy="465"/>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Pre-consultation</a:t>
              </a:r>
              <a:endParaRPr lang="en-US" altLang="zh-CN" sz="1400" b="1">
                <a:latin typeface="Times New Roman" panose="02020603050405020304" charset="0"/>
                <a:cs typeface="Times New Roman" panose="02020603050405020304" charset="0"/>
                <a:sym typeface="+mn-ea"/>
              </a:endParaRPr>
            </a:p>
          </p:txBody>
        </p:sp>
        <p:sp>
          <p:nvSpPr>
            <p:cNvPr id="19" name="文本框 18"/>
            <p:cNvSpPr txBox="1"/>
            <p:nvPr/>
          </p:nvSpPr>
          <p:spPr>
            <a:xfrm>
              <a:off x="7661" y="2908"/>
              <a:ext cx="2585" cy="466"/>
            </a:xfrm>
            <a:prstGeom prst="rect">
              <a:avLst/>
            </a:prstGeom>
            <a:solidFill>
              <a:schemeClr val="accent1">
                <a:tint val="40000"/>
              </a:schemeClr>
            </a:solidFill>
          </p:spPr>
          <p:txBody>
            <a:bodyPr wrap="square" rtlCol="0" anchor="ctr" anchorCtr="0">
              <a:noAutofit/>
            </a:bodyPr>
            <a:p>
              <a:pPr algn="ctr"/>
              <a:r>
                <a:rPr lang="en-US" altLang="zh-CN" sz="1400" b="1">
                  <a:solidFill>
                    <a:srgbClr val="060A26"/>
                  </a:solidFill>
                  <a:latin typeface="Times New Roman" panose="02020603050405020304" charset="0"/>
                  <a:ea typeface="PingFang SC"/>
                  <a:cs typeface="Times New Roman" panose="02020603050405020304" charset="0"/>
                  <a:sym typeface="+mn-ea"/>
                </a:rPr>
                <a:t>Intra-consultation</a:t>
              </a:r>
              <a:endParaRPr lang="en-US" altLang="zh-CN" sz="1400" b="1">
                <a:solidFill>
                  <a:srgbClr val="060A26"/>
                </a:solidFill>
                <a:latin typeface="Times New Roman" panose="02020603050405020304" charset="0"/>
                <a:ea typeface="PingFang SC"/>
                <a:cs typeface="Times New Roman" panose="02020603050405020304" charset="0"/>
                <a:sym typeface="+mn-ea"/>
              </a:endParaRPr>
            </a:p>
          </p:txBody>
        </p:sp>
        <p:sp>
          <p:nvSpPr>
            <p:cNvPr id="20" name="文本框 19"/>
            <p:cNvSpPr txBox="1"/>
            <p:nvPr/>
          </p:nvSpPr>
          <p:spPr>
            <a:xfrm>
              <a:off x="10444" y="2910"/>
              <a:ext cx="2791" cy="464"/>
            </a:xfrm>
            <a:prstGeom prst="rect">
              <a:avLst/>
            </a:prstGeom>
            <a:solidFill>
              <a:schemeClr val="accent1">
                <a:tint val="40000"/>
              </a:schemeClr>
            </a:solidFill>
          </p:spPr>
          <p:txBody>
            <a:bodyPr wrap="square" rtlCol="0" anchor="ctr" anchorCtr="0">
              <a:noAutofit/>
            </a:bodyPr>
            <a:p>
              <a:pPr marL="0" indent="0" algn="ctr">
                <a:spcBef>
                  <a:spcPct val="0"/>
                </a:spcBef>
              </a:pPr>
              <a:r>
                <a:rPr lang="en-US" altLang="zh-CN" sz="1400" b="1">
                  <a:solidFill>
                    <a:srgbClr val="060A26"/>
                  </a:solidFill>
                  <a:latin typeface="Times New Roman" panose="02020603050405020304" charset="0"/>
                  <a:ea typeface="PingFang SC"/>
                  <a:cs typeface="Times New Roman" panose="02020603050405020304" charset="0"/>
                  <a:sym typeface="+mn-ea"/>
                </a:rPr>
                <a:t>Post-consultation</a:t>
              </a:r>
              <a:endParaRPr lang="en-US" altLang="zh-CN" sz="1400" b="1">
                <a:solidFill>
                  <a:srgbClr val="060A26"/>
                </a:solidFill>
                <a:latin typeface="Times New Roman" panose="02020603050405020304" charset="0"/>
                <a:ea typeface="PingFang SC"/>
                <a:cs typeface="Times New Roman" panose="02020603050405020304" charset="0"/>
                <a:sym typeface="+mn-ea"/>
              </a:endParaRPr>
            </a:p>
          </p:txBody>
        </p:sp>
        <p:sp>
          <p:nvSpPr>
            <p:cNvPr id="24" name="矩形 23"/>
            <p:cNvSpPr/>
            <p:nvPr/>
          </p:nvSpPr>
          <p:spPr>
            <a:xfrm>
              <a:off x="4814" y="4207"/>
              <a:ext cx="2630" cy="3916"/>
            </a:xfrm>
            <a:prstGeom prst="rect">
              <a:avLst/>
            </a:prstGeom>
            <a:noFill/>
            <a:ln w="25400">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a:sym typeface="+mn-ea"/>
              </a:endParaRPr>
            </a:p>
          </p:txBody>
        </p:sp>
        <p:sp>
          <p:nvSpPr>
            <p:cNvPr id="25" name="矩形 24"/>
            <p:cNvSpPr/>
            <p:nvPr/>
          </p:nvSpPr>
          <p:spPr>
            <a:xfrm>
              <a:off x="7661" y="4207"/>
              <a:ext cx="2585" cy="3917"/>
            </a:xfrm>
            <a:prstGeom prst="rect">
              <a:avLst/>
            </a:prstGeom>
            <a:noFill/>
            <a:ln w="25400">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6" name="矩形 25"/>
            <p:cNvSpPr/>
            <p:nvPr/>
          </p:nvSpPr>
          <p:spPr>
            <a:xfrm>
              <a:off x="10444" y="4207"/>
              <a:ext cx="2791" cy="3917"/>
            </a:xfrm>
            <a:prstGeom prst="rect">
              <a:avLst/>
            </a:prstGeom>
            <a:noFill/>
            <a:ln w="25400">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grpSp>
      <p:pic>
        <p:nvPicPr>
          <p:cNvPr id="4" name="图片 3"/>
          <p:cNvPicPr>
            <a:picLocks noChangeAspect="1"/>
          </p:cNvPicPr>
          <p:nvPr/>
        </p:nvPicPr>
        <p:blipFill>
          <a:blip r:embed="rId1"/>
          <a:stretch>
            <a:fillRect/>
          </a:stretch>
        </p:blipFill>
        <p:spPr>
          <a:xfrm>
            <a:off x="3195320" y="4973320"/>
            <a:ext cx="5709920" cy="14725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790575" y="1106170"/>
            <a:ext cx="10699750" cy="5593721"/>
            <a:chOff x="9789" y="1818"/>
            <a:chExt cx="8776" cy="8733"/>
          </a:xfrm>
        </p:grpSpPr>
        <p:sp>
          <p:nvSpPr>
            <p:cNvPr id="28" name="矩形 27"/>
            <p:cNvSpPr/>
            <p:nvPr/>
          </p:nvSpPr>
          <p:spPr>
            <a:xfrm>
              <a:off x="9789" y="1818"/>
              <a:ext cx="8776" cy="8733"/>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3155" y="1955"/>
              <a:ext cx="2126" cy="606"/>
            </a:xfrm>
            <a:prstGeom prst="rect">
              <a:avLst/>
            </a:prstGeom>
          </p:spPr>
          <p:txBody>
            <a:bodyPr wrap="square">
              <a:noAutofit/>
            </a:bodyPr>
            <a:p>
              <a:pPr marL="0" algn="l">
                <a:buClrTx/>
                <a:buSzTx/>
                <a:buFontTx/>
              </a:pPr>
              <a:r>
                <a:rPr lang="en-US" altLang="zh-CN" sz="1600" b="1" i="0">
                  <a:solidFill>
                    <a:srgbClr val="060A26"/>
                  </a:solidFill>
                  <a:latin typeface="Times New Roman" panose="02020603050405020304" charset="0"/>
                  <a:ea typeface="PingFang SC"/>
                  <a:cs typeface="Times New Roman" panose="02020603050405020304" charset="0"/>
                </a:rPr>
                <a:t>Internet challenges</a:t>
              </a:r>
              <a:endParaRPr lang="en-US" altLang="zh-CN" sz="1600" b="1" i="0">
                <a:solidFill>
                  <a:srgbClr val="060A26"/>
                </a:solidFill>
                <a:latin typeface="Times New Roman" panose="02020603050405020304" charset="0"/>
                <a:ea typeface="PingFang SC"/>
                <a:cs typeface="Times New Roman" panose="02020603050405020304" charset="0"/>
              </a:endParaRPr>
            </a:p>
          </p:txBody>
        </p:sp>
        <p:grpSp>
          <p:nvGrpSpPr>
            <p:cNvPr id="39" name="组合 38"/>
            <p:cNvGrpSpPr/>
            <p:nvPr/>
          </p:nvGrpSpPr>
          <p:grpSpPr>
            <a:xfrm>
              <a:off x="10011" y="2660"/>
              <a:ext cx="2642" cy="2269"/>
              <a:chOff x="9789" y="2896"/>
              <a:chExt cx="2037" cy="2269"/>
            </a:xfrm>
          </p:grpSpPr>
          <p:sp>
            <p:nvSpPr>
              <p:cNvPr id="29" name="文本框 28"/>
              <p:cNvSpPr txBox="1"/>
              <p:nvPr/>
            </p:nvSpPr>
            <p:spPr>
              <a:xfrm>
                <a:off x="9789" y="2896"/>
                <a:ext cx="2036" cy="618"/>
              </a:xfrm>
              <a:prstGeom prst="rect">
                <a:avLst/>
              </a:prstGeom>
              <a:solidFill>
                <a:schemeClr val="accent1">
                  <a:tint val="40000"/>
                </a:schemeClr>
              </a:solidFill>
            </p:spPr>
            <p:txBody>
              <a:bodyPr wrap="square" rtlCol="0" anchor="ctr" anchorCtr="0">
                <a:noAutofit/>
              </a:bodyPr>
              <a:p>
                <a:pPr algn="ctr"/>
                <a:r>
                  <a:rPr lang="en-US" altLang="zh-CN" sz="1400" b="1">
                    <a:sym typeface="+mn-ea"/>
                  </a:rPr>
                  <a:t>Pain Point 1</a:t>
                </a:r>
                <a:endParaRPr lang="en-US" altLang="zh-CN" sz="1400" b="1">
                  <a:sym typeface="+mn-ea"/>
                </a:endParaRPr>
              </a:p>
            </p:txBody>
          </p:sp>
          <p:sp>
            <p:nvSpPr>
              <p:cNvPr id="33" name="文本框 32"/>
              <p:cNvSpPr txBox="1"/>
              <p:nvPr/>
            </p:nvSpPr>
            <p:spPr>
              <a:xfrm>
                <a:off x="9939" y="3514"/>
                <a:ext cx="1459" cy="493"/>
              </a:xfrm>
              <a:prstGeom prst="rect">
                <a:avLst/>
              </a:prstGeom>
              <a:noFill/>
              <a:ln w="15875">
                <a:noFill/>
              </a:ln>
            </p:spPr>
            <p:txBody>
              <a:bodyPr wrap="square" rtlCol="0" anchor="t">
                <a:noAutofit/>
              </a:bodyPr>
              <a:p>
                <a:pPr marL="0" indent="0" algn="l">
                  <a:spcBef>
                    <a:spcPct val="0"/>
                  </a:spcBef>
                </a:pPr>
                <a:r>
                  <a:rPr lang="en-US" altLang="zh-CN" sz="1200">
                    <a:latin typeface="Times New Roman" panose="02020603050405020304" charset="0"/>
                    <a:cs typeface="Times New Roman" panose="02020603050405020304" charset="0"/>
                    <a:sym typeface="+mn-ea"/>
                  </a:rPr>
                  <a:t>"Elastic Bursts" of Business</a:t>
                </a:r>
                <a:endParaRPr lang="en-US" altLang="zh-CN" sz="1200">
                  <a:latin typeface="Times New Roman" panose="02020603050405020304" charset="0"/>
                  <a:cs typeface="Times New Roman" panose="02020603050405020304" charset="0"/>
                  <a:sym typeface="+mn-ea"/>
                </a:endParaRPr>
              </a:p>
            </p:txBody>
          </p:sp>
          <p:sp>
            <p:nvSpPr>
              <p:cNvPr id="36" name="文本框 35"/>
              <p:cNvSpPr txBox="1"/>
              <p:nvPr/>
            </p:nvSpPr>
            <p:spPr>
              <a:xfrm>
                <a:off x="9879" y="4608"/>
                <a:ext cx="1749" cy="430"/>
              </a:xfrm>
              <a:prstGeom prst="rect">
                <a:avLst/>
              </a:prstGeom>
              <a:noFill/>
            </p:spPr>
            <p:txBody>
              <a:bodyPr wrap="square" rtlCol="0" anchor="t">
                <a:sp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"Static Configuration" of Networks</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37" name="文本框 36"/>
              <p:cNvSpPr txBox="1"/>
              <p:nvPr/>
            </p:nvSpPr>
            <p:spPr>
              <a:xfrm>
                <a:off x="10540" y="4034"/>
                <a:ext cx="256" cy="573"/>
              </a:xfrm>
              <a:prstGeom prst="rect">
                <a:avLst/>
              </a:prstGeom>
              <a:noFill/>
            </p:spPr>
            <p:txBody>
              <a:bodyPr wrap="square" rtlCol="0" anchor="t">
                <a:noAutofit/>
              </a:bodyPr>
              <a:p>
                <a:pPr marL="0" indent="0" algn="l">
                  <a:spcBef>
                    <a:spcPct val="0"/>
                  </a:spcBef>
                </a:pPr>
                <a:r>
                  <a:rPr lang="en-US" altLang="zh-CN" sz="1400" b="1">
                    <a:gradFill>
                      <a:gsLst>
                        <a:gs pos="0">
                          <a:srgbClr val="E30000"/>
                        </a:gs>
                        <a:gs pos="100000">
                          <a:srgbClr val="760303"/>
                        </a:gs>
                      </a:gsLst>
                      <a:lin scaled="0"/>
                    </a:gradFill>
                    <a:latin typeface="PingFang SC"/>
                    <a:ea typeface="PingFang SC"/>
                    <a:sym typeface="+mn-ea"/>
                  </a:rPr>
                  <a:t>vs</a:t>
                </a:r>
                <a:r>
                  <a:rPr lang="en-US" altLang="zh-CN" sz="1400">
                    <a:solidFill>
                      <a:srgbClr val="060A26"/>
                    </a:solidFill>
                    <a:latin typeface="PingFang SC"/>
                    <a:ea typeface="PingFang SC"/>
                    <a:sym typeface="+mn-ea"/>
                  </a:rPr>
                  <a:t> </a:t>
                </a:r>
                <a:endParaRPr lang="en-US" altLang="zh-CN" sz="1200">
                  <a:solidFill>
                    <a:srgbClr val="060A26"/>
                  </a:solidFill>
                  <a:latin typeface="PingFang SC"/>
                  <a:ea typeface="PingFang SC"/>
                  <a:sym typeface="+mn-ea"/>
                </a:endParaRPr>
              </a:p>
            </p:txBody>
          </p:sp>
          <p:sp>
            <p:nvSpPr>
              <p:cNvPr id="38" name="矩形 37"/>
              <p:cNvSpPr/>
              <p:nvPr/>
            </p:nvSpPr>
            <p:spPr>
              <a:xfrm>
                <a:off x="9798" y="3497"/>
                <a:ext cx="2028" cy="1668"/>
              </a:xfrm>
              <a:prstGeom prst="rect">
                <a:avLst/>
              </a:prstGeom>
              <a:no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40" name="组合 39"/>
            <p:cNvGrpSpPr/>
            <p:nvPr/>
          </p:nvGrpSpPr>
          <p:grpSpPr>
            <a:xfrm>
              <a:off x="12841" y="2660"/>
              <a:ext cx="2380" cy="2269"/>
              <a:chOff x="9789" y="2896"/>
              <a:chExt cx="2037" cy="2269"/>
            </a:xfrm>
          </p:grpSpPr>
          <p:sp>
            <p:nvSpPr>
              <p:cNvPr id="41" name="文本框 40"/>
              <p:cNvSpPr txBox="1"/>
              <p:nvPr/>
            </p:nvSpPr>
            <p:spPr>
              <a:xfrm>
                <a:off x="9789" y="2896"/>
                <a:ext cx="2036" cy="618"/>
              </a:xfrm>
              <a:prstGeom prst="rect">
                <a:avLst/>
              </a:prstGeom>
              <a:solidFill>
                <a:schemeClr val="accent1">
                  <a:tint val="40000"/>
                </a:schemeClr>
              </a:solidFill>
            </p:spPr>
            <p:txBody>
              <a:bodyPr wrap="square" rtlCol="0" anchor="ctr" anchorCtr="0">
                <a:noAutofit/>
              </a:bodyPr>
              <a:p>
                <a:pPr algn="ctr"/>
                <a:r>
                  <a:rPr lang="en-US" altLang="zh-CN" sz="1400" b="1">
                    <a:sym typeface="+mn-ea"/>
                  </a:rPr>
                  <a:t>Pain Point 2</a:t>
                </a:r>
                <a:endParaRPr lang="en-US" altLang="zh-CN" sz="1400" b="1">
                  <a:sym typeface="+mn-ea"/>
                </a:endParaRPr>
              </a:p>
            </p:txBody>
          </p:sp>
          <p:sp>
            <p:nvSpPr>
              <p:cNvPr id="42" name="文本框 41"/>
              <p:cNvSpPr txBox="1"/>
              <p:nvPr/>
            </p:nvSpPr>
            <p:spPr>
              <a:xfrm>
                <a:off x="9961" y="3514"/>
                <a:ext cx="1443" cy="493"/>
              </a:xfrm>
              <a:prstGeom prst="rect">
                <a:avLst/>
              </a:prstGeom>
              <a:noFill/>
              <a:ln w="15875">
                <a:noFill/>
              </a:ln>
            </p:spPr>
            <p:txBody>
              <a:bodyPr wrap="square" rtlCol="0" anchor="t">
                <a:noAutofit/>
              </a:bodyPr>
              <a:p>
                <a:pPr marL="0" indent="0" algn="l">
                  <a:spcBef>
                    <a:spcPct val="0"/>
                  </a:spcBef>
                </a:pPr>
                <a:r>
                  <a:rPr lang="en-US" altLang="zh-CN" sz="1200">
                    <a:latin typeface="Times New Roman" panose="02020603050405020304" charset="0"/>
                    <a:cs typeface="Times New Roman" panose="02020603050405020304" charset="0"/>
                    <a:sym typeface="+mn-ea"/>
                  </a:rPr>
                  <a:t> "Limited" Infrastructure </a:t>
                </a:r>
                <a:endParaRPr lang="en-US" altLang="zh-CN" sz="1200">
                  <a:latin typeface="Times New Roman" panose="02020603050405020304" charset="0"/>
                  <a:cs typeface="Times New Roman" panose="02020603050405020304" charset="0"/>
                  <a:sym typeface="+mn-ea"/>
                </a:endParaRPr>
              </a:p>
            </p:txBody>
          </p:sp>
          <p:sp>
            <p:nvSpPr>
              <p:cNvPr id="43" name="文本框 42"/>
              <p:cNvSpPr txBox="1"/>
              <p:nvPr/>
            </p:nvSpPr>
            <p:spPr>
              <a:xfrm>
                <a:off x="9961" y="4608"/>
                <a:ext cx="1666" cy="430"/>
              </a:xfrm>
              <a:prstGeom prst="rect">
                <a:avLst/>
              </a:prstGeom>
              <a:noFill/>
            </p:spPr>
            <p:txBody>
              <a:bodyPr wrap="square" rtlCol="0" anchor="t">
                <a:sp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"Unlimited" Compute Demand</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44" name="文本框 43"/>
              <p:cNvSpPr txBox="1"/>
              <p:nvPr/>
            </p:nvSpPr>
            <p:spPr>
              <a:xfrm>
                <a:off x="10567" y="4034"/>
                <a:ext cx="288" cy="430"/>
              </a:xfrm>
              <a:prstGeom prst="rect">
                <a:avLst/>
              </a:prstGeom>
              <a:noFill/>
            </p:spPr>
            <p:txBody>
              <a:bodyPr wrap="square" rtlCol="0" anchor="t">
                <a:spAutoFit/>
              </a:bodyPr>
              <a:p>
                <a:pPr marL="0" indent="0" algn="l">
                  <a:spcBef>
                    <a:spcPct val="0"/>
                  </a:spcBef>
                </a:pPr>
                <a:r>
                  <a:rPr lang="en-US" altLang="zh-CN" sz="1200" b="1">
                    <a:gradFill>
                      <a:gsLst>
                        <a:gs pos="0">
                          <a:srgbClr val="E30000"/>
                        </a:gs>
                        <a:gs pos="100000">
                          <a:srgbClr val="760303"/>
                        </a:gs>
                      </a:gsLst>
                      <a:lin scaled="0"/>
                    </a:gradFill>
                    <a:latin typeface="PingFang SC"/>
                    <a:ea typeface="PingFang SC"/>
                    <a:sym typeface="+mn-ea"/>
                  </a:rPr>
                  <a:t>vs</a:t>
                </a:r>
                <a:r>
                  <a:rPr lang="en-US" altLang="zh-CN" sz="1200">
                    <a:solidFill>
                      <a:srgbClr val="060A26"/>
                    </a:solidFill>
                    <a:latin typeface="PingFang SC"/>
                    <a:ea typeface="PingFang SC"/>
                    <a:sym typeface="+mn-ea"/>
                  </a:rPr>
                  <a:t> </a:t>
                </a:r>
                <a:endParaRPr lang="en-US" altLang="zh-CN" sz="1200">
                  <a:solidFill>
                    <a:srgbClr val="060A26"/>
                  </a:solidFill>
                  <a:latin typeface="PingFang SC"/>
                  <a:ea typeface="PingFang SC"/>
                  <a:sym typeface="+mn-ea"/>
                </a:endParaRPr>
              </a:p>
            </p:txBody>
          </p:sp>
          <p:sp>
            <p:nvSpPr>
              <p:cNvPr id="45" name="矩形 44"/>
              <p:cNvSpPr/>
              <p:nvPr/>
            </p:nvSpPr>
            <p:spPr>
              <a:xfrm>
                <a:off x="9798" y="3497"/>
                <a:ext cx="2028" cy="1668"/>
              </a:xfrm>
              <a:prstGeom prst="rect">
                <a:avLst/>
              </a:prstGeom>
              <a:no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46" name="组合 45"/>
            <p:cNvGrpSpPr/>
            <p:nvPr/>
          </p:nvGrpSpPr>
          <p:grpSpPr>
            <a:xfrm>
              <a:off x="15547" y="2660"/>
              <a:ext cx="2693" cy="2269"/>
              <a:chOff x="9789" y="2896"/>
              <a:chExt cx="2037" cy="2269"/>
            </a:xfrm>
          </p:grpSpPr>
          <p:sp>
            <p:nvSpPr>
              <p:cNvPr id="47" name="文本框 46"/>
              <p:cNvSpPr txBox="1"/>
              <p:nvPr/>
            </p:nvSpPr>
            <p:spPr>
              <a:xfrm>
                <a:off x="9789" y="2896"/>
                <a:ext cx="2036" cy="618"/>
              </a:xfrm>
              <a:prstGeom prst="rect">
                <a:avLst/>
              </a:prstGeom>
              <a:solidFill>
                <a:schemeClr val="accent1">
                  <a:tint val="40000"/>
                </a:schemeClr>
              </a:solidFill>
            </p:spPr>
            <p:txBody>
              <a:bodyPr wrap="square" rtlCol="0" anchor="ctr" anchorCtr="0">
                <a:noAutofit/>
              </a:bodyPr>
              <a:p>
                <a:pPr algn="ctr"/>
                <a:r>
                  <a:rPr lang="en-US" altLang="zh-CN" sz="1400" b="1">
                    <a:sym typeface="+mn-ea"/>
                  </a:rPr>
                  <a:t>Pain Point 3</a:t>
                </a:r>
                <a:endParaRPr lang="en-US" altLang="zh-CN" sz="1400" b="1">
                  <a:sym typeface="+mn-ea"/>
                </a:endParaRPr>
              </a:p>
            </p:txBody>
          </p:sp>
          <p:sp>
            <p:nvSpPr>
              <p:cNvPr id="48" name="文本框 47"/>
              <p:cNvSpPr txBox="1"/>
              <p:nvPr/>
            </p:nvSpPr>
            <p:spPr>
              <a:xfrm>
                <a:off x="9940" y="3514"/>
                <a:ext cx="1516" cy="493"/>
              </a:xfrm>
              <a:prstGeom prst="rect">
                <a:avLst/>
              </a:prstGeom>
              <a:noFill/>
              <a:ln w="15875">
                <a:noFill/>
              </a:ln>
            </p:spPr>
            <p:txBody>
              <a:bodyPr wrap="square" rtlCol="0" anchor="t">
                <a:noAutofit/>
              </a:bodyPr>
              <a:p>
                <a:pPr marL="0" indent="0" algn="l">
                  <a:spcBef>
                    <a:spcPct val="0"/>
                  </a:spcBef>
                </a:pPr>
                <a:r>
                  <a:rPr lang="en-US" altLang="zh-CN" sz="1200">
                    <a:latin typeface="Times New Roman" panose="02020603050405020304" charset="0"/>
                    <a:cs typeface="Times New Roman" panose="02020603050405020304" charset="0"/>
                    <a:sym typeface="+mn-ea"/>
                  </a:rPr>
                  <a:t>"Sovereign Isolation" of Data </a:t>
                </a:r>
                <a:endParaRPr lang="en-US" altLang="zh-CN" sz="1200">
                  <a:latin typeface="Times New Roman" panose="02020603050405020304" charset="0"/>
                  <a:cs typeface="Times New Roman" panose="02020603050405020304" charset="0"/>
                  <a:sym typeface="+mn-ea"/>
                </a:endParaRPr>
              </a:p>
            </p:txBody>
          </p:sp>
          <p:sp>
            <p:nvSpPr>
              <p:cNvPr id="49" name="文本框 48"/>
              <p:cNvSpPr txBox="1"/>
              <p:nvPr/>
            </p:nvSpPr>
            <p:spPr>
              <a:xfrm>
                <a:off x="9891" y="4608"/>
                <a:ext cx="1808" cy="430"/>
              </a:xfrm>
              <a:prstGeom prst="rect">
                <a:avLst/>
              </a:prstGeom>
              <a:noFill/>
            </p:spPr>
            <p:txBody>
              <a:bodyPr wrap="square" rtlCol="0" anchor="t">
                <a:sp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"Cross-Domain Sharing" for Research</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50" name="文本框 49"/>
              <p:cNvSpPr txBox="1"/>
              <p:nvPr/>
            </p:nvSpPr>
            <p:spPr>
              <a:xfrm>
                <a:off x="10560" y="4034"/>
                <a:ext cx="276" cy="430"/>
              </a:xfrm>
              <a:prstGeom prst="rect">
                <a:avLst/>
              </a:prstGeom>
              <a:noFill/>
            </p:spPr>
            <p:txBody>
              <a:bodyPr wrap="square" rtlCol="0" anchor="t">
                <a:spAutoFit/>
              </a:bodyPr>
              <a:p>
                <a:pPr marL="0" indent="0" algn="l">
                  <a:spcBef>
                    <a:spcPct val="0"/>
                  </a:spcBef>
                </a:pPr>
                <a:r>
                  <a:rPr lang="en-US" altLang="zh-CN" sz="1200" b="1">
                    <a:gradFill>
                      <a:gsLst>
                        <a:gs pos="0">
                          <a:srgbClr val="E30000"/>
                        </a:gs>
                        <a:gs pos="100000">
                          <a:srgbClr val="760303"/>
                        </a:gs>
                      </a:gsLst>
                      <a:lin scaled="0"/>
                    </a:gradFill>
                    <a:latin typeface="PingFang SC"/>
                    <a:ea typeface="PingFang SC"/>
                    <a:sym typeface="+mn-ea"/>
                  </a:rPr>
                  <a:t>vs</a:t>
                </a:r>
                <a:r>
                  <a:rPr lang="en-US" altLang="zh-CN" sz="1200">
                    <a:solidFill>
                      <a:srgbClr val="060A26"/>
                    </a:solidFill>
                    <a:latin typeface="PingFang SC"/>
                    <a:ea typeface="PingFang SC"/>
                    <a:sym typeface="+mn-ea"/>
                  </a:rPr>
                  <a:t> </a:t>
                </a:r>
                <a:endParaRPr lang="en-US" altLang="zh-CN" sz="1200">
                  <a:solidFill>
                    <a:srgbClr val="060A26"/>
                  </a:solidFill>
                  <a:latin typeface="PingFang SC"/>
                  <a:ea typeface="PingFang SC"/>
                  <a:sym typeface="+mn-ea"/>
                </a:endParaRPr>
              </a:p>
            </p:txBody>
          </p:sp>
          <p:sp>
            <p:nvSpPr>
              <p:cNvPr id="51" name="矩形 50"/>
              <p:cNvSpPr/>
              <p:nvPr/>
            </p:nvSpPr>
            <p:spPr>
              <a:xfrm>
                <a:off x="9798" y="3497"/>
                <a:ext cx="2028" cy="1668"/>
              </a:xfrm>
              <a:prstGeom prst="rect">
                <a:avLst/>
              </a:prstGeom>
              <a:no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55" name="文本框 54"/>
            <p:cNvSpPr txBox="1"/>
            <p:nvPr/>
          </p:nvSpPr>
          <p:spPr>
            <a:xfrm>
              <a:off x="9952" y="7046"/>
              <a:ext cx="2582" cy="3277"/>
            </a:xfrm>
            <a:prstGeom prst="rect">
              <a:avLst/>
            </a:prstGeom>
            <a:noFill/>
            <a:ln>
              <a:solidFill>
                <a:schemeClr val="bg1">
                  <a:lumMod val="85000"/>
                </a:schemeClr>
              </a:solidFill>
            </a:ln>
          </p:spPr>
          <p:txBody>
            <a:bodyPr wrap="square" rtlCol="0" anchor="t">
              <a:noAutofit/>
            </a:bodyPr>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Agents forecast traffic peaks</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 negotiate temporary slices, maximizing resource utilization.</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Proactively negotiate temporary slices with the network and release them when they are used up</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56" name="文本框 55"/>
            <p:cNvSpPr txBox="1"/>
            <p:nvPr/>
          </p:nvSpPr>
          <p:spPr>
            <a:xfrm>
              <a:off x="9951" y="6428"/>
              <a:ext cx="2583" cy="618"/>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Advantage 1</a:t>
              </a:r>
              <a:endParaRPr lang="en-US" altLang="zh-CN" sz="1400" b="1">
                <a:latin typeface="Times New Roman" panose="02020603050405020304" charset="0"/>
                <a:cs typeface="Times New Roman" panose="02020603050405020304" charset="0"/>
                <a:sym typeface="+mn-ea"/>
              </a:endParaRPr>
            </a:p>
          </p:txBody>
        </p:sp>
        <p:grpSp>
          <p:nvGrpSpPr>
            <p:cNvPr id="65" name="组合 64"/>
            <p:cNvGrpSpPr/>
            <p:nvPr/>
          </p:nvGrpSpPr>
          <p:grpSpPr>
            <a:xfrm>
              <a:off x="12796" y="6428"/>
              <a:ext cx="2583" cy="3895"/>
              <a:chOff x="12994" y="5906"/>
              <a:chExt cx="2583" cy="3895"/>
            </a:xfrm>
          </p:grpSpPr>
          <p:sp>
            <p:nvSpPr>
              <p:cNvPr id="58" name="文本框 57"/>
              <p:cNvSpPr txBox="1"/>
              <p:nvPr/>
            </p:nvSpPr>
            <p:spPr>
              <a:xfrm>
                <a:off x="12995" y="6524"/>
                <a:ext cx="2582" cy="3277"/>
              </a:xfrm>
              <a:prstGeom prst="rect">
                <a:avLst/>
              </a:prstGeom>
              <a:noFill/>
              <a:ln>
                <a:solidFill>
                  <a:schemeClr val="bg1">
                    <a:lumMod val="85000"/>
                  </a:schemeClr>
                </a:solidFill>
              </a:ln>
            </p:spPr>
            <p:txBody>
              <a:bodyPr wrap="square" rtlCol="0" anchor="t">
                <a:noAutofit/>
              </a:bodyPr>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ynamic Cloud-Edge Collaboration</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Agents split tasks based on real-time network conditions</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628650" lvl="1" indent="-171450">
                  <a:lnSpc>
                    <a:spcPct val="150000"/>
                  </a:lnSpc>
                  <a:buFont typeface="Wingdings" panose="05000000000000000000" charset="0"/>
                  <a:buChar char="ü"/>
                </a:pPr>
                <a:r>
                  <a:rPr lang="en-US" altLang="zh-CN" sz="1200">
                    <a:solidFill>
                      <a:srgbClr val="060A26"/>
                    </a:solidFill>
                    <a:latin typeface="Times New Roman" panose="02020603050405020304" charset="0"/>
                    <a:ea typeface="PingFang SC"/>
                    <a:cs typeface="Times New Roman" panose="02020603050405020304" charset="0"/>
                    <a:sym typeface="+mn-ea"/>
                  </a:rPr>
                  <a:t>light inference at the edge</a:t>
                </a:r>
                <a:endParaRPr lang="zh-CN" altLang="en-US" sz="1200">
                  <a:solidFill>
                    <a:srgbClr val="060A26"/>
                  </a:solidFill>
                  <a:latin typeface="Times New Roman" panose="02020603050405020304" charset="0"/>
                  <a:ea typeface="PingFang SC"/>
                  <a:cs typeface="Times New Roman" panose="02020603050405020304" charset="0"/>
                  <a:sym typeface="+mn-ea"/>
                </a:endParaRPr>
              </a:p>
              <a:p>
                <a:pPr marL="628650" lvl="1" indent="-171450">
                  <a:lnSpc>
                    <a:spcPct val="150000"/>
                  </a:lnSpc>
                  <a:buFont typeface="Wingdings" panose="05000000000000000000" charset="0"/>
                  <a:buChar char="ü"/>
                </a:pPr>
                <a:r>
                  <a:rPr lang="en-US" altLang="zh-CN" sz="1200">
                    <a:solidFill>
                      <a:srgbClr val="060A26"/>
                    </a:solidFill>
                    <a:latin typeface="Times New Roman" panose="02020603050405020304" charset="0"/>
                    <a:ea typeface="PingFang SC"/>
                    <a:cs typeface="Times New Roman" panose="02020603050405020304" charset="0"/>
                    <a:sym typeface="+mn-ea"/>
                  </a:rPr>
                  <a:t>heavy training in the cloud</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auto-select optimal paths</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59" name="文本框 58"/>
              <p:cNvSpPr txBox="1"/>
              <p:nvPr/>
            </p:nvSpPr>
            <p:spPr>
              <a:xfrm>
                <a:off x="12994" y="5906"/>
                <a:ext cx="2583" cy="618"/>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Advantage 2</a:t>
                </a:r>
                <a:endParaRPr lang="en-US" altLang="zh-CN" sz="1400" b="1">
                  <a:latin typeface="Times New Roman" panose="02020603050405020304" charset="0"/>
                  <a:cs typeface="Times New Roman" panose="02020603050405020304" charset="0"/>
                  <a:sym typeface="+mn-ea"/>
                </a:endParaRPr>
              </a:p>
            </p:txBody>
          </p:sp>
        </p:grpSp>
        <p:grpSp>
          <p:nvGrpSpPr>
            <p:cNvPr id="66" name="组合 65"/>
            <p:cNvGrpSpPr/>
            <p:nvPr/>
          </p:nvGrpSpPr>
          <p:grpSpPr>
            <a:xfrm>
              <a:off x="15587" y="6428"/>
              <a:ext cx="2781" cy="3895"/>
              <a:chOff x="15785" y="5906"/>
              <a:chExt cx="2781" cy="3244"/>
            </a:xfrm>
          </p:grpSpPr>
          <p:sp>
            <p:nvSpPr>
              <p:cNvPr id="60" name="文本框 59"/>
              <p:cNvSpPr txBox="1"/>
              <p:nvPr/>
            </p:nvSpPr>
            <p:spPr>
              <a:xfrm>
                <a:off x="15785" y="6420"/>
                <a:ext cx="2781" cy="2730"/>
              </a:xfrm>
              <a:prstGeom prst="rect">
                <a:avLst/>
              </a:prstGeom>
              <a:noFill/>
              <a:ln>
                <a:solidFill>
                  <a:schemeClr val="bg1">
                    <a:lumMod val="85000"/>
                  </a:schemeClr>
                </a:solidFill>
              </a:ln>
            </p:spPr>
            <p:txBody>
              <a:bodyPr wrap="square" rtlCol="0" anchor="t">
                <a:noAutofit/>
              </a:bodyPr>
              <a:p>
                <a:pPr marL="285750" indent="-285750" algn="l">
                  <a:lnSpc>
                    <a:spcPct val="150000"/>
                  </a:lnSpc>
                  <a:spcBef>
                    <a:spcPct val="0"/>
                  </a:spcBef>
                  <a:spcAft>
                    <a:spcPct val="0"/>
                  </a:spcAft>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Intent-Based Zero-Trust Security</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gn="l">
                  <a:lnSpc>
                    <a:spcPct val="150000"/>
                  </a:lnSpc>
                  <a:spcBef>
                    <a:spcPct val="0"/>
                  </a:spcBef>
                  <a:spcAft>
                    <a:spcPct val="0"/>
                  </a:spcAft>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Agents carry security intents (e.g Federated Learning), and the network automatically constructs temporary, logically isolated secure tunnels </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gn="l">
                  <a:lnSpc>
                    <a:spcPct val="150000"/>
                  </a:lnSpc>
                  <a:spcBef>
                    <a:spcPct val="0"/>
                  </a:spcBef>
                  <a:spcAft>
                    <a:spcPct val="0"/>
                  </a:spcAft>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Automatically destroyed after completion</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61" name="文本框 60"/>
              <p:cNvSpPr txBox="1"/>
              <p:nvPr/>
            </p:nvSpPr>
            <p:spPr>
              <a:xfrm>
                <a:off x="15785" y="5906"/>
                <a:ext cx="2781" cy="528"/>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Advantage 3</a:t>
                </a:r>
                <a:endParaRPr lang="en-US" altLang="zh-CN" sz="1400" b="1">
                  <a:latin typeface="Times New Roman" panose="02020603050405020304" charset="0"/>
                  <a:cs typeface="Times New Roman" panose="02020603050405020304" charset="0"/>
                  <a:sym typeface="+mn-ea"/>
                </a:endParaRPr>
              </a:p>
            </p:txBody>
          </p:sp>
        </p:grpSp>
        <p:sp>
          <p:nvSpPr>
            <p:cNvPr id="62" name="下箭头 61"/>
            <p:cNvSpPr/>
            <p:nvPr/>
          </p:nvSpPr>
          <p:spPr>
            <a:xfrm>
              <a:off x="13439" y="5189"/>
              <a:ext cx="1556" cy="422"/>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7" name="文本框 66"/>
            <p:cNvSpPr txBox="1"/>
            <p:nvPr/>
          </p:nvSpPr>
          <p:spPr>
            <a:xfrm>
              <a:off x="13155" y="5822"/>
              <a:ext cx="2126" cy="606"/>
            </a:xfrm>
            <a:prstGeom prst="rect">
              <a:avLst/>
            </a:prstGeom>
          </p:spPr>
          <p:txBody>
            <a:bodyPr wrap="square">
              <a:noAutofit/>
            </a:bodyPr>
            <a:p>
              <a:pPr marL="0" algn="l">
                <a:buClrTx/>
                <a:buSzTx/>
                <a:buFontTx/>
              </a:pPr>
              <a:r>
                <a:rPr lang="en-US" altLang="zh-CN" sz="1600" b="1" i="0">
                  <a:solidFill>
                    <a:srgbClr val="060A26"/>
                  </a:solidFill>
                  <a:latin typeface="Times New Roman" panose="02020603050405020304" charset="0"/>
                  <a:ea typeface="宋体" panose="02010600030101010101" pitchFamily="2" charset="-122"/>
                  <a:cs typeface="Times New Roman" panose="02020603050405020304" charset="0"/>
                </a:rPr>
                <a:t>AI Agents advantages</a:t>
              </a:r>
              <a:endParaRPr lang="en-US" altLang="zh-CN" sz="1600" b="1" i="0">
                <a:solidFill>
                  <a:srgbClr val="060A26"/>
                </a:solidFill>
                <a:latin typeface="Times New Roman" panose="02020603050405020304" charset="0"/>
                <a:ea typeface="宋体" panose="02010600030101010101" pitchFamily="2" charset="-122"/>
                <a:cs typeface="Times New Roman" panose="02020603050405020304" charset="0"/>
              </a:endParaRPr>
            </a:p>
          </p:txBody>
        </p:sp>
      </p:grpSp>
      <p:sp>
        <p:nvSpPr>
          <p:cNvPr id="4" name="标题 1"/>
          <p:cNvSpPr>
            <a:spLocks noGrp="1"/>
          </p:cNvSpPr>
          <p:nvPr/>
        </p:nvSpPr>
        <p:spPr>
          <a:xfrm>
            <a:off x="337185" y="124460"/>
            <a:ext cx="11515090" cy="820420"/>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2400" b="1" kern="1200">
                <a:solidFill>
                  <a:schemeClr val="tx1"/>
                </a:solidFill>
                <a:effectLst>
                  <a:outerShdw blurRad="38100" dist="38100" dir="2700000" algn="tl">
                    <a:srgbClr val="000000">
                      <a:alpha val="43137"/>
                    </a:srgbClr>
                  </a:outerShdw>
                </a:effectLst>
                <a:latin typeface="+mj-lt"/>
                <a:ea typeface="+mj-ea"/>
                <a:cs typeface="+mj-cs"/>
              </a:defRPr>
            </a:lvl1pPr>
          </a:lstStyle>
          <a:p>
            <a:pPr algn="l">
              <a:lnSpc>
                <a:spcPct val="100000"/>
              </a:lnSpc>
              <a:buClrTx/>
              <a:buSzTx/>
              <a:buFontTx/>
            </a:pPr>
            <a:r>
              <a:rPr lang="en-US" altLang="zh-CN" sz="2000" dirty="0">
                <a:solidFill>
                  <a:srgbClr val="002B60"/>
                </a:solidFill>
                <a:ea typeface="Verdana" panose="020B0604030504040204" pitchFamily="34" charset="0"/>
                <a:cs typeface="Calibri Light" panose="020F0302020204030204" charset="0"/>
              </a:rPr>
              <a:t>AI Empowers Healthcare: Typical Scenarios and New Network Challenges</a:t>
            </a:r>
            <a:r>
              <a:rPr lang="en-US" altLang="zh-CN" sz="2000" dirty="0">
                <a:solidFill>
                  <a:srgbClr val="002B60"/>
                </a:solidFill>
                <a:ea typeface="Verdana" panose="020B0604030504040204" pitchFamily="34" charset="0"/>
                <a:cs typeface="Calibri Light" panose="020F0302020204030204" charset="0"/>
                <a:sym typeface="+mn-ea"/>
              </a:rPr>
              <a:t>(2/2)</a:t>
            </a:r>
            <a:endParaRPr lang="en-US" altLang="zh-CN" sz="2000" dirty="0">
              <a:solidFill>
                <a:srgbClr val="002B60"/>
              </a:solidFill>
              <a:ea typeface="Verdana" panose="020B0604030504040204" pitchFamily="34" charset="0"/>
              <a:cs typeface="Calibri Light" panose="020F03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文本框 8"/>
          <p:cNvSpPr txBox="1"/>
          <p:nvPr/>
        </p:nvSpPr>
        <p:spPr>
          <a:xfrm>
            <a:off x="266700" y="197485"/>
            <a:ext cx="10794365" cy="706755"/>
          </a:xfrm>
          <a:prstGeom prst="rect">
            <a:avLst/>
          </a:prstGeom>
          <a:noFill/>
        </p:spPr>
        <p:txBody>
          <a:bodyPr wrap="square" rtlCol="0" anchor="t">
            <a:spAutoFit/>
          </a:bodyPr>
          <a:p>
            <a:r>
              <a:rPr lang="en-US" altLang="zh-CN" sz="2000" b="1" dirty="0">
                <a:solidFill>
                  <a:srgbClr val="002B60"/>
                </a:solidFill>
                <a:latin typeface="+mj-lt"/>
                <a:ea typeface="Verdana" panose="020B0604030504040204" pitchFamily="34" charset="0"/>
                <a:cs typeface="Calibri Light" panose="020F0302020204030204" charset="0"/>
                <a:sym typeface="+mn-ea"/>
              </a:rPr>
              <a:t>Home Emergency Rescue and Zero-intervention Guarantee for the "Golden Time"</a:t>
            </a:r>
            <a:endParaRPr lang="en-US" altLang="zh-CN" sz="2000" b="1" dirty="0">
              <a:solidFill>
                <a:srgbClr val="002B60"/>
              </a:solidFill>
              <a:latin typeface="+mj-lt"/>
              <a:ea typeface="Verdana" panose="020B0604030504040204" pitchFamily="34" charset="0"/>
              <a:cs typeface="Calibri Light" panose="020F0302020204030204" charset="0"/>
              <a:sym typeface="+mn-ea"/>
            </a:endParaRPr>
          </a:p>
        </p:txBody>
      </p:sp>
      <p:sp>
        <p:nvSpPr>
          <p:cNvPr id="2" name="文本框 1"/>
          <p:cNvSpPr txBox="1"/>
          <p:nvPr/>
        </p:nvSpPr>
        <p:spPr>
          <a:xfrm>
            <a:off x="342900" y="815975"/>
            <a:ext cx="11480800" cy="1999615"/>
          </a:xfrm>
          <a:prstGeom prst="rect">
            <a:avLst/>
          </a:prstGeom>
        </p:spPr>
        <p:txBody>
          <a:bodyPr wrap="square">
            <a:spAutoFit/>
          </a:bodyPr>
          <a:p>
            <a:pPr indent="0" algn="l">
              <a:spcBef>
                <a:spcPct val="0"/>
              </a:spcBef>
              <a:buFont typeface="Wingdings" panose="05000000000000000000" charset="0"/>
              <a:buNone/>
            </a:pPr>
            <a:r>
              <a:rPr lang="en-US" altLang="zh-CN" sz="1400" b="1" i="0">
                <a:solidFill>
                  <a:srgbClr val="060A26"/>
                </a:solidFill>
                <a:latin typeface="Times New Roman" panose="02020603050405020304" charset="0"/>
                <a:ea typeface="PingFang SC"/>
                <a:cs typeface="Times New Roman" panose="02020603050405020304" charset="0"/>
              </a:rPr>
              <a:t>Intelligent health monitoring devices worn by elderly people living alone detect sudden falls and abnormal vital signs through multimodal sensors (accelerometers, vision, heart rate monitors)</a:t>
            </a:r>
            <a:endParaRPr lang="en-US" altLang="zh-CN" sz="1400" b="1" i="0">
              <a:solidFill>
                <a:srgbClr val="060A26"/>
              </a:solidFill>
              <a:latin typeface="Times New Roman" panose="02020603050405020304" charset="0"/>
              <a:ea typeface="PingFang SC"/>
              <a:cs typeface="Times New Roman" panose="02020603050405020304" charset="0"/>
            </a:endParaRPr>
          </a:p>
          <a:p>
            <a:pPr indent="0" algn="l">
              <a:spcBef>
                <a:spcPct val="0"/>
              </a:spcBef>
              <a:buFont typeface="Wingdings" panose="05000000000000000000" charset="0"/>
              <a:buNone/>
            </a:pPr>
            <a:r>
              <a:rPr lang="en-US" altLang="zh-CN" sz="1200" b="1" i="0">
                <a:solidFill>
                  <a:srgbClr val="060A26"/>
                </a:solidFill>
                <a:latin typeface="Times New Roman" panose="02020603050405020304" charset="0"/>
                <a:ea typeface="PingFang SC"/>
                <a:cs typeface="Times New Roman" panose="02020603050405020304" charset="0"/>
              </a:rPr>
              <a:t>Traditional Process</a:t>
            </a:r>
            <a:r>
              <a:rPr lang="zh-CN" altLang="en-US" sz="1200" b="1" i="0">
                <a:solidFill>
                  <a:srgbClr val="060A26"/>
                </a:solidFill>
                <a:latin typeface="Times New Roman" panose="02020603050405020304" charset="0"/>
                <a:ea typeface="PingFang SC"/>
                <a:cs typeface="Times New Roman" panose="02020603050405020304" charset="0"/>
              </a:rPr>
              <a:t>：</a:t>
            </a:r>
            <a:endParaRPr lang="zh-CN" altLang="en-US" sz="1200" b="1"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Device alarm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Cloud notifies family/community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Manual dial of 120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Ambulance dispatch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On-site first aid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Data transmission to hospital (often with delays or disconnections)</a:t>
            </a:r>
            <a:endParaRPr lang="en-US" altLang="zh-CN" sz="1200" b="0" i="0">
              <a:solidFill>
                <a:srgbClr val="060A26"/>
              </a:solidFill>
              <a:latin typeface="Times New Roman" panose="02020603050405020304" charset="0"/>
              <a:ea typeface="PingFang SC"/>
              <a:cs typeface="Times New Roman" panose="02020603050405020304" charset="0"/>
            </a:endParaRPr>
          </a:p>
          <a:p>
            <a:pPr marL="171450" indent="-171450" algn="l">
              <a:spcBef>
                <a:spcPct val="0"/>
              </a:spcBef>
              <a:spcAft>
                <a:spcPct val="0"/>
              </a:spcAft>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AI Agent-driven Process:</a:t>
            </a:r>
            <a:endParaRPr lang="en-US" altLang="zh-CN" sz="1200" b="1"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home health AI agent judges the crisis level in an instant and triggers the "Emergency Rescue Mode" automatically</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fontAlgn="auto">
              <a:spcBef>
                <a:spcPct val="0"/>
              </a:spcBef>
              <a:spcAft>
                <a:spcPct val="0"/>
              </a:spcAft>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Without manual confirmation, it directly calls the emergency center AI agent, and collaborates with the network to establish an exclusive, ultra-low latency, high-security transmission tunnel, which continuously pushes real-time HD video and vital sign data streams to the emergency department of the nearest hospital and the on-board terminal of the ambulance</a:t>
            </a:r>
            <a:endParaRPr lang="en-US" altLang="zh-CN" sz="1200" b="0" i="0">
              <a:solidFill>
                <a:srgbClr val="060A26"/>
              </a:solidFill>
              <a:latin typeface="Times New Roman" panose="02020603050405020304" charset="0"/>
              <a:ea typeface="PingFang SC"/>
              <a:cs typeface="Times New Roman" panose="02020603050405020304" charset="0"/>
            </a:endParaRPr>
          </a:p>
        </p:txBody>
      </p:sp>
      <p:sp>
        <p:nvSpPr>
          <p:cNvPr id="3" name="文本框 2"/>
          <p:cNvSpPr txBox="1"/>
          <p:nvPr/>
        </p:nvSpPr>
        <p:spPr>
          <a:xfrm>
            <a:off x="514350" y="4857115"/>
            <a:ext cx="11384280" cy="1682115"/>
          </a:xfrm>
          <a:prstGeom prst="rect">
            <a:avLst/>
          </a:prstGeom>
        </p:spPr>
        <p:txBody>
          <a:bodyPr wrap="square">
            <a:noAutofit/>
          </a:bodyPr>
          <a:p>
            <a:pPr indent="0" algn="l">
              <a:spcBef>
                <a:spcPct val="0"/>
              </a:spcBef>
              <a:buFont typeface="Wingdings" panose="05000000000000000000" charset="0"/>
              <a:buNone/>
            </a:pPr>
            <a:r>
              <a:rPr lang="en-US" altLang="zh-CN" sz="1200" b="0" i="0">
                <a:solidFill>
                  <a:srgbClr val="060A26"/>
                </a:solidFill>
                <a:latin typeface="Times New Roman" panose="02020603050405020304" charset="0"/>
                <a:ea typeface="PingFang SC"/>
                <a:cs typeface="Times New Roman" panose="02020603050405020304" charset="0"/>
              </a:rPr>
              <a:t>In this scenario, the AI agent is not only an alarm sender, but also a network scheduler and policy expresser</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Proactive Intent Expression</a:t>
            </a:r>
            <a:endParaRPr lang="en-US" altLang="zh-CN" sz="1200" b="1" i="0">
              <a:solidFill>
                <a:srgbClr val="060A26"/>
              </a:solidFill>
              <a:latin typeface="Times New Roman" panose="02020603050405020304" charset="0"/>
              <a:ea typeface="PingFang SC"/>
              <a:cs typeface="Times New Roman" panose="02020603050405020304" charset="0"/>
            </a:endParaRPr>
          </a:p>
          <a:p>
            <a:pPr marL="628650" lvl="1" indent="0" algn="l">
              <a:buClrTx/>
              <a:buSzTx/>
              <a:buFont typeface="Arial" panose="020B0604020202020204" pitchFamily="34" charset="0"/>
              <a:buNone/>
            </a:pPr>
            <a:r>
              <a:rPr lang="en-US" altLang="zh-CN" sz="1200" b="0" i="0">
                <a:solidFill>
                  <a:srgbClr val="060A26"/>
                </a:solidFill>
                <a:latin typeface="Times New Roman" panose="02020603050405020304" charset="0"/>
                <a:ea typeface="PingFang SC"/>
                <a:cs typeface="Times New Roman" panose="02020603050405020304" charset="0"/>
              </a:rPr>
              <a:t> The AI agent clearly declares policy intents to the network: {Service Type: Emergency Video Stream} + {Performance Requirements: Latency &lt; 20ms, Zero Packet Loss} + {Security Level: Highest Privacy Protection} + {Constraints: Prioritize Occupancy of Any Available Slicing}</a:t>
            </a:r>
            <a:endParaRPr lang="zh-CN" altLang="en-US"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Dynamic Resource Locking</a:t>
            </a:r>
            <a:endParaRPr lang="en-US" altLang="zh-CN" sz="1200" b="1" i="0">
              <a:solidFill>
                <a:srgbClr val="060A26"/>
              </a:solidFill>
              <a:latin typeface="Times New Roman" panose="02020603050405020304" charset="0"/>
              <a:ea typeface="PingFang SC"/>
              <a:cs typeface="Times New Roman" panose="02020603050405020304" charset="0"/>
            </a:endParaRPr>
          </a:p>
          <a:p>
            <a:pPr marL="628650" lvl="1" indent="0" algn="l">
              <a:buClrTx/>
              <a:buSzTx/>
              <a:buFont typeface="Arial" panose="020B0604020202020204" pitchFamily="34" charset="0"/>
              <a:buNone/>
            </a:pPr>
            <a:r>
              <a:rPr lang="en-US" altLang="zh-CN" sz="1200" b="0" i="0">
                <a:solidFill>
                  <a:srgbClr val="060A26"/>
                </a:solidFill>
                <a:latin typeface="Times New Roman" panose="02020603050405020304" charset="0"/>
                <a:ea typeface="PingFang SC"/>
                <a:cs typeface="Times New Roman" panose="02020603050405020304" charset="0"/>
              </a:rPr>
              <a:t>When the public network is congested (e.g., morning and evening rush hours), the AI agent forcibly seizes network resources through interaction with the network to ensure non-freezing of emergency data transmission.</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End-to-End Collaborative Decision-Making</a:t>
            </a:r>
            <a:endParaRPr lang="en-US" altLang="zh-CN" sz="1200" b="1" i="0">
              <a:solidFill>
                <a:srgbClr val="060A26"/>
              </a:solidFill>
              <a:latin typeface="Times New Roman" panose="02020603050405020304" charset="0"/>
              <a:ea typeface="PingFang SC"/>
              <a:cs typeface="Times New Roman" panose="02020603050405020304" charset="0"/>
            </a:endParaRPr>
          </a:p>
          <a:p>
            <a:pPr marL="628650" lvl="1" indent="0" algn="l">
              <a:buClrTx/>
              <a:buSzTx/>
              <a:buFont typeface="Arial" panose="020B0604020202020204" pitchFamily="34" charset="0"/>
              <a:buNone/>
            </a:pPr>
            <a:r>
              <a:rPr lang="en-US" altLang="zh-CN" sz="1200" b="0" i="0">
                <a:solidFill>
                  <a:srgbClr val="060A26"/>
                </a:solidFill>
                <a:latin typeface="Times New Roman" panose="02020603050405020304" charset="0"/>
                <a:ea typeface="PingFang SC"/>
                <a:cs typeface="Times New Roman" panose="02020603050405020304" charset="0"/>
              </a:rPr>
              <a:t>When the elderly is carried into the ambulance and the network environment switches from Wi-Fi to 5G/6G, the AI agent negotiates with the network agent to achieve "lossless handover", ensuring the images seen by doctors are uninterrupted and clear to support remote first aid guidance.</a:t>
            </a:r>
            <a:endParaRPr lang="en-US" altLang="zh-CN" sz="1200" b="0" i="0">
              <a:solidFill>
                <a:srgbClr val="060A26"/>
              </a:solidFill>
              <a:latin typeface="Times New Roman" panose="02020603050405020304" charset="0"/>
              <a:ea typeface="PingFang SC"/>
              <a:cs typeface="Times New Roman" panose="02020603050405020304" charset="0"/>
            </a:endParaRPr>
          </a:p>
        </p:txBody>
      </p:sp>
      <p:grpSp>
        <p:nvGrpSpPr>
          <p:cNvPr id="7" name="组合 6"/>
          <p:cNvGrpSpPr/>
          <p:nvPr/>
        </p:nvGrpSpPr>
        <p:grpSpPr>
          <a:xfrm>
            <a:off x="1140460" y="2922270"/>
            <a:ext cx="9800590" cy="1633220"/>
            <a:chOff x="1891" y="4428"/>
            <a:chExt cx="15434" cy="2572"/>
          </a:xfrm>
        </p:grpSpPr>
        <p:grpSp>
          <p:nvGrpSpPr>
            <p:cNvPr id="45" name="组合 44"/>
            <p:cNvGrpSpPr/>
            <p:nvPr/>
          </p:nvGrpSpPr>
          <p:grpSpPr>
            <a:xfrm>
              <a:off x="1891" y="4428"/>
              <a:ext cx="15434" cy="2458"/>
              <a:chOff x="810" y="4120"/>
              <a:chExt cx="16515" cy="3284"/>
            </a:xfrm>
          </p:grpSpPr>
          <p:grpSp>
            <p:nvGrpSpPr>
              <p:cNvPr id="19" name="组合 18"/>
              <p:cNvGrpSpPr/>
              <p:nvPr/>
            </p:nvGrpSpPr>
            <p:grpSpPr>
              <a:xfrm>
                <a:off x="2020" y="4120"/>
                <a:ext cx="1831" cy="1429"/>
                <a:chOff x="2683" y="2694"/>
                <a:chExt cx="1663" cy="1559"/>
              </a:xfrm>
            </p:grpSpPr>
            <p:pic>
              <p:nvPicPr>
                <p:cNvPr id="17" name="图片 16"/>
                <p:cNvPicPr>
                  <a:picLocks noChangeAspect="1"/>
                </p:cNvPicPr>
                <p:nvPr/>
              </p:nvPicPr>
              <p:blipFill>
                <a:blip r:embed="rId1"/>
                <a:stretch>
                  <a:fillRect/>
                </a:stretch>
              </p:blipFill>
              <p:spPr>
                <a:xfrm>
                  <a:off x="2827" y="3045"/>
                  <a:ext cx="1249" cy="1208"/>
                </a:xfrm>
                <a:prstGeom prst="rect">
                  <a:avLst/>
                </a:prstGeom>
              </p:spPr>
            </p:pic>
            <p:sp>
              <p:nvSpPr>
                <p:cNvPr id="18" name="文本框 17"/>
                <p:cNvSpPr txBox="1"/>
                <p:nvPr/>
              </p:nvSpPr>
              <p:spPr>
                <a:xfrm>
                  <a:off x="2683" y="2694"/>
                  <a:ext cx="1663" cy="352"/>
                </a:xfrm>
                <a:prstGeom prst="rect">
                  <a:avLst/>
                </a:prstGeom>
              </p:spPr>
              <p:txBody>
                <a:bodyPr wrap="square">
                  <a:noAutofit/>
                </a:bodyPr>
                <a:p>
                  <a:pPr marL="0" indent="0" algn="l"/>
                  <a:r>
                    <a:rPr lang="en-US" altLang="zh-CN" sz="800" b="0" i="0">
                      <a:solidFill>
                        <a:srgbClr val="060A26"/>
                      </a:solidFill>
                      <a:latin typeface="PingFang SC"/>
                      <a:ea typeface="PingFang SC"/>
                    </a:rPr>
                    <a:t>Service Agent</a:t>
                  </a:r>
                  <a:endParaRPr lang="en-US" altLang="zh-CN" sz="800" b="0" i="0">
                    <a:solidFill>
                      <a:srgbClr val="060A26"/>
                    </a:solidFill>
                    <a:latin typeface="PingFang SC"/>
                    <a:ea typeface="PingFang SC"/>
                  </a:endParaRPr>
                </a:p>
              </p:txBody>
            </p:sp>
          </p:grpSp>
          <p:pic>
            <p:nvPicPr>
              <p:cNvPr id="20" name="图片 19"/>
              <p:cNvPicPr>
                <a:picLocks noChangeAspect="1"/>
              </p:cNvPicPr>
              <p:nvPr/>
            </p:nvPicPr>
            <p:blipFill>
              <a:blip r:embed="rId2"/>
              <a:stretch>
                <a:fillRect/>
              </a:stretch>
            </p:blipFill>
            <p:spPr>
              <a:xfrm>
                <a:off x="14415" y="5759"/>
                <a:ext cx="2910" cy="1260"/>
              </a:xfrm>
              <a:prstGeom prst="rect">
                <a:avLst/>
              </a:prstGeom>
            </p:spPr>
          </p:pic>
          <p:pic>
            <p:nvPicPr>
              <p:cNvPr id="21" name="图片 20"/>
              <p:cNvPicPr>
                <a:picLocks noChangeAspect="1"/>
              </p:cNvPicPr>
              <p:nvPr/>
            </p:nvPicPr>
            <p:blipFill>
              <a:blip r:embed="rId3"/>
              <a:stretch>
                <a:fillRect/>
              </a:stretch>
            </p:blipFill>
            <p:spPr>
              <a:xfrm>
                <a:off x="14584" y="4353"/>
                <a:ext cx="2087" cy="1259"/>
              </a:xfrm>
              <a:prstGeom prst="rect">
                <a:avLst/>
              </a:prstGeom>
            </p:spPr>
          </p:pic>
          <p:sp>
            <p:nvSpPr>
              <p:cNvPr id="22" name="右箭头 21"/>
              <p:cNvSpPr/>
              <p:nvPr/>
            </p:nvSpPr>
            <p:spPr>
              <a:xfrm>
                <a:off x="7236" y="4813"/>
                <a:ext cx="4216" cy="88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Emergency Data Stream</a:t>
                </a:r>
                <a:endParaRPr lang="en-US" altLang="zh-CN" sz="1400"/>
              </a:p>
            </p:txBody>
          </p:sp>
          <p:sp>
            <p:nvSpPr>
              <p:cNvPr id="25" name="流程图: 磁盘 24"/>
              <p:cNvSpPr/>
              <p:nvPr/>
            </p:nvSpPr>
            <p:spPr>
              <a:xfrm>
                <a:off x="5227" y="4536"/>
                <a:ext cx="1769" cy="1013"/>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endParaRPr>
              </a:p>
            </p:txBody>
          </p:sp>
          <p:sp>
            <p:nvSpPr>
              <p:cNvPr id="26" name="流程图: 磁盘 25"/>
              <p:cNvSpPr/>
              <p:nvPr/>
            </p:nvSpPr>
            <p:spPr>
              <a:xfrm>
                <a:off x="11242" y="4536"/>
                <a:ext cx="1724"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sym typeface="+mn-ea"/>
                </a:endParaRPr>
              </a:p>
            </p:txBody>
          </p:sp>
          <p:cxnSp>
            <p:nvCxnSpPr>
              <p:cNvPr id="27" name="直接连接符 26"/>
              <p:cNvCxnSpPr>
                <a:stCxn id="24" idx="3"/>
                <a:endCxn id="25" idx="2"/>
              </p:cNvCxnSpPr>
              <p:nvPr/>
            </p:nvCxnSpPr>
            <p:spPr>
              <a:xfrm>
                <a:off x="3554" y="5013"/>
                <a:ext cx="1673" cy="30"/>
              </a:xfrm>
              <a:prstGeom prst="line">
                <a:avLst/>
              </a:prstGeom>
              <a:ln>
                <a:prstDash val="sysDot"/>
                <a:headEnd type="triangle"/>
                <a:tailEnd type="triangle"/>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4940" y="4878"/>
                <a:ext cx="2249" cy="709"/>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sp>
            <p:nvSpPr>
              <p:cNvPr id="30" name="流程图: 磁盘 29"/>
              <p:cNvSpPr/>
              <p:nvPr/>
            </p:nvSpPr>
            <p:spPr>
              <a:xfrm>
                <a:off x="11269" y="6497"/>
                <a:ext cx="174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sym typeface="+mn-ea"/>
                </a:endParaRPr>
              </a:p>
            </p:txBody>
          </p:sp>
          <p:sp>
            <p:nvSpPr>
              <p:cNvPr id="31" name="流程图: 磁盘 30"/>
              <p:cNvSpPr/>
              <p:nvPr/>
            </p:nvSpPr>
            <p:spPr>
              <a:xfrm>
                <a:off x="4855" y="6497"/>
                <a:ext cx="1837"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sym typeface="+mn-ea"/>
                </a:endParaRPr>
              </a:p>
            </p:txBody>
          </p:sp>
          <p:sp>
            <p:nvSpPr>
              <p:cNvPr id="32" name="椭圆 31"/>
              <p:cNvSpPr/>
              <p:nvPr/>
            </p:nvSpPr>
            <p:spPr>
              <a:xfrm>
                <a:off x="6530" y="4984"/>
                <a:ext cx="5053" cy="2207"/>
              </a:xfrm>
              <a:prstGeom prst="ellipse">
                <a:avLst/>
              </a:prstGeom>
              <a:noFill/>
              <a:ln w="0" cmpd="dbl">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cxnSp>
            <p:nvCxnSpPr>
              <p:cNvPr id="33" name="直接连接符 32"/>
              <p:cNvCxnSpPr>
                <a:endCxn id="26" idx="2"/>
              </p:cNvCxnSpPr>
              <p:nvPr/>
            </p:nvCxnSpPr>
            <p:spPr>
              <a:xfrm flipV="1">
                <a:off x="7049" y="4990"/>
                <a:ext cx="4193" cy="68"/>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31" idx="4"/>
                <a:endCxn id="30" idx="2"/>
              </p:cNvCxnSpPr>
              <p:nvPr/>
            </p:nvCxnSpPr>
            <p:spPr>
              <a:xfrm>
                <a:off x="6692" y="6951"/>
                <a:ext cx="4577" cy="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5" name="直接连接符 34"/>
              <p:cNvCxnSpPr>
                <a:stCxn id="25" idx="3"/>
                <a:endCxn id="31" idx="1"/>
              </p:cNvCxnSpPr>
              <p:nvPr/>
            </p:nvCxnSpPr>
            <p:spPr>
              <a:xfrm flipH="1">
                <a:off x="5774" y="5548"/>
                <a:ext cx="338" cy="949"/>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6" name="直接连接符 35"/>
              <p:cNvCxnSpPr>
                <a:stCxn id="26" idx="3"/>
                <a:endCxn id="30" idx="1"/>
              </p:cNvCxnSpPr>
              <p:nvPr/>
            </p:nvCxnSpPr>
            <p:spPr>
              <a:xfrm>
                <a:off x="12104" y="5443"/>
                <a:ext cx="37" cy="10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7" name="直接连接符 36"/>
              <p:cNvCxnSpPr>
                <a:stCxn id="29" idx="3"/>
              </p:cNvCxnSpPr>
              <p:nvPr/>
            </p:nvCxnSpPr>
            <p:spPr>
              <a:xfrm>
                <a:off x="6894" y="5212"/>
                <a:ext cx="4350" cy="1726"/>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flipH="1">
                <a:off x="6707" y="5123"/>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12862" y="4954"/>
                <a:ext cx="1673" cy="30"/>
              </a:xfrm>
              <a:prstGeom prst="line">
                <a:avLst/>
              </a:prstGeom>
              <a:ln>
                <a:prstDash val="sysDot"/>
                <a:headEnd type="triangle"/>
                <a:tailEnd type="triangle"/>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810" y="5729"/>
                <a:ext cx="5477" cy="484"/>
              </a:xfrm>
              <a:prstGeom prst="rect">
                <a:avLst/>
              </a:prstGeom>
            </p:spPr>
            <p:txBody>
              <a:bodyPr wrap="square">
                <a:spAutoFit/>
              </a:bodyPr>
              <a:p>
                <a:pPr marL="0" indent="0" algn="l"/>
                <a:r>
                  <a:rPr lang="en-US" altLang="zh-CN" sz="900" b="0" i="0">
                    <a:solidFill>
                      <a:srgbClr val="060A26"/>
                    </a:solidFill>
                    <a:latin typeface="ui-monospace"/>
                    <a:ea typeface="ui-monospace"/>
                  </a:rPr>
                  <a:t>Intent: {Emergency, Low-Latency, High-Sec}</a:t>
                </a:r>
                <a:endParaRPr lang="en-US" altLang="zh-CN" sz="900" b="0" i="0">
                  <a:solidFill>
                    <a:srgbClr val="060A26"/>
                  </a:solidFill>
                  <a:latin typeface="ui-monospace"/>
                  <a:ea typeface="ui-monospace"/>
                </a:endParaRPr>
              </a:p>
            </p:txBody>
          </p:sp>
        </p:grpSp>
        <p:sp>
          <p:nvSpPr>
            <p:cNvPr id="46" name="文本框 45"/>
            <p:cNvSpPr txBox="1"/>
            <p:nvPr/>
          </p:nvSpPr>
          <p:spPr>
            <a:xfrm>
              <a:off x="8187" y="5369"/>
              <a:ext cx="2653" cy="628"/>
            </a:xfrm>
            <a:prstGeom prst="rect">
              <a:avLst/>
            </a:prstGeom>
          </p:spPr>
          <p:txBody>
            <a:bodyPr wrap="square">
              <a:spAutoFit/>
            </a:bodyPr>
            <a:p>
              <a:pPr marL="38100" indent="0" algn="l" latinLnBrk="1">
                <a:spcBef>
                  <a:spcPct val="0"/>
                </a:spcBef>
                <a:spcAft>
                  <a:spcPct val="0"/>
                </a:spcAft>
              </a:pPr>
              <a:r>
                <a:rPr lang="en-US" altLang="zh-CN" sz="1000" b="0" i="0">
                  <a:solidFill>
                    <a:srgbClr val="060A26"/>
                  </a:solidFill>
                  <a:latin typeface="ui-monospace"/>
                  <a:ea typeface="ui-monospace"/>
                </a:rPr>
                <a:t>Dynamic Slicing</a:t>
              </a:r>
              <a:endParaRPr lang="en-US" altLang="zh-CN" sz="1000" b="0" i="0">
                <a:solidFill>
                  <a:srgbClr val="060A26"/>
                </a:solidFill>
                <a:latin typeface="ui-monospace"/>
                <a:ea typeface="ui-monospace"/>
              </a:endParaRPr>
            </a:p>
            <a:p>
              <a:pPr marL="0" indent="0" algn="l"/>
              <a:r>
                <a:rPr lang="en-US" altLang="zh-CN" sz="1000" b="0" i="0">
                  <a:solidFill>
                    <a:srgbClr val="060A26"/>
                  </a:solidFill>
                  <a:latin typeface="ui-monospace"/>
                  <a:ea typeface="ui-monospace"/>
                </a:rPr>
                <a:t>Seamless Handover</a:t>
              </a:r>
              <a:endParaRPr lang="en-US" altLang="zh-CN" sz="1000" b="0" i="0">
                <a:solidFill>
                  <a:srgbClr val="060A26"/>
                </a:solidFill>
                <a:latin typeface="ui-monospace"/>
                <a:ea typeface="ui-monospace"/>
              </a:endParaRPr>
            </a:p>
          </p:txBody>
        </p:sp>
        <p:sp>
          <p:nvSpPr>
            <p:cNvPr id="4" name="文本框 3"/>
            <p:cNvSpPr txBox="1"/>
            <p:nvPr/>
          </p:nvSpPr>
          <p:spPr>
            <a:xfrm>
              <a:off x="5354" y="6469"/>
              <a:ext cx="2249" cy="531"/>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sp>
          <p:nvSpPr>
            <p:cNvPr id="5" name="文本框 4"/>
            <p:cNvSpPr txBox="1"/>
            <p:nvPr/>
          </p:nvSpPr>
          <p:spPr>
            <a:xfrm>
              <a:off x="11355" y="4971"/>
              <a:ext cx="2249" cy="531"/>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sp>
          <p:nvSpPr>
            <p:cNvPr id="6" name="文本框 5"/>
            <p:cNvSpPr txBox="1"/>
            <p:nvPr/>
          </p:nvSpPr>
          <p:spPr>
            <a:xfrm>
              <a:off x="11289" y="6469"/>
              <a:ext cx="2249" cy="531"/>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gr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266700" y="197485"/>
            <a:ext cx="10962640" cy="706755"/>
          </a:xfrm>
          <a:prstGeom prst="rect">
            <a:avLst/>
          </a:prstGeom>
          <a:noFill/>
        </p:spPr>
        <p:txBody>
          <a:bodyPr wrap="square" rtlCol="0" anchor="t">
            <a:spAutoFit/>
          </a:bodyPr>
          <a:p>
            <a:r>
              <a:rPr lang="en-US" altLang="zh-CN" sz="2000" b="1" dirty="0">
                <a:solidFill>
                  <a:srgbClr val="002B60"/>
                </a:solidFill>
                <a:latin typeface="+mj-lt"/>
                <a:ea typeface="Verdana" panose="020B0604030504040204" pitchFamily="34" charset="0"/>
                <a:cs typeface="Calibri Light" panose="020F0302020204030204" charset="0"/>
                <a:sym typeface="+mn-ea"/>
              </a:rPr>
              <a:t>Cross-regional Medical Consortium Construction and Privacy Computing Collaboration</a:t>
            </a:r>
            <a:endParaRPr lang="en-US" altLang="zh-CN" sz="2000" b="1" dirty="0">
              <a:solidFill>
                <a:srgbClr val="002B60"/>
              </a:solidFill>
              <a:latin typeface="+mj-lt"/>
              <a:ea typeface="Verdana" panose="020B0604030504040204" pitchFamily="34" charset="0"/>
              <a:cs typeface="Calibri Light" panose="020F0302020204030204" charset="0"/>
              <a:sym typeface="+mn-ea"/>
            </a:endParaRPr>
          </a:p>
        </p:txBody>
      </p:sp>
      <p:sp>
        <p:nvSpPr>
          <p:cNvPr id="2" name="文本框 1"/>
          <p:cNvSpPr txBox="1"/>
          <p:nvPr/>
        </p:nvSpPr>
        <p:spPr>
          <a:xfrm>
            <a:off x="216535" y="779145"/>
            <a:ext cx="11706860" cy="2245360"/>
          </a:xfrm>
          <a:prstGeom prst="rect">
            <a:avLst/>
          </a:prstGeom>
        </p:spPr>
        <p:txBody>
          <a:bodyPr wrap="square">
            <a:spAutoFit/>
          </a:bodyPr>
          <a:p>
            <a:pPr indent="0" algn="l">
              <a:spcBef>
                <a:spcPct val="0"/>
              </a:spcBef>
              <a:buFont typeface="Wingdings" panose="05000000000000000000" charset="0"/>
              <a:buNone/>
            </a:pPr>
            <a:r>
              <a:rPr lang="en-US" altLang="zh-CN" sz="1600" b="0" i="0">
                <a:solidFill>
                  <a:srgbClr val="060A26"/>
                </a:solidFill>
                <a:latin typeface="Times New Roman" panose="02020603050405020304" charset="0"/>
                <a:ea typeface="PingFang SC"/>
                <a:cs typeface="Times New Roman" panose="02020603050405020304" charset="0"/>
              </a:rPr>
              <a:t>Multiple top-tier hospitals (in different provinces/trust domains) intend to jointly train an AI diagnostic model for rare difficult and complicated diseases</a:t>
            </a:r>
            <a:endParaRPr lang="en-US" altLang="zh-CN" sz="16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Pain Point:</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 Medical data (medical records, imaging) is strictly prohibited from being transmitted across domains (Data Sovereignty)</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hospital networks are isolated from each other</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traditional dedicated line opening cycle is long (weeks) and cannot dynamically adapt to the sudden bandwidth demand of training tasks</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AI Agent-driven Process:</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Research collaboration AI agents of each hospital initiate joint training requests</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AI agents automatically exchange identity credentials and trust domain attributes, and the network automatically builds a temporary, logically isolated ultra-high-security virtual private network</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Data never leaves the hospital, only encrypted gradient parameters or feature values are exchanged, and network policies are automatically destroyed after the task ends</a:t>
            </a:r>
            <a:endParaRPr lang="en-US" altLang="zh-CN" sz="1200" b="0" i="0">
              <a:solidFill>
                <a:srgbClr val="060A26"/>
              </a:solidFill>
              <a:latin typeface="Times New Roman" panose="02020603050405020304" charset="0"/>
              <a:ea typeface="PingFang SC"/>
              <a:cs typeface="Times New Roman" panose="02020603050405020304" charset="0"/>
            </a:endParaRPr>
          </a:p>
        </p:txBody>
      </p:sp>
      <p:sp>
        <p:nvSpPr>
          <p:cNvPr id="3" name="文本框 2"/>
          <p:cNvSpPr txBox="1"/>
          <p:nvPr/>
        </p:nvSpPr>
        <p:spPr>
          <a:xfrm>
            <a:off x="365125" y="4726940"/>
            <a:ext cx="11182985" cy="1938020"/>
          </a:xfrm>
          <a:prstGeom prst="rect">
            <a:avLst/>
          </a:prstGeom>
        </p:spPr>
        <p:txBody>
          <a:bodyPr wrap="square">
            <a:spAutoFit/>
          </a:bodyPr>
          <a:p>
            <a:pPr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Dynamic Zero-Trust Security Adaptation</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Based on the identity of collaborators,the AI agent automatically applies to the network for matching security policies. The network distributes security policies automatically without manual configuration of firewall whitelists</a:t>
            </a:r>
            <a:endParaRPr lang="en-US" altLang="zh-CN" sz="1200" b="0" i="0">
              <a:solidFill>
                <a:srgbClr val="060A26"/>
              </a:solidFill>
              <a:latin typeface="Times New Roman" panose="02020603050405020304" charset="0"/>
              <a:ea typeface="PingFang SC"/>
              <a:cs typeface="Times New Roman" panose="02020603050405020304" charset="0"/>
            </a:endParaRPr>
          </a:p>
          <a:p>
            <a:pPr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Tidal Resource Scheduling</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AI training is usually conducted at night. The AI agent predicts traffic peaks and sends the intent {Resource Reservation: 22:00-06:00, Bandwidth: 100Gbps} to the network. The network automatically allocates large-bandwidth slicing during off-peak hours and reclaims it in the morning to maximize resource utilization</a:t>
            </a:r>
            <a:endParaRPr lang="en-US" altLang="zh-CN" sz="1200" b="0" i="0">
              <a:solidFill>
                <a:srgbClr val="060A26"/>
              </a:solidFill>
              <a:latin typeface="Times New Roman" panose="02020603050405020304" charset="0"/>
              <a:ea typeface="PingFang SC"/>
              <a:cs typeface="Times New Roman" panose="02020603050405020304" charset="0"/>
            </a:endParaRPr>
          </a:p>
          <a:p>
            <a:pPr marL="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Automatic Compliance Audit</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AI agent monitors data flow in real time; once unauthorized data is detected attempting to flow out of the trust domain, it immediately instructs the network to block and issue an alarm</a:t>
            </a:r>
            <a:endParaRPr lang="en-US" altLang="zh-CN" sz="1200" b="0" i="0">
              <a:solidFill>
                <a:srgbClr val="060A26"/>
              </a:solidFill>
              <a:latin typeface="Times New Roman" panose="02020603050405020304" charset="0"/>
              <a:ea typeface="PingFang SC"/>
              <a:cs typeface="Times New Roman" panose="02020603050405020304" charset="0"/>
            </a:endParaRPr>
          </a:p>
        </p:txBody>
      </p:sp>
      <p:grpSp>
        <p:nvGrpSpPr>
          <p:cNvPr id="11" name="组合 10"/>
          <p:cNvGrpSpPr/>
          <p:nvPr/>
        </p:nvGrpSpPr>
        <p:grpSpPr>
          <a:xfrm>
            <a:off x="2530475" y="3012440"/>
            <a:ext cx="6605905" cy="1546225"/>
            <a:chOff x="3152" y="3450"/>
            <a:chExt cx="12801" cy="3602"/>
          </a:xfrm>
        </p:grpSpPr>
        <p:sp>
          <p:nvSpPr>
            <p:cNvPr id="29" name="图文框 28"/>
            <p:cNvSpPr/>
            <p:nvPr/>
          </p:nvSpPr>
          <p:spPr>
            <a:xfrm>
              <a:off x="6779" y="4661"/>
              <a:ext cx="5368" cy="1870"/>
            </a:xfrm>
            <a:prstGeom prst="frame">
              <a:avLst/>
            </a:prstGeom>
            <a:solidFill>
              <a:schemeClr val="tx2">
                <a:lumMod val="20000"/>
                <a:lumOff val="8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700">
                  <a:solidFill>
                    <a:schemeClr val="tx1"/>
                  </a:solidFill>
                </a:rPr>
                <a:t>Dynamic Trust Domain Matching</a:t>
              </a:r>
              <a:endParaRPr lang="en-US" altLang="zh-CN" sz="700">
                <a:solidFill>
                  <a:schemeClr val="tx1"/>
                </a:solidFill>
              </a:endParaRPr>
            </a:p>
            <a:p>
              <a:pPr algn="ctr"/>
              <a:r>
                <a:rPr lang="en-US" altLang="zh-CN" sz="700">
                  <a:solidFill>
                    <a:schemeClr val="tx1"/>
                  </a:solidFill>
                </a:rPr>
                <a:t>Quantum-Safe Encryption</a:t>
              </a:r>
              <a:endParaRPr lang="en-US" altLang="zh-CN" sz="700">
                <a:solidFill>
                  <a:schemeClr val="tx1"/>
                </a:solidFill>
              </a:endParaRPr>
            </a:p>
            <a:p>
              <a:pPr algn="ctr"/>
              <a:r>
                <a:rPr lang="en-US" altLang="zh-CN" sz="700">
                  <a:solidFill>
                    <a:schemeClr val="tx1"/>
                  </a:solidFill>
                </a:rPr>
                <a:t> Federated-Learning-Only</a:t>
              </a:r>
              <a:endParaRPr lang="en-US" altLang="zh-CN" sz="700">
                <a:solidFill>
                  <a:schemeClr val="tx1"/>
                </a:solidFill>
              </a:endParaRPr>
            </a:p>
          </p:txBody>
        </p:sp>
        <p:sp>
          <p:nvSpPr>
            <p:cNvPr id="4" name="云形 3"/>
            <p:cNvSpPr/>
            <p:nvPr/>
          </p:nvSpPr>
          <p:spPr>
            <a:xfrm>
              <a:off x="3228" y="3820"/>
              <a:ext cx="2524" cy="1123"/>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A</a:t>
              </a:r>
              <a:endParaRPr lang="en-US" altLang="zh-CN" sz="1000"/>
            </a:p>
          </p:txBody>
        </p:sp>
        <p:sp>
          <p:nvSpPr>
            <p:cNvPr id="5" name="云形 4"/>
            <p:cNvSpPr/>
            <p:nvPr/>
          </p:nvSpPr>
          <p:spPr>
            <a:xfrm>
              <a:off x="13213" y="3820"/>
              <a:ext cx="2598" cy="1356"/>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B</a:t>
              </a:r>
              <a:endParaRPr lang="en-US" altLang="zh-CN" sz="1000"/>
            </a:p>
          </p:txBody>
        </p:sp>
        <p:sp>
          <p:nvSpPr>
            <p:cNvPr id="6" name="云形 5"/>
            <p:cNvSpPr/>
            <p:nvPr/>
          </p:nvSpPr>
          <p:spPr>
            <a:xfrm>
              <a:off x="3152" y="5800"/>
              <a:ext cx="2561" cy="1252"/>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C</a:t>
              </a:r>
              <a:endParaRPr lang="en-US" altLang="zh-CN" sz="1000"/>
            </a:p>
          </p:txBody>
        </p:sp>
        <p:grpSp>
          <p:nvGrpSpPr>
            <p:cNvPr id="7" name="组合 6"/>
            <p:cNvGrpSpPr/>
            <p:nvPr/>
          </p:nvGrpSpPr>
          <p:grpSpPr>
            <a:xfrm>
              <a:off x="5932" y="4277"/>
              <a:ext cx="7229" cy="2472"/>
              <a:chOff x="4893" y="4536"/>
              <a:chExt cx="8477" cy="2882"/>
            </a:xfrm>
          </p:grpSpPr>
          <p:sp>
            <p:nvSpPr>
              <p:cNvPr id="8" name="流程图: 磁盘 7"/>
              <p:cNvSpPr/>
              <p:nvPr/>
            </p:nvSpPr>
            <p:spPr>
              <a:xfrm>
                <a:off x="4893" y="4701"/>
                <a:ext cx="2129" cy="940"/>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olidFill>
                      <a:schemeClr val="tx1"/>
                    </a:solidFill>
                    <a:sym typeface="+mn-ea"/>
                  </a:rPr>
                  <a:t> Network Equipment</a:t>
                </a:r>
                <a:endParaRPr lang="en-US" altLang="zh-CN" sz="900">
                  <a:solidFill>
                    <a:schemeClr val="tx1"/>
                  </a:solidFill>
                  <a:sym typeface="+mn-ea"/>
                </a:endParaRPr>
              </a:p>
            </p:txBody>
          </p:sp>
          <p:sp>
            <p:nvSpPr>
              <p:cNvPr id="10" name="流程图: 磁盘 9"/>
              <p:cNvSpPr/>
              <p:nvPr/>
            </p:nvSpPr>
            <p:spPr>
              <a:xfrm>
                <a:off x="10822" y="4536"/>
                <a:ext cx="2258"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olidFill>
                      <a:schemeClr val="tx1"/>
                    </a:solidFill>
                    <a:sym typeface="+mn-ea"/>
                  </a:rPr>
                  <a:t> Network Equipment</a:t>
                </a:r>
                <a:endParaRPr lang="en-US" altLang="zh-CN" sz="900">
                  <a:solidFill>
                    <a:schemeClr val="tx1"/>
                  </a:solidFill>
                  <a:sym typeface="+mn-ea"/>
                </a:endParaRPr>
              </a:p>
            </p:txBody>
          </p:sp>
          <p:sp>
            <p:nvSpPr>
              <p:cNvPr id="13" name="流程图: 磁盘 12"/>
              <p:cNvSpPr/>
              <p:nvPr/>
            </p:nvSpPr>
            <p:spPr>
              <a:xfrm>
                <a:off x="11228" y="6511"/>
                <a:ext cx="2142"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ym typeface="+mn-ea"/>
                  </a:rPr>
                  <a:t> </a:t>
                </a:r>
                <a:r>
                  <a:rPr lang="en-US" altLang="zh-CN" sz="900">
                    <a:solidFill>
                      <a:schemeClr val="tx1"/>
                    </a:solidFill>
                    <a:sym typeface="+mn-ea"/>
                  </a:rPr>
                  <a:t>Network Equipment</a:t>
                </a:r>
                <a:endParaRPr lang="en-US" altLang="zh-CN" sz="900">
                  <a:solidFill>
                    <a:schemeClr val="tx1"/>
                  </a:solidFill>
                  <a:sym typeface="+mn-ea"/>
                </a:endParaRPr>
              </a:p>
            </p:txBody>
          </p:sp>
          <p:sp>
            <p:nvSpPr>
              <p:cNvPr id="14" name="流程图: 磁盘 13"/>
              <p:cNvSpPr/>
              <p:nvPr/>
            </p:nvSpPr>
            <p:spPr>
              <a:xfrm>
                <a:off x="5100" y="6497"/>
                <a:ext cx="2140"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olidFill>
                      <a:schemeClr val="tx1"/>
                    </a:solidFill>
                    <a:sym typeface="+mn-ea"/>
                  </a:rPr>
                  <a:t> Network Equipment</a:t>
                </a:r>
                <a:endParaRPr lang="en-US" altLang="zh-CN" sz="900">
                  <a:solidFill>
                    <a:schemeClr val="tx1"/>
                  </a:solidFill>
                  <a:sym typeface="+mn-ea"/>
                </a:endParaRPr>
              </a:p>
            </p:txBody>
          </p:sp>
          <p:sp>
            <p:nvSpPr>
              <p:cNvPr id="15" name="椭圆 14"/>
              <p:cNvSpPr/>
              <p:nvPr/>
            </p:nvSpPr>
            <p:spPr>
              <a:xfrm>
                <a:off x="6530" y="4984"/>
                <a:ext cx="5053" cy="2207"/>
              </a:xfrm>
              <a:prstGeom prst="ellipse">
                <a:avLst/>
              </a:prstGeom>
              <a:noFill/>
              <a:ln w="0" cmpd="dbl">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0"/>
              </a:p>
            </p:txBody>
          </p:sp>
          <p:cxnSp>
            <p:nvCxnSpPr>
              <p:cNvPr id="16" name="直接连接符 15"/>
              <p:cNvCxnSpPr>
                <a:endCxn id="10" idx="2"/>
              </p:cNvCxnSpPr>
              <p:nvPr/>
            </p:nvCxnSpPr>
            <p:spPr>
              <a:xfrm flipV="1">
                <a:off x="6384" y="4990"/>
                <a:ext cx="4438" cy="7"/>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14" idx="4"/>
                <a:endCxn id="13" idx="2"/>
              </p:cNvCxnSpPr>
              <p:nvPr/>
            </p:nvCxnSpPr>
            <p:spPr>
              <a:xfrm>
                <a:off x="7240" y="6951"/>
                <a:ext cx="3988" cy="1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8" idx="3"/>
                <a:endCxn id="14" idx="1"/>
              </p:cNvCxnSpPr>
              <p:nvPr/>
            </p:nvCxnSpPr>
            <p:spPr>
              <a:xfrm>
                <a:off x="5958" y="5641"/>
                <a:ext cx="213" cy="856"/>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10" idx="3"/>
                <a:endCxn id="13" idx="1"/>
              </p:cNvCxnSpPr>
              <p:nvPr/>
            </p:nvCxnSpPr>
            <p:spPr>
              <a:xfrm>
                <a:off x="11951" y="5443"/>
                <a:ext cx="349" cy="1068"/>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a:off x="6823" y="5128"/>
                <a:ext cx="4421" cy="181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H="1">
                <a:off x="6707" y="5123"/>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grpSp>
        <p:sp>
          <p:nvSpPr>
            <p:cNvPr id="28" name="云形 27"/>
            <p:cNvSpPr/>
            <p:nvPr/>
          </p:nvSpPr>
          <p:spPr>
            <a:xfrm>
              <a:off x="13392" y="5800"/>
              <a:ext cx="2561" cy="1252"/>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D</a:t>
              </a:r>
              <a:endParaRPr lang="en-US" altLang="zh-CN" sz="1000"/>
            </a:p>
          </p:txBody>
        </p:sp>
        <p:cxnSp>
          <p:nvCxnSpPr>
            <p:cNvPr id="32" name="直接箭头连接符 31"/>
            <p:cNvCxnSpPr/>
            <p:nvPr/>
          </p:nvCxnSpPr>
          <p:spPr>
            <a:xfrm>
              <a:off x="12385" y="6403"/>
              <a:ext cx="925" cy="127"/>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p:nvPr/>
          </p:nvCxnSpPr>
          <p:spPr>
            <a:xfrm>
              <a:off x="5711" y="6403"/>
              <a:ext cx="888" cy="52"/>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V="1">
              <a:off x="12301" y="4679"/>
              <a:ext cx="878" cy="18"/>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a:stCxn id="4" idx="0"/>
            </p:cNvCxnSpPr>
            <p:nvPr/>
          </p:nvCxnSpPr>
          <p:spPr>
            <a:xfrm>
              <a:off x="5750" y="4382"/>
              <a:ext cx="662" cy="315"/>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3487" y="5006"/>
              <a:ext cx="4260" cy="499"/>
            </a:xfrm>
            <a:prstGeom prst="rect">
              <a:avLst/>
            </a:prstGeom>
          </p:spPr>
          <p:txBody>
            <a:bodyPr wrap="square">
              <a:spAutoFit/>
            </a:bodyPr>
            <a:p>
              <a:pPr marL="0" indent="0"/>
              <a:r>
                <a:rPr lang="en-US" altLang="zh-CN" sz="800" b="0" i="0">
                  <a:solidFill>
                    <a:srgbClr val="0F1115"/>
                  </a:solidFill>
                  <a:latin typeface="Times New Roman" panose="02020603050405020304" charset="0"/>
                  <a:ea typeface="quote-cjk-patch"/>
                  <a:cs typeface="Times New Roman" panose="02020603050405020304" charset="0"/>
                </a:rPr>
                <a:t>Security Authentication</a:t>
              </a:r>
              <a:endParaRPr lang="en-US" altLang="zh-CN" sz="800" b="0" i="0">
                <a:solidFill>
                  <a:srgbClr val="0F1115"/>
                </a:solidFill>
                <a:latin typeface="Times New Roman" panose="02020603050405020304" charset="0"/>
                <a:ea typeface="quote-cjk-patch"/>
                <a:cs typeface="Times New Roman" panose="02020603050405020304" charset="0"/>
              </a:endParaRPr>
            </a:p>
          </p:txBody>
        </p:sp>
        <p:sp>
          <p:nvSpPr>
            <p:cNvPr id="39" name="云形 38"/>
            <p:cNvSpPr/>
            <p:nvPr/>
          </p:nvSpPr>
          <p:spPr>
            <a:xfrm>
              <a:off x="7930" y="3450"/>
              <a:ext cx="2524" cy="828"/>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Industry Cloud</a:t>
              </a:r>
              <a:endParaRPr lang="en-US" altLang="zh-CN" sz="1000"/>
            </a:p>
          </p:txBody>
        </p:sp>
        <p:sp>
          <p:nvSpPr>
            <p:cNvPr id="40" name="左右箭头 39"/>
            <p:cNvSpPr/>
            <p:nvPr/>
          </p:nvSpPr>
          <p:spPr>
            <a:xfrm rot="20340000">
              <a:off x="6934" y="3993"/>
              <a:ext cx="966" cy="361"/>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sp>
          <p:nvSpPr>
            <p:cNvPr id="41" name="左右箭头 40"/>
            <p:cNvSpPr/>
            <p:nvPr/>
          </p:nvSpPr>
          <p:spPr>
            <a:xfrm rot="1080000">
              <a:off x="10429" y="3980"/>
              <a:ext cx="915" cy="361"/>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sp>
          <p:nvSpPr>
            <p:cNvPr id="42" name="左右箭头 41"/>
            <p:cNvSpPr/>
            <p:nvPr/>
          </p:nvSpPr>
          <p:spPr>
            <a:xfrm rot="18960000">
              <a:off x="6571" y="4912"/>
              <a:ext cx="2171" cy="355"/>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sp>
          <p:nvSpPr>
            <p:cNvPr id="43" name="左右箭头 42"/>
            <p:cNvSpPr/>
            <p:nvPr/>
          </p:nvSpPr>
          <p:spPr>
            <a:xfrm rot="3120000">
              <a:off x="9660" y="4965"/>
              <a:ext cx="2223" cy="350"/>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文本框 8"/>
          <p:cNvSpPr txBox="1"/>
          <p:nvPr/>
        </p:nvSpPr>
        <p:spPr>
          <a:xfrm>
            <a:off x="266700" y="197485"/>
            <a:ext cx="10809605" cy="398780"/>
          </a:xfrm>
          <a:prstGeom prst="rect">
            <a:avLst/>
          </a:prstGeom>
          <a:noFill/>
        </p:spPr>
        <p:txBody>
          <a:bodyPr wrap="square" rtlCol="0" anchor="t">
            <a:spAutoFit/>
          </a:bodyPr>
          <a:p>
            <a:r>
              <a:rPr lang="en-US" altLang="zh-CN" sz="2000" b="1" dirty="0">
                <a:solidFill>
                  <a:srgbClr val="002B60"/>
                </a:solidFill>
                <a:latin typeface="+mj-lt"/>
                <a:ea typeface="Verdana" panose="020B0604030504040204" pitchFamily="34" charset="0"/>
                <a:cs typeface="Calibri Light" panose="020F0302020204030204" charset="0"/>
                <a:sym typeface="+mn-ea"/>
              </a:rPr>
              <a:t>Remote Surgical Robots and Multimodal Haptic Feedback</a:t>
            </a:r>
            <a:endParaRPr lang="en-US" altLang="zh-CN" sz="2000" b="1" dirty="0">
              <a:solidFill>
                <a:srgbClr val="002B60"/>
              </a:solidFill>
              <a:latin typeface="+mj-lt"/>
              <a:ea typeface="Verdana" panose="020B0604030504040204" pitchFamily="34" charset="0"/>
              <a:cs typeface="Calibri Light" panose="020F0302020204030204" charset="0"/>
              <a:sym typeface="+mn-ea"/>
            </a:endParaRPr>
          </a:p>
        </p:txBody>
      </p:sp>
      <p:sp>
        <p:nvSpPr>
          <p:cNvPr id="2" name="文本框 1"/>
          <p:cNvSpPr txBox="1"/>
          <p:nvPr/>
        </p:nvSpPr>
        <p:spPr>
          <a:xfrm>
            <a:off x="355600" y="726440"/>
            <a:ext cx="11480800" cy="1568450"/>
          </a:xfrm>
          <a:prstGeom prst="rect">
            <a:avLst/>
          </a:prstGeom>
        </p:spPr>
        <p:txBody>
          <a:bodyPr wrap="square">
            <a:noAutofit/>
          </a:bodyPr>
          <a:p>
            <a:pPr marL="0" indent="0" algn="l">
              <a:lnSpc>
                <a:spcPct val="120000"/>
              </a:lnSpc>
              <a:spcBef>
                <a:spcPts val="0"/>
              </a:spcBef>
              <a:spcAft>
                <a:spcPts val="0"/>
              </a:spcAft>
            </a:pPr>
            <a:r>
              <a:rPr lang="en-US" altLang="zh-CN" sz="1400" b="1" i="0">
                <a:solidFill>
                  <a:srgbClr val="060A26"/>
                </a:solidFill>
                <a:latin typeface="Times New Roman" panose="02020603050405020304" charset="0"/>
                <a:ea typeface="PingFang SC"/>
                <a:cs typeface="Times New Roman" panose="02020603050405020304" charset="0"/>
              </a:rPr>
              <a:t>Experts at top-tier hospitals in Beijing perform high-precision surgeries for patients in border areas by controlling remote surgical robots</a:t>
            </a:r>
            <a:endParaRPr lang="zh-CN" altLang="en-US" sz="1400" b="1" i="0">
              <a:solidFill>
                <a:srgbClr val="060A26"/>
              </a:solidFill>
              <a:latin typeface="Times New Roman" panose="02020603050405020304" charset="0"/>
              <a:ea typeface="PingFang SC"/>
              <a:cs typeface="Times New Roman" panose="02020603050405020304" charset="0"/>
            </a:endParaRPr>
          </a:p>
          <a:p>
            <a:pPr marL="0" indent="0" algn="l">
              <a:lnSpc>
                <a:spcPct val="120000"/>
              </a:lnSpc>
              <a:spcBef>
                <a:spcPts val="0"/>
              </a:spcBef>
              <a:spcAft>
                <a:spcPts val="0"/>
              </a:spcAft>
            </a:pPr>
            <a:r>
              <a:rPr lang="en-US" altLang="zh-CN" sz="1400" b="1" i="0">
                <a:solidFill>
                  <a:srgbClr val="060A26"/>
                </a:solidFill>
                <a:latin typeface="Times New Roman" panose="02020603050405020304" charset="0"/>
                <a:ea typeface="PingFang SC"/>
                <a:cs typeface="Times New Roman" panose="02020603050405020304" charset="0"/>
              </a:rPr>
              <a:t>Challenge: Surgery requires not only 4K/8K ultra-HD video, but also millisecond-level haptic feedback. Any slight network jitter or latency may cause scalpel deviation and endanger lives</a:t>
            </a:r>
            <a:endParaRPr lang="en-US" altLang="zh-CN" sz="1400" b="1" i="0">
              <a:solidFill>
                <a:srgbClr val="060A26"/>
              </a:solidFill>
              <a:latin typeface="Times New Roman" panose="02020603050405020304" charset="0"/>
              <a:ea typeface="PingFang SC"/>
              <a:cs typeface="Times New Roman" panose="02020603050405020304" charset="0"/>
            </a:endParaRPr>
          </a:p>
          <a:p>
            <a:pPr marL="285750" indent="-285750" algn="l">
              <a:lnSpc>
                <a:spcPct val="120000"/>
              </a:lnSpc>
              <a:spcBef>
                <a:spcPts val="0"/>
              </a:spcBef>
              <a:spcAft>
                <a:spcPts val="0"/>
              </a:spcAft>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AI Agent-driven Process</a:t>
            </a:r>
            <a:r>
              <a:rPr lang="zh-CN" altLang="en-US" sz="1200" b="1" i="0">
                <a:solidFill>
                  <a:srgbClr val="060A26"/>
                </a:solidFill>
                <a:latin typeface="Times New Roman" panose="02020603050405020304" charset="0"/>
                <a:ea typeface="PingFang SC"/>
                <a:cs typeface="Times New Roman" panose="02020603050405020304" charset="0"/>
              </a:rPr>
              <a:t>：</a:t>
            </a:r>
            <a:endParaRPr lang="zh-CN" altLang="en-US" sz="1200" b="1" i="0">
              <a:solidFill>
                <a:srgbClr val="060A26"/>
              </a:solidFill>
              <a:latin typeface="Times New Roman" panose="02020603050405020304" charset="0"/>
              <a:ea typeface="PingFang SC"/>
              <a:cs typeface="Times New Roman" panose="02020603050405020304" charset="0"/>
            </a:endParaRPr>
          </a:p>
          <a:p>
            <a:pPr lvl="1" indent="-171450" algn="l">
              <a:lnSpc>
                <a:spcPct val="120000"/>
              </a:lnSpc>
              <a:spcBef>
                <a:spcPts val="0"/>
              </a:spcBef>
              <a:spcAft>
                <a:spcPts val="0"/>
              </a:spcAft>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surgical robot AI agent perceives operation force and network quality in real time</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lnSpc>
                <a:spcPct val="120000"/>
              </a:lnSpc>
              <a:spcBef>
                <a:spcPts val="0"/>
              </a:spcBef>
              <a:spcAft>
                <a:spcPts val="0"/>
              </a:spcAft>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When microsecond-level jitter is detected on the current path, it proactively sends the instruction to the network without waiting for network alarms</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lnSpc>
                <a:spcPct val="120000"/>
              </a:lnSpc>
              <a:spcBef>
                <a:spcPts val="0"/>
              </a:spcBef>
              <a:spcAft>
                <a:spcPts val="0"/>
              </a:spcAft>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network immediately calculates and switches to a more stable path, with no perception by patients and doctors during the whole process</a:t>
            </a:r>
            <a:endParaRPr lang="en-US" altLang="zh-CN" sz="1200" b="0" i="0">
              <a:solidFill>
                <a:srgbClr val="060A26"/>
              </a:solidFill>
              <a:latin typeface="Times New Roman" panose="02020603050405020304" charset="0"/>
              <a:ea typeface="PingFang SC"/>
              <a:cs typeface="Times New Roman" panose="02020603050405020304" charset="0"/>
            </a:endParaRPr>
          </a:p>
        </p:txBody>
      </p:sp>
      <p:sp>
        <p:nvSpPr>
          <p:cNvPr id="3" name="文本框 2"/>
          <p:cNvSpPr txBox="1"/>
          <p:nvPr/>
        </p:nvSpPr>
        <p:spPr>
          <a:xfrm>
            <a:off x="514350" y="4531360"/>
            <a:ext cx="11540490" cy="1938020"/>
          </a:xfrm>
          <a:prstGeom prst="rect">
            <a:avLst/>
          </a:prstGeom>
        </p:spPr>
        <p:txBody>
          <a:bodyPr wrap="square">
            <a:spAutoFit/>
          </a:bodyPr>
          <a:p>
            <a:pPr marL="285750" indent="-285750" algn="l">
              <a:spcBef>
                <a:spcPct val="0"/>
              </a:spcBef>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Precise Mapping of Business Semantics and Network Characteristics</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AI agent knows that the "tissue cutting" action requires extremely high stability, while the "field of view observation" action can tolerate slightly higher latency. It converts such business semantics into specific network SLA indicators (e.g., Jitter &lt; 1ms, Packet Loss = 0), a level of refinement unattainable by traditional DSCP marking</a:t>
            </a:r>
            <a:endParaRPr lang="en-US" altLang="zh-CN" sz="12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Predictive Path Optimization</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Based on historical data and real-time probes, the AI agent predicts potential congestion on a certain link in the next few seconds and instructs the network to perform pre-handover in advance, achieving true "fault self-healing" rather than "post-fault recovery"</a:t>
            </a:r>
            <a:endParaRPr lang="en-US" altLang="zh-CN" sz="12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Multi-dimensional SLA Guarantee</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Coordinate the priority of video streams (large bandwidth), control signaling (low latency) and haptic data (high reliability) at the same time, ensuring that life-critical control signaling always has the highest priority when bandwidth is limited</a:t>
            </a:r>
            <a:endParaRPr lang="en-US" altLang="zh-CN" sz="1200" b="0" i="0">
              <a:solidFill>
                <a:srgbClr val="060A26"/>
              </a:solidFill>
              <a:latin typeface="Times New Roman" panose="02020603050405020304" charset="0"/>
              <a:ea typeface="PingFang SC"/>
              <a:cs typeface="Times New Roman" panose="02020603050405020304" charset="0"/>
            </a:endParaRPr>
          </a:p>
        </p:txBody>
      </p:sp>
      <p:grpSp>
        <p:nvGrpSpPr>
          <p:cNvPr id="11" name="组合 10"/>
          <p:cNvGrpSpPr/>
          <p:nvPr/>
        </p:nvGrpSpPr>
        <p:grpSpPr>
          <a:xfrm>
            <a:off x="1524000" y="2649220"/>
            <a:ext cx="7826969" cy="1570990"/>
            <a:chOff x="2235" y="4077"/>
            <a:chExt cx="13166" cy="2926"/>
          </a:xfrm>
        </p:grpSpPr>
        <p:grpSp>
          <p:nvGrpSpPr>
            <p:cNvPr id="4" name="组合 3"/>
            <p:cNvGrpSpPr/>
            <p:nvPr/>
          </p:nvGrpSpPr>
          <p:grpSpPr>
            <a:xfrm>
              <a:off x="4501" y="4135"/>
              <a:ext cx="8098" cy="2868"/>
              <a:chOff x="4894" y="4536"/>
              <a:chExt cx="8098" cy="2868"/>
            </a:xfrm>
          </p:grpSpPr>
          <p:sp>
            <p:nvSpPr>
              <p:cNvPr id="7" name="流程图: 磁盘 6"/>
              <p:cNvSpPr/>
              <p:nvPr/>
            </p:nvSpPr>
            <p:spPr>
              <a:xfrm>
                <a:off x="4894" y="4705"/>
                <a:ext cx="1771" cy="940"/>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Equipment</a:t>
                </a:r>
                <a:endParaRPr lang="en-US" altLang="zh-CN" sz="1000">
                  <a:solidFill>
                    <a:schemeClr val="tx1"/>
                  </a:solidFill>
                </a:endParaRPr>
              </a:p>
              <a:p>
                <a:pPr indent="0" algn="ctr" fontAlgn="auto">
                  <a:lnSpc>
                    <a:spcPct val="80000"/>
                  </a:lnSpc>
                </a:pPr>
                <a:endParaRPr lang="en-US" altLang="zh-CN" sz="1000">
                  <a:solidFill>
                    <a:schemeClr val="tx1"/>
                  </a:solidFill>
                </a:endParaRPr>
              </a:p>
            </p:txBody>
          </p:sp>
          <p:sp>
            <p:nvSpPr>
              <p:cNvPr id="8" name="流程图: 磁盘 7"/>
              <p:cNvSpPr/>
              <p:nvPr/>
            </p:nvSpPr>
            <p:spPr>
              <a:xfrm>
                <a:off x="11242" y="4536"/>
                <a:ext cx="1749"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a:t>
                </a:r>
                <a:r>
                  <a:rPr lang="en-US" altLang="zh-CN" sz="1000">
                    <a:solidFill>
                      <a:schemeClr val="tx1"/>
                    </a:solidFill>
                    <a:sym typeface="+mn-ea"/>
                  </a:rPr>
                  <a:t>ment</a:t>
                </a:r>
                <a:endParaRPr lang="en-US" altLang="zh-CN" sz="1000">
                  <a:solidFill>
                    <a:schemeClr val="tx1"/>
                  </a:solidFill>
                  <a:sym typeface="+mn-ea"/>
                </a:endParaRPr>
              </a:p>
            </p:txBody>
          </p:sp>
          <p:sp>
            <p:nvSpPr>
              <p:cNvPr id="13" name="流程图: 磁盘 12"/>
              <p:cNvSpPr/>
              <p:nvPr/>
            </p:nvSpPr>
            <p:spPr>
              <a:xfrm>
                <a:off x="11269" y="6497"/>
                <a:ext cx="1723"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Equipment</a:t>
                </a:r>
                <a:endParaRPr lang="en-US" altLang="zh-CN" sz="1000">
                  <a:solidFill>
                    <a:schemeClr val="tx1"/>
                  </a:solidFill>
                  <a:sym typeface="+mn-ea"/>
                </a:endParaRPr>
              </a:p>
            </p:txBody>
          </p:sp>
          <p:sp>
            <p:nvSpPr>
              <p:cNvPr id="14" name="流程图: 磁盘 13"/>
              <p:cNvSpPr/>
              <p:nvPr/>
            </p:nvSpPr>
            <p:spPr>
              <a:xfrm>
                <a:off x="4939" y="6497"/>
                <a:ext cx="1591"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Equipment</a:t>
                </a:r>
                <a:endParaRPr lang="en-US" altLang="zh-CN" sz="1000">
                  <a:solidFill>
                    <a:schemeClr val="tx1"/>
                  </a:solidFill>
                  <a:sym typeface="+mn-ea"/>
                </a:endParaRPr>
              </a:p>
            </p:txBody>
          </p:sp>
          <p:sp>
            <p:nvSpPr>
              <p:cNvPr id="15" name="椭圆 14"/>
              <p:cNvSpPr/>
              <p:nvPr/>
            </p:nvSpPr>
            <p:spPr>
              <a:xfrm>
                <a:off x="6530" y="4984"/>
                <a:ext cx="5053" cy="2207"/>
              </a:xfrm>
              <a:prstGeom prst="ellipse">
                <a:avLst/>
              </a:prstGeom>
              <a:noFill/>
              <a:ln w="0" cmpd="dbl">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连接符 15"/>
              <p:cNvCxnSpPr>
                <a:endCxn id="8" idx="2"/>
              </p:cNvCxnSpPr>
              <p:nvPr/>
            </p:nvCxnSpPr>
            <p:spPr>
              <a:xfrm flipV="1">
                <a:off x="6804" y="4990"/>
                <a:ext cx="4438" cy="7"/>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14" idx="4"/>
                <a:endCxn id="13" idx="2"/>
              </p:cNvCxnSpPr>
              <p:nvPr/>
            </p:nvCxnSpPr>
            <p:spPr>
              <a:xfrm>
                <a:off x="6530" y="6951"/>
                <a:ext cx="4739" cy="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7" idx="3"/>
                <a:endCxn id="14" idx="1"/>
              </p:cNvCxnSpPr>
              <p:nvPr/>
            </p:nvCxnSpPr>
            <p:spPr>
              <a:xfrm flipH="1">
                <a:off x="5735" y="5645"/>
                <a:ext cx="45" cy="852"/>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8" idx="3"/>
                <a:endCxn id="13" idx="1"/>
              </p:cNvCxnSpPr>
              <p:nvPr/>
            </p:nvCxnSpPr>
            <p:spPr>
              <a:xfrm>
                <a:off x="12117" y="5443"/>
                <a:ext cx="14" cy="10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a:off x="6823" y="5128"/>
                <a:ext cx="4421" cy="181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H="1">
                <a:off x="6707" y="5123"/>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grpSp>
        <p:pic>
          <p:nvPicPr>
            <p:cNvPr id="5" name="图片 4"/>
            <p:cNvPicPr>
              <a:picLocks noChangeAspect="1"/>
            </p:cNvPicPr>
            <p:nvPr/>
          </p:nvPicPr>
          <p:blipFill>
            <a:blip r:embed="rId1"/>
            <a:stretch>
              <a:fillRect/>
            </a:stretch>
          </p:blipFill>
          <p:spPr>
            <a:xfrm>
              <a:off x="2235" y="4583"/>
              <a:ext cx="1684" cy="1270"/>
            </a:xfrm>
            <a:prstGeom prst="rect">
              <a:avLst/>
            </a:prstGeom>
          </p:spPr>
        </p:pic>
        <p:pic>
          <p:nvPicPr>
            <p:cNvPr id="6" name="图片 5"/>
            <p:cNvPicPr>
              <a:picLocks noChangeAspect="1"/>
            </p:cNvPicPr>
            <p:nvPr/>
          </p:nvPicPr>
          <p:blipFill>
            <a:blip r:embed="rId2"/>
            <a:stretch>
              <a:fillRect/>
            </a:stretch>
          </p:blipFill>
          <p:spPr>
            <a:xfrm>
              <a:off x="13808" y="4548"/>
              <a:ext cx="1593" cy="1305"/>
            </a:xfrm>
            <a:prstGeom prst="rect">
              <a:avLst/>
            </a:prstGeom>
          </p:spPr>
        </p:pic>
        <p:sp>
          <p:nvSpPr>
            <p:cNvPr id="12" name="左右箭头 11"/>
            <p:cNvSpPr/>
            <p:nvPr/>
          </p:nvSpPr>
          <p:spPr>
            <a:xfrm>
              <a:off x="5855" y="4378"/>
              <a:ext cx="6000" cy="452"/>
            </a:xfrm>
            <a:prstGeom prst="leftRightArrow">
              <a:avLst/>
            </a:prstGeom>
            <a:solidFill>
              <a:srgbClr val="990000"/>
            </a:solidFill>
            <a:ln>
              <a:solidFill>
                <a:srgbClr val="99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左右箭头 21"/>
            <p:cNvSpPr/>
            <p:nvPr/>
          </p:nvSpPr>
          <p:spPr>
            <a:xfrm>
              <a:off x="5870" y="4902"/>
              <a:ext cx="6000" cy="452"/>
            </a:xfrm>
            <a:prstGeom prst="lef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7" name="直接箭头连接符 36"/>
            <p:cNvCxnSpPr/>
            <p:nvPr/>
          </p:nvCxnSpPr>
          <p:spPr>
            <a:xfrm flipV="1">
              <a:off x="3930" y="4887"/>
              <a:ext cx="1179" cy="467"/>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a:off x="12039" y="5053"/>
              <a:ext cx="1600" cy="377"/>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sp>
          <p:nvSpPr>
            <p:cNvPr id="24" name="左弧形箭头 23"/>
            <p:cNvSpPr/>
            <p:nvPr/>
          </p:nvSpPr>
          <p:spPr>
            <a:xfrm>
              <a:off x="5150" y="4567"/>
              <a:ext cx="528" cy="620"/>
            </a:xfrm>
            <a:prstGeom prst="curv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5" name="文本框 24"/>
            <p:cNvSpPr txBox="1"/>
            <p:nvPr/>
          </p:nvSpPr>
          <p:spPr>
            <a:xfrm>
              <a:off x="6706" y="5317"/>
              <a:ext cx="4170" cy="746"/>
            </a:xfrm>
            <a:prstGeom prst="rect">
              <a:avLst/>
            </a:prstGeom>
            <a:noFill/>
          </p:spPr>
          <p:txBody>
            <a:bodyPr wrap="square" rtlCol="0">
              <a:noAutofit/>
            </a:bodyPr>
            <a:p>
              <a:r>
                <a:rPr lang="en-US" altLang="zh-CN" sz="1000"/>
                <a:t>path2</a:t>
              </a:r>
              <a:r>
                <a:rPr lang="zh-CN" altLang="en-US" sz="1000"/>
                <a:t>：</a:t>
              </a:r>
              <a:r>
                <a:rPr lang="en-US" altLang="zh-CN" sz="1000"/>
                <a:t>Millisecond-level Response</a:t>
              </a:r>
              <a:endParaRPr lang="en-US" altLang="zh-CN" sz="1000"/>
            </a:p>
            <a:p>
              <a:r>
                <a:rPr lang="en-US" altLang="zh-CN" sz="1000"/>
                <a:t>            Fault Self-Healing</a:t>
              </a:r>
              <a:endParaRPr lang="en-US" altLang="zh-CN" sz="1000"/>
            </a:p>
          </p:txBody>
        </p:sp>
        <p:sp>
          <p:nvSpPr>
            <p:cNvPr id="26" name="文本框 25"/>
            <p:cNvSpPr txBox="1"/>
            <p:nvPr/>
          </p:nvSpPr>
          <p:spPr>
            <a:xfrm>
              <a:off x="7092" y="4077"/>
              <a:ext cx="3142" cy="457"/>
            </a:xfrm>
            <a:prstGeom prst="rect">
              <a:avLst/>
            </a:prstGeom>
            <a:noFill/>
          </p:spPr>
          <p:txBody>
            <a:bodyPr wrap="square" rtlCol="0">
              <a:spAutoFit/>
            </a:bodyPr>
            <a:p>
              <a:r>
                <a:rPr lang="en-US" altLang="zh-CN" sz="1000"/>
                <a:t>path1</a:t>
              </a:r>
              <a:r>
                <a:rPr lang="zh-CN" altLang="en-US" sz="1000"/>
                <a:t>：</a:t>
              </a:r>
              <a:r>
                <a:rPr lang="en-US" altLang="zh-CN" sz="1000"/>
                <a:t>Jitter/Congestion</a:t>
              </a:r>
              <a:endParaRPr lang="en-US" altLang="zh-CN" sz="1000"/>
            </a:p>
          </p:txBody>
        </p:sp>
      </p:gr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7335" y="356235"/>
            <a:ext cx="10564495" cy="398780"/>
          </a:xfrm>
          <a:prstGeom prst="rect">
            <a:avLst/>
          </a:prstGeom>
        </p:spPr>
        <p:txBody>
          <a:bodyPr wrap="square">
            <a:spAutoFit/>
          </a:bodyPr>
          <a:p>
            <a:pPr marL="0" indent="0" algn="l">
              <a:spcAft>
                <a:spcPct val="0"/>
              </a:spcAft>
            </a:pPr>
            <a:r>
              <a:rPr lang="en-US" altLang="zh-CN" sz="2000" b="1" i="0" dirty="0">
                <a:solidFill>
                  <a:srgbClr val="002B60"/>
                </a:solidFill>
                <a:effectLst>
                  <a:outerShdw blurRad="38100" dist="38100" dir="2700000" algn="tl">
                    <a:srgbClr val="000000">
                      <a:alpha val="43137"/>
                    </a:srgbClr>
                  </a:outerShdw>
                </a:effectLst>
                <a:latin typeface="+mj-lt"/>
                <a:ea typeface="Verdana" panose="020B0604030504040204" pitchFamily="34" charset="0"/>
                <a:cs typeface="Calibri Light" panose="020F0302020204030204" charset="0"/>
              </a:rPr>
              <a:t>Summary: Why AI Agents are Indispensable for These Scenarios</a:t>
            </a:r>
            <a:endParaRPr lang="en-US" altLang="zh-CN" sz="2000" b="1" i="0" dirty="0">
              <a:solidFill>
                <a:srgbClr val="002B60"/>
              </a:solidFill>
              <a:effectLst>
                <a:outerShdw blurRad="38100" dist="38100" dir="2700000" algn="tl">
                  <a:srgbClr val="000000">
                    <a:alpha val="43137"/>
                  </a:srgbClr>
                </a:outerShdw>
              </a:effectLst>
              <a:latin typeface="+mj-lt"/>
              <a:ea typeface="Verdana" panose="020B0604030504040204" pitchFamily="34" charset="0"/>
              <a:cs typeface="Calibri Light" panose="020F0302020204030204" charset="0"/>
            </a:endParaRPr>
          </a:p>
        </p:txBody>
      </p:sp>
      <p:graphicFrame>
        <p:nvGraphicFramePr>
          <p:cNvPr id="7" name="表格 6"/>
          <p:cNvGraphicFramePr/>
          <p:nvPr/>
        </p:nvGraphicFramePr>
        <p:xfrm>
          <a:off x="734695" y="1216660"/>
          <a:ext cx="10998835" cy="4932680"/>
        </p:xfrm>
        <a:graphic>
          <a:graphicData uri="http://schemas.openxmlformats.org/drawingml/2006/table">
            <a:tbl>
              <a:tblPr firstRow="1" bandRow="1">
                <a:tableStyleId>{5C22544A-7EE6-4342-B048-85BDC9FD1C3A}</a:tableStyleId>
              </a:tblPr>
              <a:tblGrid>
                <a:gridCol w="1663700"/>
                <a:gridCol w="2999105"/>
                <a:gridCol w="3228975"/>
                <a:gridCol w="3107055"/>
              </a:tblGrid>
              <a:tr h="888365">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Features</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Traditional Network (QoS/SDN)</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AI Agent Network</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Value in Healthcare Scenarios</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109410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Perception Object</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Data flow, ports, IP</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AI agent intent, business semantics</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Understanding "emergency rescue" is more important than "video stream"</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850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Decision Mode</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One-way network configuration, static rules</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Two-way collaboration, dynamic negotiation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Robots can proactively request "lossless handover"</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723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Security Mechanism</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Static ACL</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Dynamic zero-trust, based on identity/context</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Automatic matching of privacy policies for cross-hospital collaboration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723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Response Speed</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Second to minute level (post-fault)</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Millisecond level (prediction and prevention)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Seizing the "golden rescue time"</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723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Resource Efficiency</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Exclusive or static allocation, severe waste</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Tidal scheduling, on-demand allocation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Automatic bandwidth release for night training</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31190" y="1587500"/>
            <a:ext cx="10515600" cy="1325563"/>
          </a:xfrm>
        </p:spPr>
        <p:txBody>
          <a:bodyPr/>
          <a:p>
            <a:pPr algn="ctr"/>
            <a:r>
              <a:rPr lang="en-US" altLang="zh-CN" sz="4000"/>
              <a:t>Open for Discussion</a:t>
            </a:r>
            <a:endParaRPr lang="en-US" altLang="zh-CN" sz="4000"/>
          </a:p>
        </p:txBody>
      </p:sp>
      <p:sp>
        <p:nvSpPr>
          <p:cNvPr id="4" name="副标题 3"/>
          <p:cNvSpPr>
            <a:spLocks noGrp="1"/>
          </p:cNvSpPr>
          <p:nvPr>
            <p:ph type="subTitle" idx="1"/>
          </p:nvPr>
        </p:nvSpPr>
        <p:spPr>
          <a:xfrm>
            <a:off x="1524000" y="4337685"/>
            <a:ext cx="9144000" cy="991235"/>
          </a:xfrm>
        </p:spPr>
        <p:txBody>
          <a:bodyPr/>
          <a:p>
            <a:pPr marL="0" algn="ctr">
              <a:lnSpc>
                <a:spcPct val="100000"/>
              </a:lnSpc>
              <a:buClrTx/>
              <a:buSzTx/>
              <a:buFontTx/>
              <a:buNone/>
            </a:pPr>
            <a:r>
              <a:rPr lang="en-US" altLang="zh-CN" sz="4800" b="1" dirty="0">
                <a:solidFill>
                  <a:schemeClr val="tx1"/>
                </a:solidFill>
                <a:latin typeface="Arial" panose="020B0604020202020204" pitchFamily="34" charset="0"/>
                <a:cs typeface="Arial" panose="020B0604020202020204" pitchFamily="34" charset="0"/>
              </a:rPr>
              <a:t>Thank You！</a:t>
            </a:r>
            <a:endParaRPr lang="en-US" altLang="zh-CN" sz="4800" b="1"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docProps/app.xml><?xml version="1.0" encoding="utf-8"?>
<Properties xmlns="http://schemas.openxmlformats.org/officeDocument/2006/extended-properties" xmlns:vt="http://schemas.openxmlformats.org/officeDocument/2006/docPropsVTypes">
  <TotalTime>0</TotalTime>
  <Words>9159</Words>
  <Application>WPS 演示</Application>
  <PresentationFormat>宽屏</PresentationFormat>
  <Paragraphs>256</Paragraphs>
  <Slides>8</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vt:i4>
      </vt:variant>
    </vt:vector>
  </HeadingPairs>
  <TitlesOfParts>
    <vt:vector size="24" baseType="lpstr">
      <vt:lpstr>Arial</vt:lpstr>
      <vt:lpstr>宋体</vt:lpstr>
      <vt:lpstr>Wingdings</vt:lpstr>
      <vt:lpstr>Verdana</vt:lpstr>
      <vt:lpstr>Calibri Light</vt:lpstr>
      <vt:lpstr>PingFang SC</vt:lpstr>
      <vt:lpstr>Segoe Print</vt:lpstr>
      <vt:lpstr>Arial</vt:lpstr>
      <vt:lpstr>ui-monospace</vt:lpstr>
      <vt:lpstr>Wingdings</vt:lpstr>
      <vt:lpstr>quote-cjk-patch</vt:lpstr>
      <vt:lpstr>Calibri</vt:lpstr>
      <vt:lpstr>微软雅黑</vt:lpstr>
      <vt:lpstr>Arial Unicode MS</vt:lpstr>
      <vt:lpstr>Times New Roman</vt:lpstr>
      <vt:lpstr>WPS</vt:lpstr>
      <vt:lpstr>AI Empowers Pre-, Intra-, and Post-Consultation Healthcare</vt:lpstr>
      <vt:lpstr>AI Empowers Healthcare: Typical Scenarios and New Network Challenges(1/2)</vt:lpstr>
      <vt:lpstr>PowerPoint 演示文稿</vt:lpstr>
      <vt:lpstr>PowerPoint 演示文稿</vt:lpstr>
      <vt:lpstr>PowerPoint 演示文稿</vt:lpstr>
      <vt:lpstr>PowerPoint 演示文稿</vt:lpstr>
      <vt:lpstr>PowerPoint 演示文稿</vt:lpstr>
      <vt:lpstr>Open for Discussion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cmcc</dc:creator>
  <cp:lastModifiedBy>张晓秋</cp:lastModifiedBy>
  <cp:revision>73</cp:revision>
  <dcterms:created xsi:type="dcterms:W3CDTF">2026-03-13T07:42:00Z</dcterms:created>
  <dcterms:modified xsi:type="dcterms:W3CDTF">2026-03-14T08:49:11Z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2052-12.8.2.21177</vt:lpwstr>
  </property>
  <property fmtid="{D5CDD505-2E9C-101B-9397-08002B2CF9AE}" pid="3" name="ICV">
    <vt:lpwstr>1134163067D0917207BCB3693A718563_43</vt:lpwstr>
  </property>
</Properties>
</file>